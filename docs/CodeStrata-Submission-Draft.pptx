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>
              <a:buNone/>
              <a:spcAft>
                <a:spcPts val="1200"/>
              </a:spcAft>
            </a:pPr>
            <a:r>
              <a:rPr lang="en-US" sz="1600">
                <a:solidFill>
                  <a:srgbClr val="24243B"/>
                </a:solidFill>
                <a:latin typeface="Aptos"/>
              </a:rPr>
              <a:t>Theme 01 — Agentic Code Intelligence</a:t>
            </a:r>
          </a:p>
          <a:p>
            <a:pPr>
              <a:buNone/>
              <a:spcAft>
                <a:spcPts val="1200"/>
              </a:spcAft>
            </a:pPr>
            <a:r>
              <a:rPr lang="en-US" sz="1600">
                <a:solidFill>
                  <a:srgbClr val="24243B"/>
                </a:solidFill>
                <a:latin typeface="Aptos"/>
              </a:rPr>
              <a:t>Project — CodeStrata: code has a memory</a:t>
            </a:r>
          </a:p>
          <a:p>
            <a:pPr>
              <a:buNone/>
              <a:spcAft>
                <a:spcPts val="1200"/>
              </a:spcAft>
            </a:pPr>
            <a:r>
              <a:rPr lang="en-US" sz="1600">
                <a:solidFill>
                  <a:srgbClr val="24243B"/>
                </a:solidFill>
                <a:latin typeface="Aptos"/>
              </a:rPr>
              <a:t>Team — CodeStrata</a:t>
            </a:r>
          </a:p>
          <a:p>
            <a:pPr>
              <a:buNone/>
              <a:spcAft>
                <a:spcPts val="1200"/>
              </a:spcAft>
            </a:pPr>
            <a:r>
              <a:rPr lang="en-US" sz="1600">
                <a:solidFill>
                  <a:srgbClr val="24243B"/>
                </a:solidFill>
                <a:latin typeface="Aptos"/>
              </a:rPr>
              <a:t>Vellore Institute of Technology (VIT University)</a:t>
            </a:r>
          </a:p>
          <a:p>
            <a:pPr>
              <a:buNone/>
              <a:spcAft>
                <a:spcPts val="1200"/>
              </a:spcAft>
            </a:pPr>
            <a:r>
              <a:rPr lang="en-US" sz="1600">
                <a:solidFill>
                  <a:srgbClr val="24243B"/>
                </a:solidFill>
                <a:latin typeface="Aptos"/>
              </a:rPr>
              <a:t>Advay Vivek · 24BCT0136 · advay.vivek2024@vitstudent.ac.in</a:t>
            </a:r>
          </a:p>
          <a:p>
            <a:pPr>
              <a:buNone/>
              <a:spcAft>
                <a:spcPts val="1200"/>
              </a:spcAft>
            </a:pPr>
            <a:r>
              <a:rPr lang="en-US" sz="1600">
                <a:solidFill>
                  <a:srgbClr val="24243B"/>
                </a:solidFill>
                <a:latin typeface="Aptos"/>
              </a:rPr>
              <a:t>Kaavish Gogia · 24BCT0103 · kaavish.gogia2024@vitstudent.ac.in</a:t>
            </a:r>
          </a:p>
          <a:p>
            <a:pPr>
              <a:buNone/>
              <a:spcAft>
                <a:spcPts val="1200"/>
              </a:spcAft>
            </a:pPr>
            <a:r>
              <a:rPr lang="en-US" sz="1600">
                <a:solidFill>
                  <a:srgbClr val="24243B"/>
                </a:solidFill>
                <a:latin typeface="Aptos"/>
              </a:rPr>
              <a:t>GitHub — github.com/AdvayV/AgenticIntelligence</a:t>
            </a: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ns2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Find the exact version where behavior changed.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Even when the function was renamed and moved.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CPU-only JavaScript retrieval with source, lines, versions, and evidence.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P0: retrieval quality. P1: versions. Bonus: evolutionary investigation.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Output is reviewable code evidence; no generated fixes.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Similar snippets can behave differently after a one-token change.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Names and file paths stop being reliable after refactors.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A ranked match alone does not explain a wrong-version result.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Our focus: contrast the match with a version that contradicts it.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Existing code search and agentic investigation already exist.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Differentiation is the integration; no universal novelty claim.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</p:txBody>
      </p:sp>
      <p:sp>
        <p:nvSpPr>
          <p:cNvPr id="115" name="CodeStrata diagram 115"/>
          <p:cNvSpPr/>
          <p:nvPr/>
        </p:nvSpPr>
        <p:spPr>
          <a:xfrm>
            <a:off x="820000" y="2000000"/>
            <a:ext cx="2850000" cy="820000"/>
          </a:xfrm>
          <a:prstGeom prst="roundRect">
            <a:avLst/>
          </a:prstGeom>
          <a:solidFill>
            <a:srgbClr val="F1EEFF"/>
          </a:solidFill>
          <a:ln w="12700">
            <a:solidFill>
              <a:srgbClr val="D9D3EE"/>
            </a:solidFill>
          </a:ln>
        </p:spPr>
        <p:txBody>
          <a:bodyPr anchor="ctr" lIns="110000" rIns="110000"/>
          <a:lstStyle/>
          <a:p>
            <a:pPr algn="ctr">
              <a:buNone/>
            </a:pPr>
            <a:r>
              <a:rPr lang="en-US" sz="1800" b="1">
                <a:solidFill>
                  <a:srgbClr val="33255B"/>
                </a:solidFill>
              </a:rPr>
              <a:t>Git versions</a:t>
            </a:r>
          </a:p>
        </p:txBody>
      </p:sp>
      <p:sp>
        <p:nvSpPr>
          <p:cNvPr id="116" name="CodeStrata diagram 116"/>
          <p:cNvSpPr/>
          <p:nvPr/>
        </p:nvSpPr>
        <p:spPr>
          <a:xfrm>
            <a:off x="4440000" y="2000000"/>
            <a:ext cx="2850000" cy="820000"/>
          </a:xfrm>
          <a:prstGeom prst="roundRect">
            <a:avLst/>
          </a:prstGeom>
          <a:solidFill>
            <a:srgbClr val="F1EEFF"/>
          </a:solidFill>
          <a:ln w="12700">
            <a:solidFill>
              <a:srgbClr val="D9D3EE"/>
            </a:solidFill>
          </a:ln>
        </p:spPr>
        <p:txBody>
          <a:bodyPr anchor="ctr" lIns="110000" rIns="110000"/>
          <a:lstStyle/>
          <a:p>
            <a:pPr algn="ctr">
              <a:buNone/>
            </a:pPr>
            <a:r>
              <a:rPr lang="en-US" sz="1800" b="1">
                <a:solidFill>
                  <a:srgbClr val="33255B"/>
                </a:solidFill>
              </a:rPr>
              <a:t>AST behavior facts</a:t>
            </a:r>
          </a:p>
        </p:txBody>
      </p:sp>
      <p:sp>
        <p:nvSpPr>
          <p:cNvPr id="117" name="CodeStrata diagram 117"/>
          <p:cNvSpPr/>
          <p:nvPr/>
        </p:nvSpPr>
        <p:spPr>
          <a:xfrm>
            <a:off x="8060000" y="2000000"/>
            <a:ext cx="2850000" cy="820000"/>
          </a:xfrm>
          <a:prstGeom prst="roundRect">
            <a:avLst/>
          </a:prstGeom>
          <a:solidFill>
            <a:srgbClr val="F1EEFF"/>
          </a:solidFill>
          <a:ln w="12700">
            <a:solidFill>
              <a:srgbClr val="D9D3EE"/>
            </a:solidFill>
          </a:ln>
        </p:spPr>
        <p:txBody>
          <a:bodyPr anchor="ctr" lIns="110000" rIns="110000"/>
          <a:lstStyle/>
          <a:p>
            <a:pPr algn="ctr">
              <a:buNone/>
            </a:pPr>
            <a:r>
              <a:rPr lang="en-US" sz="1800" b="1">
                <a:solidFill>
                  <a:srgbClr val="33255B"/>
                </a:solidFill>
              </a:rPr>
              <a:t>BM25 + CPU vectors</a:t>
            </a:r>
          </a:p>
        </p:txBody>
      </p:sp>
      <p:sp>
        <p:nvSpPr>
          <p:cNvPr id="118" name="CodeStrata diagram 118"/>
          <p:cNvSpPr/>
          <p:nvPr/>
        </p:nvSpPr>
        <p:spPr>
          <a:xfrm>
            <a:off x="820000" y="3890000"/>
            <a:ext cx="2850000" cy="820000"/>
          </a:xfrm>
          <a:prstGeom prst="roundRect">
            <a:avLst/>
          </a:prstGeom>
          <a:solidFill>
            <a:srgbClr val="EAF8F2"/>
          </a:solidFill>
          <a:ln w="12700">
            <a:solidFill>
              <a:srgbClr val="D9D3EE"/>
            </a:solidFill>
          </a:ln>
        </p:spPr>
        <p:txBody>
          <a:bodyPr anchor="ctr" lIns="110000" rIns="110000"/>
          <a:lstStyle/>
          <a:p>
            <a:pPr algn="ctr">
              <a:buNone/>
            </a:pPr>
            <a:r>
              <a:rPr lang="en-US" sz="1800" b="1">
                <a:solidFill>
                  <a:srgbClr val="33255B"/>
                </a:solidFill>
              </a:rPr>
              <a:t>Question + constraints</a:t>
            </a:r>
          </a:p>
        </p:txBody>
      </p:sp>
      <p:sp>
        <p:nvSpPr>
          <p:cNvPr id="119" name="CodeStrata diagram 119"/>
          <p:cNvSpPr/>
          <p:nvPr/>
        </p:nvSpPr>
        <p:spPr>
          <a:xfrm>
            <a:off x="4440000" y="3890000"/>
            <a:ext cx="2850000" cy="820000"/>
          </a:xfrm>
          <a:prstGeom prst="roundRect">
            <a:avLst/>
          </a:prstGeom>
          <a:solidFill>
            <a:srgbClr val="EAF8F2"/>
          </a:solidFill>
          <a:ln w="12700">
            <a:solidFill>
              <a:srgbClr val="D9D3EE"/>
            </a:solidFill>
          </a:ln>
        </p:spPr>
        <p:txBody>
          <a:bodyPr anchor="ctr" lIns="110000" rIns="110000"/>
          <a:lstStyle/>
          <a:p>
            <a:pPr algn="ctr">
              <a:buNone/>
            </a:pPr>
            <a:r>
              <a:rPr lang="en-US" sz="1800" b="1">
                <a:solidFill>
                  <a:srgbClr val="33255B"/>
                </a:solidFill>
              </a:rPr>
              <a:t>Bounded search agent</a:t>
            </a:r>
          </a:p>
        </p:txBody>
      </p:sp>
      <p:sp>
        <p:nvSpPr>
          <p:cNvPr id="120" name="CodeStrata diagram 120"/>
          <p:cNvSpPr/>
          <p:nvPr/>
        </p:nvSpPr>
        <p:spPr>
          <a:xfrm>
            <a:off x="8060000" y="3890000"/>
            <a:ext cx="2850000" cy="820000"/>
          </a:xfrm>
          <a:prstGeom prst="roundRect">
            <a:avLst/>
          </a:prstGeom>
          <a:solidFill>
            <a:srgbClr val="EAF8F2"/>
          </a:solidFill>
          <a:ln w="12700">
            <a:solidFill>
              <a:srgbClr val="D9D3EE"/>
            </a:solidFill>
          </a:ln>
        </p:spPr>
        <p:txBody>
          <a:bodyPr anchor="ctr" lIns="110000" rIns="110000"/>
          <a:lstStyle/>
          <a:p>
            <a:pPr algn="ctr">
              <a:buNone/>
            </a:pPr>
            <a:r>
              <a:rPr lang="en-US" sz="1800" b="1">
                <a:solidFill>
                  <a:srgbClr val="33255B"/>
                </a:solidFill>
              </a:rPr>
              <a:t>Source + counterexample</a:t>
            </a:r>
          </a:p>
        </p:txBody>
      </p:sp>
      <p:sp>
        <p:nvSpPr>
          <p:cNvPr id="121" name="CodeStrata diagram 121"/>
          <p:cNvSpPr/>
          <p:nvPr/>
        </p:nvSpPr>
        <p:spPr>
          <a:xfrm>
            <a:off x="3670000" y="2130000"/>
            <a:ext cx="570000" cy="5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3EE"/>
            </a:solidFill>
          </a:ln>
        </p:spPr>
        <p:txBody>
          <a:bodyPr anchor="ctr" lIns="110000" rIns="110000"/>
          <a:lstStyle/>
          <a:p>
            <a:pPr algn="ctr">
              <a:buNone/>
            </a:pPr>
            <a:r>
              <a:rPr lang="en-US" sz="2200" b="1">
                <a:solidFill>
                  <a:srgbClr val="33255B"/>
                </a:solidFill>
              </a:rPr>
              <a:t>→</a:t>
            </a:r>
          </a:p>
        </p:txBody>
      </p:sp>
      <p:sp>
        <p:nvSpPr>
          <p:cNvPr id="122" name="CodeStrata diagram 122"/>
          <p:cNvSpPr/>
          <p:nvPr/>
        </p:nvSpPr>
        <p:spPr>
          <a:xfrm>
            <a:off x="3670000" y="4020000"/>
            <a:ext cx="570000" cy="5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3EE"/>
            </a:solidFill>
          </a:ln>
        </p:spPr>
        <p:txBody>
          <a:bodyPr anchor="ctr" lIns="110000" rIns="110000"/>
          <a:lstStyle/>
          <a:p>
            <a:pPr algn="ctr">
              <a:buNone/>
            </a:pPr>
            <a:r>
              <a:rPr lang="en-US" sz="2200" b="1">
                <a:solidFill>
                  <a:srgbClr val="33255B"/>
                </a:solidFill>
              </a:rPr>
              <a:t>→</a:t>
            </a:r>
          </a:p>
        </p:txBody>
      </p:sp>
      <p:sp>
        <p:nvSpPr>
          <p:cNvPr id="123" name="CodeStrata diagram 123"/>
          <p:cNvSpPr/>
          <p:nvPr/>
        </p:nvSpPr>
        <p:spPr>
          <a:xfrm>
            <a:off x="7290000" y="2130000"/>
            <a:ext cx="570000" cy="5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3EE"/>
            </a:solidFill>
          </a:ln>
        </p:spPr>
        <p:txBody>
          <a:bodyPr anchor="ctr" lIns="110000" rIns="110000"/>
          <a:lstStyle/>
          <a:p>
            <a:pPr algn="ctr">
              <a:buNone/>
            </a:pPr>
            <a:r>
              <a:rPr lang="en-US" sz="2200" b="1">
                <a:solidFill>
                  <a:srgbClr val="33255B"/>
                </a:solidFill>
              </a:rPr>
              <a:t>→</a:t>
            </a:r>
          </a:p>
        </p:txBody>
      </p:sp>
      <p:sp>
        <p:nvSpPr>
          <p:cNvPr id="124" name="CodeStrata diagram 124"/>
          <p:cNvSpPr/>
          <p:nvPr/>
        </p:nvSpPr>
        <p:spPr>
          <a:xfrm>
            <a:off x="7290000" y="4020000"/>
            <a:ext cx="570000" cy="5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3EE"/>
            </a:solidFill>
          </a:ln>
        </p:spPr>
        <p:txBody>
          <a:bodyPr anchor="ctr" lIns="110000" rIns="110000"/>
          <a:lstStyle/>
          <a:p>
            <a:pPr algn="ctr">
              <a:buNone/>
            </a:pPr>
            <a:r>
              <a:rPr lang="en-US" sz="2200" b="1">
                <a:solidFill>
                  <a:srgbClr val="33255B"/>
                </a:solidFill>
              </a:rPr>
              <a:t>→</a:t>
            </a:r>
          </a:p>
        </p:txBody>
      </p:sp>
      <p:sp>
        <p:nvSpPr>
          <p:cNvPr id="125" name="CodeStrata diagram 125"/>
          <p:cNvSpPr/>
          <p:nvPr/>
        </p:nvSpPr>
        <p:spPr>
          <a:xfrm>
            <a:off x="820000" y="3060000"/>
            <a:ext cx="10090000" cy="5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3EE"/>
            </a:solidFill>
          </a:ln>
        </p:spPr>
        <p:txBody>
          <a:bodyPr anchor="ctr" lIns="110000" rIns="110000"/>
          <a:lstStyle/>
          <a:p>
            <a:pPr algn="ctr">
              <a:buNone/>
            </a:pPr>
            <a:r>
              <a:rPr lang="en-US" sz="1400" b="1">
                <a:solidFill>
                  <a:srgbClr val="33255B"/>
                </a:solidFill>
              </a:rPr>
              <a:t>Lineage + import graph  ↓  evidence inspection</a:t>
            </a:r>
          </a:p>
        </p:txBody>
      </p:sp>
      <p:sp>
        <p:nvSpPr>
          <p:cNvPr id="126" name="CodeStrata diagram 126"/>
          <p:cNvSpPr/>
          <p:nvPr/>
        </p:nvSpPr>
        <p:spPr>
          <a:xfrm>
            <a:off x="820000" y="5160000"/>
            <a:ext cx="10090000" cy="480000"/>
          </a:xfrm>
          <a:prstGeom prst="roundRect">
            <a:avLst/>
          </a:prstGeom>
          <a:solidFill>
            <a:srgbClr val="F9F7FD"/>
          </a:solidFill>
          <a:ln w="12700">
            <a:solidFill>
              <a:srgbClr val="D9D3EE"/>
            </a:solidFill>
          </a:ln>
        </p:spPr>
        <p:txBody>
          <a:bodyPr anchor="ctr" lIns="110000" rIns="110000"/>
          <a:lstStyle/>
          <a:p>
            <a:pPr algn="ctr">
              <a:buNone/>
            </a:pPr>
            <a:r>
              <a:rPr lang="en-US" sz="1400" b="1">
                <a:solidFill>
                  <a:srgbClr val="33255B"/>
                </a:solidFill>
              </a:rPr>
              <a:t>Conservative static evidence · live agent events · CPU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</p:txBody>
      </p:sp>
      <p:sp>
        <p:nvSpPr>
          <p:cNvPr id="121" name="TextBox 120"/>
          <p:cNvSpPr txBox="1"/>
          <p:nvPr/>
        </p:nvSpPr>
        <p:spPr>
          <a:xfrm>
            <a:off x="832104" y="1673352"/>
            <a:ext cx="1024128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700" b="1">
                <a:solidFill>
                  <a:srgbClr val="6546CF"/>
                </a:solidFill>
                <a:latin typeface="Aptos"/>
              </a:rPr>
              <a:t>WHERE DID DEVICE PAIRING STOP WAITING FOR policyCheck?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32104" y="2130552"/>
            <a:ext cx="3383280" cy="987552"/>
          </a:xfrm>
          <a:prstGeom prst="roundRect">
            <a:avLst/>
          </a:prstGeom>
          <a:solidFill>
            <a:srgbClr val="F0EBFF"/>
          </a:solidFill>
          <a:ln>
            <a:solidFill>
              <a:srgbClr val="E2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96696" y="2258568"/>
            <a:ext cx="30358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700" b="1">
                <a:solidFill>
                  <a:srgbClr val="24243B"/>
                </a:solidFill>
                <a:latin typeface="Aptos"/>
              </a:rPr>
              <a:t>v1 · connectDevice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96696" y="2633472"/>
            <a:ext cx="30632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200" b="0">
                <a:solidFill>
                  <a:srgbClr val="24243B"/>
                </a:solidFill>
                <a:latin typeface="Consolas"/>
              </a:rPr>
              <a:t>await policyCheck()  ·  devices/connect.js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97680" y="2414016"/>
            <a:ext cx="29260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2000" b="1">
                <a:solidFill>
                  <a:srgbClr val="6546CF"/>
                </a:solidFill>
                <a:latin typeface="Aptos"/>
              </a:rPr>
              <a:t>→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654296" y="2130552"/>
            <a:ext cx="3383280" cy="987552"/>
          </a:xfrm>
          <a:prstGeom prst="roundRect">
            <a:avLst/>
          </a:prstGeom>
          <a:solidFill>
            <a:srgbClr val="FFF2E5"/>
          </a:solidFill>
          <a:ln>
            <a:solidFill>
              <a:srgbClr val="E2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818888" y="2258568"/>
            <a:ext cx="30358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700" b="1">
                <a:solidFill>
                  <a:srgbClr val="24243B"/>
                </a:solidFill>
                <a:latin typeface="Aptos"/>
              </a:rPr>
              <a:t>v2 · pairDevice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818888" y="2633472"/>
            <a:ext cx="30632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200" b="0">
                <a:solidFill>
                  <a:srgbClr val="24243B"/>
                </a:solidFill>
                <a:latin typeface="Consolas"/>
              </a:rPr>
              <a:t>policyCheck()  ·  flows/pair.js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119871" y="2414016"/>
            <a:ext cx="29260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2000" b="1">
                <a:solidFill>
                  <a:srgbClr val="6546CF"/>
                </a:solidFill>
                <a:latin typeface="Aptos"/>
              </a:rPr>
              <a:t>→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476488" y="2130552"/>
            <a:ext cx="3383280" cy="987552"/>
          </a:xfrm>
          <a:prstGeom prst="roundRect">
            <a:avLst/>
          </a:prstGeom>
          <a:solidFill>
            <a:srgbClr val="EAF8F2"/>
          </a:solidFill>
          <a:ln>
            <a:solidFill>
              <a:srgbClr val="E2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641080" y="2258568"/>
            <a:ext cx="30358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700" b="1">
                <a:solidFill>
                  <a:srgbClr val="24243B"/>
                </a:solidFill>
                <a:latin typeface="Aptos"/>
              </a:rPr>
              <a:t>v3 · pairDevice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641080" y="2633472"/>
            <a:ext cx="30632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200" b="0">
                <a:solidFill>
                  <a:srgbClr val="24243B"/>
                </a:solidFill>
                <a:latin typeface="Consolas"/>
              </a:rPr>
              <a:t>await policyCheck()  ·  flows/pair.js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32104" y="3438144"/>
            <a:ext cx="5047488" cy="1344168"/>
          </a:xfrm>
          <a:prstGeom prst="roundRect">
            <a:avLst/>
          </a:prstGeom>
          <a:solidFill>
            <a:srgbClr val="F8F6FD"/>
          </a:solidFill>
          <a:ln>
            <a:solidFill>
              <a:srgbClr val="E2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6190488" y="3438144"/>
            <a:ext cx="5047488" cy="1344168"/>
          </a:xfrm>
          <a:prstGeom prst="roundRect">
            <a:avLst/>
          </a:prstGeom>
          <a:solidFill>
            <a:srgbClr val="F8F6FD"/>
          </a:solidFill>
          <a:ln>
            <a:solidFill>
              <a:srgbClr val="E2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14984" y="3557016"/>
            <a:ext cx="44805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300" b="1">
                <a:solidFill>
                  <a:srgbClr val="6546CF"/>
                </a:solidFill>
                <a:latin typeface="Aptos"/>
              </a:rPr>
              <a:t>MATCH · v2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14984" y="3904487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700" b="0">
                <a:solidFill>
                  <a:srgbClr val="24243B"/>
                </a:solidFill>
                <a:latin typeface="Consolas"/>
              </a:rPr>
              <a:t>policyCheck(device);
return openDevice(device);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373368" y="3557016"/>
            <a:ext cx="44805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300" b="1">
                <a:solidFill>
                  <a:srgbClr val="96562E"/>
                </a:solidFill>
                <a:latin typeface="Aptos"/>
              </a:rPr>
              <a:t>COUNTEREXAMPLE · v1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73368" y="3904487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700" b="0">
                <a:solidFill>
                  <a:srgbClr val="24243B"/>
                </a:solidFill>
                <a:latin typeface="Consolas"/>
              </a:rPr>
              <a:t>await policyCheck(device);
return openDevice(device);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32104" y="5029200"/>
            <a:ext cx="1051560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700" b="0">
                <a:solidFill>
                  <a:srgbClr val="24243B"/>
                </a:solidFill>
                <a:latin typeface="Aptos"/>
              </a:rPr>
              <a:t>Click the timeline to inspect exact source. Follow the imported policyCheck helper. Static evidence does not prove a runtime race.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32104" y="5705856"/>
            <a:ext cx="10515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300" b="1">
                <a:solidFill>
                  <a:srgbClr val="6546CF"/>
                </a:solidFill>
                <a:latin typeface="Aptos"/>
              </a:rPr>
              <a:t>Video URL: [TEAM TO ADD AFTER RECORDING · 5 MIN MAX]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Node.js + JavaScript; Babel parser; plain HTML/CSS/modules.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BM25 + normalized cosine vectors + reciprocal rank fusion.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Optional CPU q8 BGE, Jina Code, or MiniLM; two threads.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Deterministic planner; no LLM API, GPU, or repository execution.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Python/MTEB for official evaluation; persistent Node encoder.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Node tests, jsdom, Playwright, Docker, GitHub Actions.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Review a refactor that silently removed a direct await.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Locate changed guard presence or simple invocation order.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Find an exact deeplink and inspect its version-specific source.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Navigate related helpers without inventing execution guarantees.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Useful for regression triage and version migration reviews.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Static evidence supports inspection; it does not prove a runtime bug.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</p:txBody>
      </p:sp>
      <p:sp>
        <p:nvSpPr>
          <p:cNvPr id="139" name="Rounded Rectangle 138"/>
          <p:cNvSpPr/>
          <p:nvPr/>
        </p:nvSpPr>
        <p:spPr>
          <a:xfrm>
            <a:off x="822960" y="1828800"/>
            <a:ext cx="3465576" cy="2514600"/>
          </a:xfrm>
          <a:prstGeom prst="roundRect">
            <a:avLst/>
          </a:prstGeom>
          <a:solidFill>
            <a:srgbClr val="F0EBFF"/>
          </a:solidFill>
          <a:ln>
            <a:solidFill>
              <a:srgbClr val="E2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87552" y="1975104"/>
            <a:ext cx="312724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300" b="1">
                <a:solidFill>
                  <a:srgbClr val="6546CF"/>
                </a:solidFill>
                <a:latin typeface="Aptos"/>
              </a:rPr>
              <a:t>CONTROLLED VERSIONS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87552" y="2331720"/>
            <a:ext cx="3127248" cy="6949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3600" b="1">
                <a:solidFill>
                  <a:srgbClr val="24243B"/>
                </a:solidFill>
                <a:latin typeface="Aptos"/>
              </a:rPr>
              <a:t>8 / 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87552" y="3136392"/>
            <a:ext cx="3127248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600" b="0">
                <a:solidFill>
                  <a:srgbClr val="24243B"/>
                </a:solidFill>
                <a:latin typeface="Aptos"/>
              </a:rPr>
              <a:t>correct top result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87552" y="3730752"/>
            <a:ext cx="3127248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100" b="0">
                <a:solidFill>
                  <a:srgbClr val="24243B"/>
                </a:solidFill>
                <a:latin typeface="Aptos"/>
              </a:rPr>
              <a:t>25 demo snippets + 1,000 distractors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4645152" y="1828800"/>
            <a:ext cx="3465576" cy="2514600"/>
          </a:xfrm>
          <a:prstGeom prst="roundRect">
            <a:avLst/>
          </a:prstGeom>
          <a:solidFill>
            <a:srgbClr val="EAF8F2"/>
          </a:solidFill>
          <a:ln>
            <a:solidFill>
              <a:srgbClr val="E2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809744" y="1975104"/>
            <a:ext cx="312724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300" b="1">
                <a:solidFill>
                  <a:srgbClr val="6546CF"/>
                </a:solidFill>
                <a:latin typeface="Aptos"/>
              </a:rPr>
              <a:t>REAL CODE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809744" y="2331720"/>
            <a:ext cx="3127248" cy="6949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3600" b="1">
                <a:solidFill>
                  <a:srgbClr val="24243B"/>
                </a:solidFill>
                <a:latin typeface="Aptos"/>
              </a:rPr>
              <a:t>0.67 / 0.86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809744" y="3136392"/>
            <a:ext cx="3127248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600" b="0">
                <a:solidFill>
                  <a:srgbClr val="24243B"/>
                </a:solidFill>
                <a:latin typeface="Aptos"/>
              </a:rPr>
              <a:t>NDCG@10, Async / Express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809744" y="3730752"/>
            <a:ext cx="3127248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100" b="0">
                <a:solidFill>
                  <a:srgbClr val="24243B"/>
                </a:solidFill>
                <a:latin typeface="Aptos"/>
              </a:rPr>
              <a:t>60 AI-assisted, source-reviewed labels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8467344" y="1828800"/>
            <a:ext cx="3465576" cy="2514600"/>
          </a:xfrm>
          <a:prstGeom prst="roundRect">
            <a:avLst/>
          </a:prstGeom>
          <a:solidFill>
            <a:srgbClr val="FFF2E5"/>
          </a:solidFill>
          <a:ln>
            <a:solidFill>
              <a:srgbClr val="E2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631936" y="1975104"/>
            <a:ext cx="312724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300" b="1">
                <a:solidFill>
                  <a:srgbClr val="6546CF"/>
                </a:solidFill>
                <a:latin typeface="Aptos"/>
              </a:rPr>
              <a:t>OFFICIAL SCREENING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631936" y="2331720"/>
            <a:ext cx="3127248" cy="6949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3600" b="1">
                <a:solidFill>
                  <a:srgbClr val="24243B"/>
                </a:solidFill>
                <a:latin typeface="Aptos"/>
              </a:rPr>
              <a:t>0.0505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631936" y="3136392"/>
            <a:ext cx="3127248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600" b="0">
                <a:solidFill>
                  <a:srgbClr val="24243B"/>
                </a:solidFill>
                <a:latin typeface="Aptos"/>
              </a:rPr>
              <a:t>AppsRetrieval NDCG@10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631936" y="3730752"/>
            <a:ext cx="3127248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100" b="0">
                <a:solidFill>
                  <a:srgbClr val="24243B"/>
                </a:solidFill>
                <a:latin typeface="Aptos"/>
              </a:rPr>
              <a:t>BGE q8 · full MTEB test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32104" y="4681728"/>
            <a:ext cx="1051560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700" b="0">
                <a:solidFill>
                  <a:srgbClr val="24243B"/>
                </a:solidFill>
                <a:latin typeface="Aptos"/>
              </a:rPr>
              <a:t>BGE baseline NDCG@10 0.0505; selected MRR@10 0.0434. MTEB excludes version reranking.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32104" y="5458968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400" b="1">
                <a:solidFill>
                  <a:srgbClr val="6546CF"/>
                </a:solidFill>
                <a:latin typeface="Aptos"/>
              </a:rPr>
              <a:t>Limits: heuristic lineage · bounded static syntax · no independently annotated real-code labels.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Validate the code encoder on the full official test; keep train/test separate.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Collect independently labeled multi-commit repository questions.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Explain the gap between development and official test accuracy.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Broaden conservative lineage and supported import patterns.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Measure larger repositories before adding approximate indexes.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Record the demo, sign disclosure, and confirm organizer submission.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Behavior evidence survives a simultaneous rename and file move.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Counterexamples expose why a nearby version does not match.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Ambiguous copies and refactors stay unresolved.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Live agent events, not a simulated progress animation.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Light timeline workspace with hover/focus/tap explanations.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CPU-only, transparent limits, and reproducible raw results.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Prototype code + setup README — YES, public GitHub.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Tests + browser/Docker workflows — see latest Actions status.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Official MTEB JSON + real-repository artifacts — YES, docs/results.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Presentation — YES; both team members and contacts entered.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Video + signed AI disclosure — PENDING team action.</a:t>
            </a:r>
          </a:p>
          <a:p>
            <a:pPr>
              <a:buNone/>
              <a:spcAft>
                <a:spcPts val="1200"/>
              </a:spcAft>
            </a:pPr>
            <a:r>
              <a:rPr lang="en-US" sz="2200">
                <a:solidFill>
                  <a:srgbClr val="24243B"/>
                </a:solidFill>
                <a:latin typeface="Aptos"/>
              </a:rPr>
              <a:t>Final judged release/tag — PENDING submission readiness.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
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custom.xml" ContentType="application/vnd.openxmlformats-officedocument.custom-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68" r:id="rId18"/>
    <p:sldId id="259" r:id="rId8"/>
    <p:sldId id="269" r:id="rId19"/>
    <p:sldId id="270" r:id="rId20"/>
    <p:sldId id="260" r:id="rId9"/>
    <p:sldId id="271" r:id="rId21"/>
    <p:sldId id="261" r:id="rId10"/>
    <p:sldId id="265" r:id="rId14"/>
    <p:sldId id="272" r:id="rId22"/>
    <p:sldId id="262" r:id="rId11"/>
    <p:sldId id="263" r:id="rId12"/>
    <p:sldId id="273" r:id="rId23"/>
    <p:sldId id="264" r:id="rId13"/>
    <p:sldId id="266" r:id="rId15"/>
    <p:sldId id="267" r:id="rId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gQuomGbdS/wh2yqkB/K4YAZ70YA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customschemas.google.com/relationships/presentationmetadata" Target="metadata"/><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CodeStrata investigates how code behavior changes across versions. Our focus is a small change with a large effect on the evidence: a function moves, is renamed, and loses a direct await. We retrieve the relevant version, show the source that explains it, and save a repeatable behavior check. The default workspace runs locally on CPU.</a:t>
            </a:r>
          </a:p>
        </p:txBody>
      </p:sp>
      <p:sp>
        <p:nvSpPr>
          <p:cNvPr id="88" name="Google Shape;8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The problem is not just finding a matching function name. After a refactor, a nearby version can be nearly identical while one direct await is removed. A useful answer should show the correct snapshot, exact source lines, and the nearby version that disagrees with the requested pattern. The screenshot on the right is the actual light workspace. CodeStrata turns this investigation into a saved behavior watch.</a:t>
            </a:r>
          </a:p>
        </p:txBody>
      </p:sp>
      <p:sp>
        <p:nvSpPr>
          <p:cNvPr id="99" name="Google Shape;9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Code search, version control, and investigation tools already exist. Our differentiation is their integration around behavior evidence. A symbol can move and change name while a one-token difference changes the answer. We show why a nearby version conflicts with the question, without claiming that static syntax proves a runtime race.</a:t>
            </a:r>
          </a:p>
        </p:txBody>
      </p:sp>
      <p:sp>
        <p:nvSpPr>
          <p:cNvPr id="105" name="Google Shape;10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Indexing extracts functions and facts, builds cached lexical and vector representations, and constructs conservative lineage and import links. The deterministic policy parses supported constraints, retrieves candidates, inspects evidence, and expands within a budget. The default budget is three rounds and 120 candidates. Counterexamples are checked after ranking. Watches follow the pinned lineage and export evidence; they do not run background monitoring.</a:t>
            </a:r>
          </a:p>
        </p:txBody>
      </p:sp>
      <p:sp>
        <p:nvSpPr>
          <p:cNvPr id="111" name="Google Shape;11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In the live application, click Investigate the refactor. The top result is pairDevice at v2. Point to the removed direct await and compare connectDevice at v1. The relationship is labelled an inferred rename or move. Open the imported policyCheck helper, then return to the result. This screenshot is captured from the actual application. Insert the final recording link in the reserved field.</a:t>
            </a:r>
          </a:p>
        </p:txBody>
      </p:sp>
      <p:sp>
        <p:nvSpPr>
          <p:cNvPr id="117" name="Google Shape;11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Babel extracts supported static facts with exact locations. BM25 and vector ranks retrieve candidates, and the deterministic policy checks evidence, expands linked versions or imports within a budget, and stops. The screenshot is a real trace of those decisions. The default representation is deterministic feature hashing; quantized BGE, Jina Code, and MiniLM are optional CPU encoders. No hosted model or repository execution is required for the default workspace.</a:t>
            </a:r>
          </a:p>
        </p:txBody>
      </p:sp>
      <p:sp>
        <p:nvSpPr>
          <p:cNvPr id="123" name="Google Shape;12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These are intended workflows, not measured productivity claims. A reviewer can follow refactored code, a developer can inspect a changed static pattern, and a migration review can retain a saved behavior rule. The value is that locations, versions, and uncertainty remain attached to the finding.</a:t>
            </a:r>
          </a:p>
        </p:txBody>
      </p:sp>
      <p:sp>
        <p:nvSpPr>
          <p:cNvPr id="129" name="Google Shape;12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The controlled challenge shows 8 of 8 correct top results on development examples. The separate Async and Express queries use partial, AI-assisted labels. The full AppsRetrieval test is independent encoding of Python tasks and solutions: Jina achieved NDCG at ten of 0.15711 versus BGE at 0.0505, with Jina MRR of 0.133675. It does not validate historical reranking. Raw outputs are in docs/results; avoid presenting the controlled score as broad accuracy.</a:t>
            </a:r>
          </a:p>
        </p:txBody>
      </p:sp>
      <p:sp>
        <p:nvSpPr>
          <p:cNvPr id="135" name="Google Shape;13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Next we need independent labels on real multi-commit histories. Then we can broaden language and query coverage. Larger repositories need measured latency and memory budgets before changing the retrieval architecture. These are future directions, not completed capabilities.</a:t>
            </a:r>
          </a:p>
        </p:txBody>
      </p:sp>
      <p:sp>
        <p:nvSpPr>
          <p:cNvPr id="141" name="Google Shape;14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Behavior Watch is the distinguishing follow-through. Pin the result, save awaits policyCheck, and show v1 holds, v2 broken, v3 holds. Broken means the static rule is contradicted, not that a runtime failure is proved. Watches save in this browser and run on demand against the loaded index. Reindex and restart to include new source. Export the report to retain the evidence.</a:t>
            </a:r>
          </a:p>
        </p:txBody>
      </p:sp>
      <p:sp>
        <p:nvSpPr>
          <p:cNvPr id="147" name="Google Shape;14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The current implementation passed 92 Node tests and nine browser checks. The latest verified workflow passed on Linux and Windows, including Docker and the encoder bridge. The final audit covered constructor queries, computed awaits, nested branches, malformed options, and empty indexes. The public repository and setup are ready. The deck reserves the video URL for the team; the disclosure still requires human review and signature.</a:t>
            </a:r>
          </a:p>
        </p:txBody>
      </p:sp>
      <p:sp>
        <p:nvSpPr>
          <p:cNvPr id="153" name="Google Shape;15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Close with the workflow: ask where behavior changed, inspect the source-backed explanation, and retain a repeatable watch. We welcome questions about the conservative lineage rules, the static evidence boundary, and the independent retrieval evaluations.</a:t>
            </a:r>
          </a:p>
        </p:txBody>
      </p:sp>
      <p:sp>
        <p:nvSpPr>
          <p:cNvPr id="160" name="Google Shape;16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Our proposed answer joins four jobs that are usually separate: retrieve across versions, inspect evidence from source, compare the nearby conflicting version, and save a rule for later review. Each finding keeps the version and file location visible. The system is a local JavaScript and JSX analysis workflow, not a code execution or automatic repair engine.</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Indexing is a deterministic preprocessing stage. Babel extracts exact function source and supported static facts. Search text includes names and leading documentation, but evidence about awaits, guards, calls, and order comes from syntax. Cached analysis includes analyzer identity, while vector caches include model identity and exact input. Reindexing refreshes the evidence. The repository is not executed.</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agent here is a deterministic bounded policy, not a hosted language model. It parses the question, fuses BM25 and vector ranking, inspects static facts, expands to historical or imported neighbors when needed, and stops under a fixed budget. The screenshot is its live decision trace. Counterexamples are inspected within the candidate budget; they explain the output but do not select or rerank it.</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demonstration links v1 connectDevice to v2 pairDevice despite a move and rename, then to v3 where the direct await is restored. Matching uses conservative evidence from normalized AST structure and call targets. It intentionally omits the await wrapper for identity matching, so the behavior change can remain visible in evidence inspection. In ambiguous cases CodeStrata leaves history unlinked. An inferred link is not a formal proof of identity.</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Behavior Watch is the project’s follow-through. The pinned anchor has a version, ID, and content hash. The rule is checked over its supported lineage, up to 200 snapshots, and each point retains source and evidence. Holds, broken, unknown, and unlinked are distinct. The v1-v2-v3 example shows regression and restoration only because adjacent points have explicit support or contradiction. Watches are browser-stored and checked on demand, not a background service. A failed recheck discards stale exportable evidence.</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evaluations are deliberately separate. Eight of eight is the correct top result for controlled synthetic development queries, not an independent accuracy estimate. Async and Express are pinned single-snapshot repositories with partial AI-assisted labels; their BGE hybrid NDCG is 0.6717 and 0.8577. The official MTEB AppsRetrieval score of 0.15711 evaluates independent Jina encoding on Python questions and solutions, not historical evidence reranking. The BGE baseline there was 0.0505. These scores are not comparable as a single metric, and we do not claim runtime proof.</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 name="Shape 16"/>
        <p:cNvGrpSpPr/>
        <p:nvPr/>
      </p:nvGrpSpPr>
      <p:grpSpPr>
        <a:xfrm>
          <a:off x="0" y="0"/>
          <a:ext cx="0" cy="0"/>
          <a:chOff x="0" y="0"/>
          <a:chExt cx="0" cy="0"/>
        </a:xfrm>
      </p:grpSpPr>
      <p:sp>
        <p:nvSpPr>
          <p:cNvPr id="17" name="Google Shape;17;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 name="Shape 22"/>
        <p:cNvGrpSpPr/>
        <p:nvPr/>
      </p:nvGrpSpPr>
      <p:grpSpPr>
        <a:xfrm>
          <a:off x="0" y="0"/>
          <a:ext cx="0" cy="0"/>
          <a:chOff x="0" y="0"/>
          <a:chExt cx="0" cy="0"/>
        </a:xfrm>
      </p:grpSpPr>
      <p:sp>
        <p:nvSpPr>
          <p:cNvPr id="23" name="Google Shape;23;p1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5" name="Google Shape;25;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1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1" name="Google Shape;31;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1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1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1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p1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1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1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2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2" name="Google Shape;62;p2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23"/>
          <p:cNvSpPr/>
          <p:nvPr>
            <p:ph idx="2" type="pic"/>
          </p:nvPr>
        </p:nvSpPr>
        <p:spPr>
          <a:xfrm>
            <a:off x="5183188" y="987425"/>
            <a:ext cx="6172200" cy="4873625"/>
          </a:xfrm>
          <a:prstGeom prst="rect">
            <a:avLst/>
          </a:prstGeom>
          <a:noFill/>
          <a:ln>
            <a:noFill/>
          </a:ln>
        </p:spPr>
      </p:sp>
      <p:sp>
        <p:nvSpPr>
          <p:cNvPr id="69" name="Google Shape;69;p2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2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2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2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mailto:advay.vivek2024@vitstudent.ac.in" TargetMode="External"/><Relationship Id="rId5" Type="http://schemas.openxmlformats.org/officeDocument/2006/relationships/hyperlink" Target="mailto:kaavish.gogia2024@vitstudent.ac.i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github.com/AdvayV/AgenticIntelligence"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github.com/AdvayV/AgenticIntelligence"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8F9FD"/>
        </a:solidFill>
        <a:effectLst/>
      </p:bgPr>
    </p:bg>
    <p:spTree>
      <p:nvGrpSpPr>
        <p:cNvPr id="89" name="Shape 89"/>
        <p:cNvGrpSpPr/>
        <p:nvPr/>
      </p:nvGrpSpPr>
      <p:grpSpPr>
        <a:xfrm>
          <a:off x="0" y="0"/>
          <a:ext cx="0" cy="0"/>
          <a:chOff x="0" y="0"/>
          <a:chExt cx="0" cy="0"/>
        </a:xfrm>
      </p:grpSpPr>
      <p:sp>
        <p:nvSpPr>
          <p:cNvPr id="90" name="Rectangle 89"/>
          <p:cNvSpPr/>
          <p:nvPr/>
        </p:nvSpPr>
        <p:spPr>
          <a:xfrm>
            <a:off x="502920" y="393192"/>
            <a:ext cx="100584" cy="210312"/>
          </a:xfrm>
          <a:prstGeom prst="rect">
            <a:avLst/>
          </a:prstGeom>
          <a:solidFill>
            <a:srgbClr val="6547D8"/>
          </a:solidFill>
          <a:ln w="10160">
            <a:solidFill>
              <a:srgbClr val="6547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713232" y="365760"/>
            <a:ext cx="1920240" cy="274320"/>
          </a:xfrm>
          <a:prstGeom prst="rect">
            <a:avLst/>
          </a:prstGeom>
          <a:noFill/>
        </p:spPr>
        <p:txBody>
          <a:bodyPr wrap="square" lIns="9144" rIns="9144" tIns="22860" bIns="22860" anchor="t">
            <a:spAutoFit/>
          </a:bodyPr>
          <a:lstStyle/>
          <a:p>
            <a:pPr>
              <a:lnSpc>
                <a:spcPct val="106000"/>
              </a:lnSpc>
              <a:spcBef>
                <a:spcPts val="0"/>
              </a:spcBef>
              <a:spcAft>
                <a:spcPts val="500"/>
              </a:spcAft>
            </a:pPr>
            <a:r>
              <a:rPr sz="1100" b="1">
                <a:solidFill>
                  <a:srgbClr val="6547D8"/>
                </a:solidFill>
                <a:latin typeface="Segoe UI"/>
              </a:rPr>
              <a:t>CODESTRATA</a:t>
            </a:r>
          </a:p>
        </p:txBody>
      </p:sp>
      <p:sp>
        <p:nvSpPr>
          <p:cNvPr id="92" name="TextBox 91"/>
          <p:cNvSpPr txBox="1"/>
          <p:nvPr/>
        </p:nvSpPr>
        <p:spPr>
          <a:xfrm>
            <a:off x="3657600" y="374904"/>
            <a:ext cx="8001000" cy="292608"/>
          </a:xfrm>
          <a:prstGeom prst="rect">
            <a:avLst/>
          </a:prstGeom>
          <a:noFill/>
        </p:spPr>
        <p:txBody>
          <a:bodyPr wrap="square" lIns="9144" rIns="9144" tIns="22860" bIns="22860" anchor="t">
            <a:spAutoFit/>
          </a:bodyPr>
          <a:lstStyle/>
          <a:p>
            <a:pPr algn="r">
              <a:lnSpc>
                <a:spcPct val="106000"/>
              </a:lnSpc>
              <a:spcBef>
                <a:spcPts val="0"/>
              </a:spcBef>
              <a:spcAft>
                <a:spcPts val="500"/>
              </a:spcAft>
            </a:pPr>
            <a:r>
              <a:rPr sz="1000" b="0">
                <a:solidFill>
                  <a:srgbClr val="646B80"/>
                </a:solidFill>
                <a:latin typeface="Segoe UI"/>
              </a:rPr>
              <a:t>THEME 01 • TEAM CODESTRATA</a:t>
            </a:r>
          </a:p>
        </p:txBody>
      </p:sp>
      <p:sp>
        <p:nvSpPr>
          <p:cNvPr id="93" name="TextBox 92"/>
          <p:cNvSpPr txBox="1"/>
          <p:nvPr/>
        </p:nvSpPr>
        <p:spPr>
          <a:xfrm>
            <a:off x="502920" y="896112"/>
            <a:ext cx="11109960" cy="868680"/>
          </a:xfrm>
          <a:prstGeom prst="rect">
            <a:avLst/>
          </a:prstGeom>
          <a:noFill/>
        </p:spPr>
        <p:txBody>
          <a:bodyPr wrap="square" lIns="9144" rIns="9144" tIns="22860" bIns="22860" anchor="t">
            <a:spAutoFit/>
          </a:bodyPr>
          <a:lstStyle/>
          <a:p>
            <a:pPr>
              <a:lnSpc>
                <a:spcPct val="106000"/>
              </a:lnSpc>
              <a:spcBef>
                <a:spcPts val="0"/>
              </a:spcBef>
              <a:spcAft>
                <a:spcPts val="500"/>
              </a:spcAft>
            </a:pPr>
            <a:r>
              <a:rPr sz="3400" b="1">
                <a:solidFill>
                  <a:srgbClr val="20243A"/>
                </a:solidFill>
                <a:latin typeface="Segoe UI"/>
              </a:rPr>
              <a:t/>
            </a:r>
          </a:p>
        </p:txBody>
      </p:sp>
      <p:cxnSp>
        <p:nvCxnSpPr>
          <p:cNvPr id="94" name="Connector 93"/>
          <p:cNvCxnSpPr/>
          <p:nvPr/>
        </p:nvCxnSpPr>
        <p:spPr>
          <a:xfrm>
            <a:off x="502920" y="6428232"/>
            <a:ext cx="11183112" cy="0"/>
          </a:xfrm>
          <a:prstGeom prst="line">
            <a:avLst/>
          </a:prstGeom>
          <a:ln w="10160">
            <a:solidFill>
              <a:srgbClr val="DFE3EF"/>
            </a:solidFill>
          </a:ln>
          <a:effectLst/>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521207" y="6519672"/>
            <a:ext cx="8961120" cy="201168"/>
          </a:xfrm>
          <a:prstGeom prst="rect">
            <a:avLst/>
          </a:prstGeom>
          <a:noFill/>
        </p:spPr>
        <p:txBody>
          <a:bodyPr wrap="square" lIns="9144" rIns="9144" tIns="22860" bIns="22860" anchor="t">
            <a:spAutoFit/>
          </a:bodyPr>
          <a:lstStyle/>
          <a:p>
            <a:pPr>
              <a:lnSpc>
                <a:spcPct val="106000"/>
              </a:lnSpc>
              <a:spcBef>
                <a:spcPts val="0"/>
              </a:spcBef>
              <a:spcAft>
                <a:spcPts val="500"/>
              </a:spcAft>
            </a:pPr>
            <a:r>
              <a:rPr sz="900" b="0">
                <a:solidFill>
                  <a:srgbClr val="646B80"/>
                </a:solidFill>
                <a:latin typeface="Segoe UI"/>
              </a:rPr>
              <a:t>CODESTRATA  /  AGENTIC CODE INTELLIGENCE</a:t>
            </a:r>
          </a:p>
        </p:txBody>
      </p:sp>
      <p:sp>
        <p:nvSpPr>
          <p:cNvPr id="96" name="TextBox 95"/>
          <p:cNvSpPr txBox="1"/>
          <p:nvPr/>
        </p:nvSpPr>
        <p:spPr>
          <a:xfrm>
            <a:off x="10698480" y="6492240"/>
            <a:ext cx="987552" cy="228600"/>
          </a:xfrm>
          <a:prstGeom prst="rect">
            <a:avLst/>
          </a:prstGeom>
          <a:noFill/>
        </p:spPr>
        <p:txBody>
          <a:bodyPr wrap="square" lIns="9144" rIns="9144" tIns="22860" bIns="22860" anchor="t">
            <a:spAutoFit/>
          </a:bodyPr>
          <a:lstStyle/>
          <a:p>
            <a:r>
              <a:rPr sz="1000" b="1">
                <a:solidFill>
                  <a:srgbClr val="6547D8"/>
                </a:solidFill>
                <a:latin typeface="Segoe UI"/>
              </a:rPr>
              <a:t>01 / 18</a:t>
            </a:r>
          </a:p>
        </p:txBody>
      </p:sp>
      <p:sp>
        <p:nvSpPr>
          <p:cNvPr id="97" name="TextBox 96"/>
          <p:cNvSpPr txBox="1"/>
          <p:nvPr/>
        </p:nvSpPr>
        <p:spPr>
          <a:xfrm>
            <a:off x="7132320" y="804672"/>
            <a:ext cx="4206240" cy="420624"/>
          </a:xfrm>
          <a:prstGeom prst="rect">
            <a:avLst/>
          </a:prstGeom>
          <a:noFill/>
        </p:spPr>
        <p:txBody>
          <a:bodyPr wrap="square" lIns="9144" rIns="9144" tIns="22860" bIns="22860" anchor="t">
            <a:spAutoFit/>
          </a:bodyPr>
          <a:lstStyle/>
          <a:p>
            <a:pPr>
              <a:lnSpc>
                <a:spcPct val="106000"/>
              </a:lnSpc>
              <a:spcBef>
                <a:spcPts val="0"/>
              </a:spcBef>
              <a:spcAft>
                <a:spcPts val="500"/>
              </a:spcAft>
            </a:pPr>
            <a:r>
              <a:rPr sz="2700" b="1">
                <a:solidFill>
                  <a:srgbClr val="6547D8"/>
                </a:solidFill>
                <a:latin typeface="Segoe UI"/>
              </a:rPr>
              <a:t>CodeStrata</a:t>
            </a:r>
          </a:p>
        </p:txBody>
      </p:sp>
      <p:sp>
        <p:nvSpPr>
          <p:cNvPr id="98" name="TextBox 97"/>
          <p:cNvSpPr txBox="1"/>
          <p:nvPr/>
        </p:nvSpPr>
        <p:spPr>
          <a:xfrm>
            <a:off x="502920" y="1188720"/>
            <a:ext cx="6217920" cy="1783080"/>
          </a:xfrm>
          <a:prstGeom prst="rect">
            <a:avLst/>
          </a:prstGeom>
          <a:noFill/>
        </p:spPr>
        <p:txBody>
          <a:bodyPr wrap="square" lIns="9144" rIns="9144" tIns="22860" bIns="22860" anchor="t">
            <a:spAutoFit/>
          </a:bodyPr>
          <a:lstStyle/>
          <a:p>
            <a:pPr>
              <a:lnSpc>
                <a:spcPct val="106000"/>
              </a:lnSpc>
              <a:spcBef>
                <a:spcPts val="0"/>
              </a:spcBef>
              <a:spcAft>
                <a:spcPts val="500"/>
              </a:spcAft>
            </a:pPr>
            <a:r>
              <a:rPr sz="5500" b="1">
                <a:solidFill>
                  <a:srgbClr val="20243A"/>
                </a:solidFill>
                <a:latin typeface="Segoe UI"/>
              </a:rPr>
              <a:t>Code has</a:t>
            </a:r>
          </a:p>
          <a:p>
            <a:pPr>
              <a:lnSpc>
                <a:spcPct val="106000"/>
              </a:lnSpc>
              <a:spcBef>
                <a:spcPts val="0"/>
              </a:spcBef>
              <a:spcAft>
                <a:spcPts val="500"/>
              </a:spcAft>
            </a:pPr>
            <a:r>
              <a:rPr sz="5500" b="1">
                <a:solidFill>
                  <a:srgbClr val="20243A"/>
                </a:solidFill>
                <a:latin typeface="Segoe UI"/>
              </a:rPr>
              <a:t>a memory.</a:t>
            </a:r>
          </a:p>
        </p:txBody>
      </p:sp>
      <p:sp>
        <p:nvSpPr>
          <p:cNvPr id="99" name="TextBox 98"/>
          <p:cNvSpPr txBox="1"/>
          <p:nvPr/>
        </p:nvSpPr>
        <p:spPr>
          <a:xfrm>
            <a:off x="557784" y="3209544"/>
            <a:ext cx="5852160" cy="932688"/>
          </a:xfrm>
          <a:prstGeom prst="rect">
            <a:avLst/>
          </a:prstGeom>
          <a:noFill/>
        </p:spPr>
        <p:txBody>
          <a:bodyPr wrap="square" lIns="9144" rIns="9144" tIns="22860" bIns="22860" anchor="t">
            <a:spAutoFit/>
          </a:bodyPr>
          <a:lstStyle/>
          <a:p>
            <a:pPr>
              <a:lnSpc>
                <a:spcPct val="106000"/>
              </a:lnSpc>
              <a:spcBef>
                <a:spcPts val="0"/>
              </a:spcBef>
              <a:spcAft>
                <a:spcPts val="500"/>
              </a:spcAft>
            </a:pPr>
            <a:r>
              <a:rPr sz="2100" b="0">
                <a:solidFill>
                  <a:srgbClr val="646B80"/>
                </a:solidFill>
                <a:latin typeface="Segoe UI"/>
              </a:rPr>
              <a:t>Find where behavior changed.</a:t>
            </a:r>
          </a:p>
          <a:p>
            <a:pPr>
              <a:lnSpc>
                <a:spcPct val="106000"/>
              </a:lnSpc>
              <a:spcBef>
                <a:spcPts val="0"/>
              </a:spcBef>
              <a:spcAft>
                <a:spcPts val="500"/>
              </a:spcAft>
            </a:pPr>
            <a:r>
              <a:rPr sz="2100" b="0">
                <a:solidFill>
                  <a:srgbClr val="646B80"/>
                </a:solidFill>
                <a:latin typeface="Segoe UI"/>
              </a:rPr>
              <a:t>Keep the evidence. Watch what comes next.</a:t>
            </a:r>
          </a:p>
        </p:txBody>
      </p:sp>
      <p:sp>
        <p:nvSpPr>
          <p:cNvPr id="100" name="Rounded Rectangle 99"/>
          <p:cNvSpPr/>
          <p:nvPr/>
        </p:nvSpPr>
        <p:spPr>
          <a:xfrm>
            <a:off x="557784" y="4343400"/>
            <a:ext cx="1280160" cy="310896"/>
          </a:xfrm>
          <a:prstGeom prst="roundRect">
            <a:avLst>
              <a:gd name="adj" fmla="val 12000"/>
            </a:avLst>
          </a:prstGeom>
          <a:solidFill>
            <a:srgbClr val="EFEAFF"/>
          </a:solidFill>
          <a:ln w="10160">
            <a:solidFill>
              <a:srgbClr val="EFE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649224" y="4375404"/>
            <a:ext cx="1097280" cy="237744"/>
          </a:xfrm>
          <a:prstGeom prst="rect">
            <a:avLst/>
          </a:prstGeom>
          <a:noFill/>
        </p:spPr>
        <p:txBody>
          <a:bodyPr wrap="square" lIns="9144" rIns="9144" tIns="22860" bIns="22860" anchor="t">
            <a:spAutoFit/>
          </a:bodyPr>
          <a:lstStyle/>
          <a:p>
            <a:pPr>
              <a:lnSpc>
                <a:spcPct val="106000"/>
              </a:lnSpc>
              <a:spcBef>
                <a:spcPts val="0"/>
              </a:spcBef>
              <a:spcAft>
                <a:spcPts val="500"/>
              </a:spcAft>
            </a:pPr>
            <a:r>
              <a:rPr sz="1000" b="1">
                <a:solidFill>
                  <a:srgbClr val="6547D8"/>
                </a:solidFill>
                <a:latin typeface="Segoe UI"/>
              </a:rPr>
              <a:t>CPU ONLY</a:t>
            </a:r>
          </a:p>
        </p:txBody>
      </p:sp>
      <p:sp>
        <p:nvSpPr>
          <p:cNvPr id="102" name="Rounded Rectangle 101"/>
          <p:cNvSpPr/>
          <p:nvPr/>
        </p:nvSpPr>
        <p:spPr>
          <a:xfrm>
            <a:off x="1975104" y="4343400"/>
            <a:ext cx="1901952" cy="310896"/>
          </a:xfrm>
          <a:prstGeom prst="roundRect">
            <a:avLst>
              <a:gd name="adj" fmla="val 12000"/>
            </a:avLst>
          </a:prstGeom>
          <a:solidFill>
            <a:srgbClr val="EFEAFF"/>
          </a:solidFill>
          <a:ln w="10160">
            <a:solidFill>
              <a:srgbClr val="EFE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2066544" y="4375404"/>
            <a:ext cx="1719072" cy="237744"/>
          </a:xfrm>
          <a:prstGeom prst="rect">
            <a:avLst/>
          </a:prstGeom>
          <a:noFill/>
        </p:spPr>
        <p:txBody>
          <a:bodyPr wrap="square" lIns="9144" rIns="9144" tIns="22860" bIns="22860" anchor="t">
            <a:spAutoFit/>
          </a:bodyPr>
          <a:lstStyle/>
          <a:p>
            <a:pPr>
              <a:lnSpc>
                <a:spcPct val="106000"/>
              </a:lnSpc>
              <a:spcBef>
                <a:spcPts val="0"/>
              </a:spcBef>
              <a:spcAft>
                <a:spcPts val="500"/>
              </a:spcAft>
            </a:pPr>
            <a:r>
              <a:rPr sz="1000" b="1">
                <a:solidFill>
                  <a:srgbClr val="6547D8"/>
                </a:solidFill>
                <a:latin typeface="Segoe UI"/>
              </a:rPr>
              <a:t>JAVASCRIPT + JSX</a:t>
            </a:r>
          </a:p>
        </p:txBody>
      </p:sp>
      <p:sp>
        <p:nvSpPr>
          <p:cNvPr id="104" name="Rounded Rectangle 103"/>
          <p:cNvSpPr/>
          <p:nvPr/>
        </p:nvSpPr>
        <p:spPr>
          <a:xfrm>
            <a:off x="4014215" y="4343400"/>
            <a:ext cx="1975104" cy="310896"/>
          </a:xfrm>
          <a:prstGeom prst="roundRect">
            <a:avLst>
              <a:gd name="adj" fmla="val 12000"/>
            </a:avLst>
          </a:prstGeom>
          <a:solidFill>
            <a:srgbClr val="EFEAFF"/>
          </a:solidFill>
          <a:ln w="10160">
            <a:solidFill>
              <a:srgbClr val="EFE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4105655" y="4375404"/>
            <a:ext cx="1792224" cy="237744"/>
          </a:xfrm>
          <a:prstGeom prst="rect">
            <a:avLst/>
          </a:prstGeom>
          <a:noFill/>
        </p:spPr>
        <p:txBody>
          <a:bodyPr wrap="square" lIns="9144" rIns="9144" tIns="22860" bIns="22860" anchor="t">
            <a:spAutoFit/>
          </a:bodyPr>
          <a:lstStyle/>
          <a:p>
            <a:pPr>
              <a:lnSpc>
                <a:spcPct val="106000"/>
              </a:lnSpc>
              <a:spcBef>
                <a:spcPts val="0"/>
              </a:spcBef>
              <a:spcAft>
                <a:spcPts val="500"/>
              </a:spcAft>
            </a:pPr>
            <a:r>
              <a:rPr sz="1000" b="1">
                <a:solidFill>
                  <a:srgbClr val="6547D8"/>
                </a:solidFill>
                <a:latin typeface="Segoe UI"/>
              </a:rPr>
              <a:t>SOURCE + HISTORY</a:t>
            </a:r>
          </a:p>
        </p:txBody>
      </p:sp>
      <p:sp>
        <p:nvSpPr>
          <p:cNvPr id="106" name="Rounded Rectangle 105"/>
          <p:cNvSpPr/>
          <p:nvPr/>
        </p:nvSpPr>
        <p:spPr>
          <a:xfrm>
            <a:off x="7132320" y="1325880"/>
            <a:ext cx="3995928" cy="969264"/>
          </a:xfrm>
          <a:prstGeom prst="roundRect">
            <a:avLst>
              <a:gd name="adj" fmla="val 12000"/>
            </a:avLst>
          </a:prstGeom>
          <a:solidFill>
            <a:srgbClr val="EFEAFF"/>
          </a:solidFill>
          <a:ln w="10160">
            <a:solidFill>
              <a:srgbClr val="EFE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7315200" y="1435607"/>
            <a:ext cx="3611880" cy="228600"/>
          </a:xfrm>
          <a:prstGeom prst="rect">
            <a:avLst/>
          </a:prstGeom>
          <a:noFill/>
        </p:spPr>
        <p:txBody>
          <a:bodyPr wrap="square" lIns="9144" rIns="9144" tIns="22860" bIns="22860" anchor="t">
            <a:spAutoFit/>
          </a:bodyPr>
          <a:lstStyle/>
          <a:p>
            <a:pPr>
              <a:lnSpc>
                <a:spcPct val="106000"/>
              </a:lnSpc>
              <a:spcBef>
                <a:spcPts val="0"/>
              </a:spcBef>
              <a:spcAft>
                <a:spcPts val="500"/>
              </a:spcAft>
            </a:pPr>
            <a:r>
              <a:rPr sz="1000" b="1">
                <a:solidFill>
                  <a:srgbClr val="6547D8"/>
                </a:solidFill>
                <a:latin typeface="Segoe UI"/>
              </a:rPr>
              <a:t>v1  /  HOLDS</a:t>
            </a:r>
          </a:p>
        </p:txBody>
      </p:sp>
      <p:sp>
        <p:nvSpPr>
          <p:cNvPr id="108" name="TextBox 107"/>
          <p:cNvSpPr txBox="1"/>
          <p:nvPr/>
        </p:nvSpPr>
        <p:spPr>
          <a:xfrm>
            <a:off x="7315200" y="1700784"/>
            <a:ext cx="3566160" cy="265176"/>
          </a:xfrm>
          <a:prstGeom prst="rect">
            <a:avLst/>
          </a:prstGeom>
          <a:noFill/>
        </p:spPr>
        <p:txBody>
          <a:bodyPr wrap="square" lIns="9144" rIns="9144" tIns="22860" bIns="22860" anchor="t">
            <a:spAutoFit/>
          </a:bodyPr>
          <a:lstStyle/>
          <a:p>
            <a:pPr>
              <a:lnSpc>
                <a:spcPct val="106000"/>
              </a:lnSpc>
              <a:spcBef>
                <a:spcPts val="0"/>
              </a:spcBef>
              <a:spcAft>
                <a:spcPts val="500"/>
              </a:spcAft>
            </a:pPr>
            <a:r>
              <a:rPr sz="1700" b="1">
                <a:solidFill>
                  <a:srgbClr val="20243A"/>
                </a:solidFill>
                <a:latin typeface="Segoe UI"/>
              </a:rPr>
              <a:t>connectDevice</a:t>
            </a:r>
          </a:p>
        </p:txBody>
      </p:sp>
      <p:sp>
        <p:nvSpPr>
          <p:cNvPr id="109" name="TextBox 108"/>
          <p:cNvSpPr txBox="1"/>
          <p:nvPr/>
        </p:nvSpPr>
        <p:spPr>
          <a:xfrm>
            <a:off x="7315200" y="2002536"/>
            <a:ext cx="3566160" cy="210312"/>
          </a:xfrm>
          <a:prstGeom prst="rect">
            <a:avLst/>
          </a:prstGeom>
          <a:noFill/>
        </p:spPr>
        <p:txBody>
          <a:bodyPr wrap="square" lIns="9144" rIns="9144" tIns="22860" bIns="22860" anchor="t">
            <a:spAutoFit/>
          </a:bodyPr>
          <a:lstStyle/>
          <a:p>
            <a:pPr>
              <a:lnSpc>
                <a:spcPct val="106000"/>
              </a:lnSpc>
              <a:spcBef>
                <a:spcPts val="0"/>
              </a:spcBef>
              <a:spcAft>
                <a:spcPts val="500"/>
              </a:spcAft>
            </a:pPr>
            <a:r>
              <a:rPr sz="1200" b="0">
                <a:solidFill>
                  <a:srgbClr val="6547D8"/>
                </a:solidFill>
                <a:latin typeface="Consolas"/>
              </a:rPr>
              <a:t>await policyCheck();</a:t>
            </a:r>
          </a:p>
        </p:txBody>
      </p:sp>
      <p:sp>
        <p:nvSpPr>
          <p:cNvPr id="110" name="Rounded Rectangle 109"/>
          <p:cNvSpPr/>
          <p:nvPr/>
        </p:nvSpPr>
        <p:spPr>
          <a:xfrm>
            <a:off x="7306056" y="2432304"/>
            <a:ext cx="3995928" cy="969264"/>
          </a:xfrm>
          <a:prstGeom prst="roundRect">
            <a:avLst>
              <a:gd name="adj" fmla="val 12000"/>
            </a:avLst>
          </a:prstGeom>
          <a:solidFill>
            <a:srgbClr val="FFF0E5"/>
          </a:solidFill>
          <a:ln w="10160">
            <a:solidFill>
              <a:srgbClr val="FFF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7488936" y="2542032"/>
            <a:ext cx="3611880" cy="228600"/>
          </a:xfrm>
          <a:prstGeom prst="rect">
            <a:avLst/>
          </a:prstGeom>
          <a:noFill/>
        </p:spPr>
        <p:txBody>
          <a:bodyPr wrap="square" lIns="9144" rIns="9144" tIns="22860" bIns="22860" anchor="t">
            <a:spAutoFit/>
          </a:bodyPr>
          <a:lstStyle/>
          <a:p>
            <a:pPr>
              <a:lnSpc>
                <a:spcPct val="106000"/>
              </a:lnSpc>
              <a:spcBef>
                <a:spcPts val="0"/>
              </a:spcBef>
              <a:spcAft>
                <a:spcPts val="500"/>
              </a:spcAft>
            </a:pPr>
            <a:r>
              <a:rPr sz="1000" b="1">
                <a:solidFill>
                  <a:srgbClr val="AE5427"/>
                </a:solidFill>
                <a:latin typeface="Segoe UI"/>
              </a:rPr>
              <a:t>v2  /  AWAIT REMOVED</a:t>
            </a:r>
          </a:p>
        </p:txBody>
      </p:sp>
      <p:sp>
        <p:nvSpPr>
          <p:cNvPr id="112" name="TextBox 111"/>
          <p:cNvSpPr txBox="1"/>
          <p:nvPr/>
        </p:nvSpPr>
        <p:spPr>
          <a:xfrm>
            <a:off x="7488936" y="2807208"/>
            <a:ext cx="3566160" cy="265176"/>
          </a:xfrm>
          <a:prstGeom prst="rect">
            <a:avLst/>
          </a:prstGeom>
          <a:noFill/>
        </p:spPr>
        <p:txBody>
          <a:bodyPr wrap="square" lIns="9144" rIns="9144" tIns="22860" bIns="22860" anchor="t">
            <a:spAutoFit/>
          </a:bodyPr>
          <a:lstStyle/>
          <a:p>
            <a:pPr>
              <a:lnSpc>
                <a:spcPct val="106000"/>
              </a:lnSpc>
              <a:spcBef>
                <a:spcPts val="0"/>
              </a:spcBef>
              <a:spcAft>
                <a:spcPts val="500"/>
              </a:spcAft>
            </a:pPr>
            <a:r>
              <a:rPr sz="1700" b="1">
                <a:solidFill>
                  <a:srgbClr val="20243A"/>
                </a:solidFill>
                <a:latin typeface="Segoe UI"/>
              </a:rPr>
              <a:t>pairDevice</a:t>
            </a:r>
          </a:p>
        </p:txBody>
      </p:sp>
      <p:sp>
        <p:nvSpPr>
          <p:cNvPr id="113" name="TextBox 112"/>
          <p:cNvSpPr txBox="1"/>
          <p:nvPr/>
        </p:nvSpPr>
        <p:spPr>
          <a:xfrm>
            <a:off x="7488936" y="3108960"/>
            <a:ext cx="3566160" cy="210312"/>
          </a:xfrm>
          <a:prstGeom prst="rect">
            <a:avLst/>
          </a:prstGeom>
          <a:noFill/>
        </p:spPr>
        <p:txBody>
          <a:bodyPr wrap="square" lIns="9144" rIns="9144" tIns="22860" bIns="22860" anchor="t">
            <a:spAutoFit/>
          </a:bodyPr>
          <a:lstStyle/>
          <a:p>
            <a:pPr>
              <a:lnSpc>
                <a:spcPct val="106000"/>
              </a:lnSpc>
              <a:spcBef>
                <a:spcPts val="0"/>
              </a:spcBef>
              <a:spcAft>
                <a:spcPts val="500"/>
              </a:spcAft>
            </a:pPr>
            <a:r>
              <a:rPr sz="1200" b="0">
                <a:solidFill>
                  <a:srgbClr val="AE5427"/>
                </a:solidFill>
                <a:latin typeface="Consolas"/>
              </a:rPr>
              <a:t>policyCheck();</a:t>
            </a:r>
          </a:p>
        </p:txBody>
      </p:sp>
      <p:sp>
        <p:nvSpPr>
          <p:cNvPr id="114" name="Rounded Rectangle 113"/>
          <p:cNvSpPr/>
          <p:nvPr/>
        </p:nvSpPr>
        <p:spPr>
          <a:xfrm>
            <a:off x="7479792" y="3538728"/>
            <a:ext cx="3995928" cy="969264"/>
          </a:xfrm>
          <a:prstGeom prst="roundRect">
            <a:avLst>
              <a:gd name="adj" fmla="val 12000"/>
            </a:avLst>
          </a:prstGeom>
          <a:solidFill>
            <a:srgbClr val="E9F7F1"/>
          </a:solidFill>
          <a:ln w="10160">
            <a:solidFill>
              <a:srgbClr val="E9F7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7662671" y="3648456"/>
            <a:ext cx="3611880" cy="228600"/>
          </a:xfrm>
          <a:prstGeom prst="rect">
            <a:avLst/>
          </a:prstGeom>
          <a:noFill/>
        </p:spPr>
        <p:txBody>
          <a:bodyPr wrap="square" lIns="9144" rIns="9144" tIns="22860" bIns="22860" anchor="t">
            <a:spAutoFit/>
          </a:bodyPr>
          <a:lstStyle/>
          <a:p>
            <a:pPr>
              <a:lnSpc>
                <a:spcPct val="106000"/>
              </a:lnSpc>
              <a:spcBef>
                <a:spcPts val="0"/>
              </a:spcBef>
              <a:spcAft>
                <a:spcPts val="500"/>
              </a:spcAft>
            </a:pPr>
            <a:r>
              <a:rPr sz="1000" b="1">
                <a:solidFill>
                  <a:srgbClr val="087A60"/>
                </a:solidFill>
                <a:latin typeface="Segoe UI"/>
              </a:rPr>
              <a:t>v3  /  RESTORED</a:t>
            </a:r>
          </a:p>
        </p:txBody>
      </p:sp>
      <p:sp>
        <p:nvSpPr>
          <p:cNvPr id="116" name="TextBox 115"/>
          <p:cNvSpPr txBox="1"/>
          <p:nvPr/>
        </p:nvSpPr>
        <p:spPr>
          <a:xfrm>
            <a:off x="7662671" y="3913632"/>
            <a:ext cx="3566160" cy="265176"/>
          </a:xfrm>
          <a:prstGeom prst="rect">
            <a:avLst/>
          </a:prstGeom>
          <a:noFill/>
        </p:spPr>
        <p:txBody>
          <a:bodyPr wrap="square" lIns="9144" rIns="9144" tIns="22860" bIns="22860" anchor="t">
            <a:spAutoFit/>
          </a:bodyPr>
          <a:lstStyle/>
          <a:p>
            <a:pPr>
              <a:lnSpc>
                <a:spcPct val="106000"/>
              </a:lnSpc>
              <a:spcBef>
                <a:spcPts val="0"/>
              </a:spcBef>
              <a:spcAft>
                <a:spcPts val="500"/>
              </a:spcAft>
            </a:pPr>
            <a:r>
              <a:rPr sz="1700" b="1">
                <a:solidFill>
                  <a:srgbClr val="20243A"/>
                </a:solidFill>
                <a:latin typeface="Segoe UI"/>
              </a:rPr>
              <a:t>pairDevice</a:t>
            </a:r>
          </a:p>
        </p:txBody>
      </p:sp>
      <p:sp>
        <p:nvSpPr>
          <p:cNvPr id="117" name="TextBox 116"/>
          <p:cNvSpPr txBox="1"/>
          <p:nvPr/>
        </p:nvSpPr>
        <p:spPr>
          <a:xfrm>
            <a:off x="7662671" y="4215384"/>
            <a:ext cx="3566160" cy="210312"/>
          </a:xfrm>
          <a:prstGeom prst="rect">
            <a:avLst/>
          </a:prstGeom>
          <a:noFill/>
        </p:spPr>
        <p:txBody>
          <a:bodyPr wrap="square" lIns="9144" rIns="9144" tIns="22860" bIns="22860" anchor="t">
            <a:spAutoFit/>
          </a:bodyPr>
          <a:lstStyle/>
          <a:p>
            <a:pPr>
              <a:lnSpc>
                <a:spcPct val="106000"/>
              </a:lnSpc>
              <a:spcBef>
                <a:spcPts val="0"/>
              </a:spcBef>
              <a:spcAft>
                <a:spcPts val="500"/>
              </a:spcAft>
            </a:pPr>
            <a:r>
              <a:rPr sz="1200" b="0">
                <a:solidFill>
                  <a:srgbClr val="087A60"/>
                </a:solidFill>
                <a:latin typeface="Consolas"/>
              </a:rPr>
              <a:t>await policyCheck();</a:t>
            </a:r>
          </a:p>
        </p:txBody>
      </p:sp>
      <p:sp>
        <p:nvSpPr>
          <p:cNvPr id="118" name="TextBox 117"/>
          <p:cNvSpPr txBox="1"/>
          <p:nvPr/>
        </p:nvSpPr>
        <p:spPr>
          <a:xfrm>
            <a:off x="557784" y="5001768"/>
            <a:ext cx="11064240" cy="310896"/>
          </a:xfrm>
          <a:prstGeom prst="rect">
            <a:avLst/>
          </a:prstGeom>
          <a:noFill/>
        </p:spPr>
        <p:txBody>
          <a:bodyPr wrap="square" lIns="9144" rIns="9144" tIns="22860" bIns="22860" anchor="t">
            <a:spAutoFit/>
          </a:bodyPr>
          <a:lstStyle/>
          <a:p>
            <a:pPr>
              <a:lnSpc>
                <a:spcPct val="106000"/>
              </a:lnSpc>
              <a:spcBef>
                <a:spcPts val="0"/>
              </a:spcBef>
              <a:spcAft>
                <a:spcPts val="500"/>
              </a:spcAft>
            </a:pPr>
            <a:r>
              <a:rPr sz="1700" b="1">
                <a:solidFill>
                  <a:srgbClr val="20243A"/>
                </a:solidFill>
                <a:latin typeface="Segoe UI"/>
              </a:rPr>
              <a:t>Vellore Institute of Technology (VIT University)</a:t>
            </a:r>
          </a:p>
        </p:txBody>
      </p:sp>
      <p:sp>
        <p:nvSpPr>
          <p:cNvPr id="119" name="TextBox 118"/>
          <p:cNvSpPr txBox="1"/>
          <p:nvPr/>
        </p:nvSpPr>
        <p:spPr>
          <a:xfrm>
            <a:off x="557784" y="5458968"/>
            <a:ext cx="5303520" cy="320040"/>
          </a:xfrm>
          <a:prstGeom prst="rect">
            <a:avLst/>
          </a:prstGeom>
          <a:noFill/>
        </p:spPr>
        <p:txBody>
          <a:bodyPr wrap="square" lIns="9144" rIns="9144" tIns="22860" bIns="22860" anchor="t">
            <a:spAutoFit/>
          </a:bodyPr>
          <a:lstStyle/>
          <a:p>
            <a:pPr>
              <a:lnSpc>
                <a:spcPct val="106000"/>
              </a:lnSpc>
              <a:spcBef>
                <a:spcPts val="0"/>
              </a:spcBef>
              <a:spcAft>
                <a:spcPts val="500"/>
              </a:spcAft>
            </a:pPr>
            <a:r>
              <a:rPr sz="1600" b="1">
                <a:solidFill>
                  <a:srgbClr val="20243A"/>
                </a:solidFill>
                <a:latin typeface="Segoe UI"/>
              </a:rPr>
              <a:t>Advay Vivek  /  24BCT0136</a:t>
            </a:r>
          </a:p>
        </p:txBody>
      </p:sp>
      <p:sp>
        <p:nvSpPr>
          <p:cNvPr id="120" name="TextBox 119"/>
          <p:cNvSpPr txBox="1"/>
          <p:nvPr/>
        </p:nvSpPr>
        <p:spPr>
          <a:xfrm>
            <a:off x="557784" y="5815584"/>
            <a:ext cx="5303520" cy="265176"/>
          </a:xfrm>
          <a:prstGeom prst="rect">
            <a:avLst/>
          </a:prstGeom>
          <a:noFill/>
        </p:spPr>
        <p:txBody>
          <a:bodyPr wrap="square" lIns="9144" rIns="9144" tIns="22860" bIns="22860" anchor="t">
            <a:spAutoFit/>
          </a:bodyPr>
          <a:lstStyle/>
          <a:p>
            <a:pPr>
              <a:lnSpc>
                <a:spcPct val="106000"/>
              </a:lnSpc>
              <a:spcBef>
                <a:spcPts val="0"/>
              </a:spcBef>
              <a:spcAft>
                <a:spcPts val="500"/>
              </a:spcAft>
            </a:pPr>
            <a:r>
              <a:rPr sz="1200" b="0">
                <a:solidFill>
                  <a:srgbClr val="646B80"/>
                </a:solidFill>
                <a:latin typeface="Segoe UI"/>
                <a:hlinkClick r:id="rId4"/>
              </a:rPr>
              <a:t>advay.vivek2024@vitstudent.ac.in</a:t>
            </a:r>
          </a:p>
        </p:txBody>
      </p:sp>
      <p:sp>
        <p:nvSpPr>
          <p:cNvPr id="121" name="TextBox 120"/>
          <p:cNvSpPr txBox="1"/>
          <p:nvPr/>
        </p:nvSpPr>
        <p:spPr>
          <a:xfrm>
            <a:off x="6309360" y="5458968"/>
            <a:ext cx="5303520" cy="320040"/>
          </a:xfrm>
          <a:prstGeom prst="rect">
            <a:avLst/>
          </a:prstGeom>
          <a:noFill/>
        </p:spPr>
        <p:txBody>
          <a:bodyPr wrap="square" lIns="9144" rIns="9144" tIns="22860" bIns="22860" anchor="t">
            <a:spAutoFit/>
          </a:bodyPr>
          <a:lstStyle/>
          <a:p>
            <a:pPr>
              <a:lnSpc>
                <a:spcPct val="106000"/>
              </a:lnSpc>
              <a:spcBef>
                <a:spcPts val="0"/>
              </a:spcBef>
              <a:spcAft>
                <a:spcPts val="500"/>
              </a:spcAft>
            </a:pPr>
            <a:r>
              <a:rPr sz="1600" b="1">
                <a:solidFill>
                  <a:srgbClr val="20243A"/>
                </a:solidFill>
                <a:latin typeface="Segoe UI"/>
              </a:rPr>
              <a:t>Kaavish Gogia  /  24BCT0103</a:t>
            </a:r>
          </a:p>
        </p:txBody>
      </p:sp>
      <p:sp>
        <p:nvSpPr>
          <p:cNvPr id="122" name="TextBox 121"/>
          <p:cNvSpPr txBox="1"/>
          <p:nvPr/>
        </p:nvSpPr>
        <p:spPr>
          <a:xfrm>
            <a:off x="6309360" y="5815584"/>
            <a:ext cx="5303520" cy="265176"/>
          </a:xfrm>
          <a:prstGeom prst="rect">
            <a:avLst/>
          </a:prstGeom>
          <a:noFill/>
        </p:spPr>
        <p:txBody>
          <a:bodyPr wrap="square" lIns="9144" rIns="9144" tIns="22860" bIns="22860" anchor="t">
            <a:spAutoFit/>
          </a:bodyPr>
          <a:lstStyle/>
          <a:p>
            <a:pPr>
              <a:lnSpc>
                <a:spcPct val="106000"/>
              </a:lnSpc>
              <a:spcBef>
                <a:spcPts val="0"/>
              </a:spcBef>
              <a:spcAft>
                <a:spcPts val="500"/>
              </a:spcAft>
            </a:pPr>
            <a:r>
              <a:rPr sz="1200" b="0">
                <a:solidFill>
                  <a:srgbClr val="646B80"/>
                </a:solidFill>
                <a:latin typeface="Segoe UI"/>
                <a:hlinkClick r:id="rId5"/>
              </a:rPr>
              <a:t>kaavish.gogia2024@vitstudent.ac.in</a:t>
            </a:r>
          </a:p>
        </p:txBody>
      </p:sp>
    </p:spTree>
  </p:cSld>
  <p:clrMapOvr>
    <a:masterClrMapping/>
  </p:clrMapOvr>
  <p:transition spd="fast">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8F9FD"/>
        </a:solidFill>
        <a:effectLst/>
      </p:bgPr>
    </p:bg>
    <p:spTree>
      <p:nvGrpSpPr>
        <p:cNvPr id="100" name="Shape 100"/>
        <p:cNvGrpSpPr/>
        <p:nvPr/>
      </p:nvGrpSpPr>
      <p:grpSpPr>
        <a:xfrm>
          <a:off x="0" y="0"/>
          <a:ext cx="0" cy="0"/>
          <a:chOff x="0" y="0"/>
          <a:chExt cx="0" cy="0"/>
        </a:xfrm>
      </p:grpSpPr>
      <p:sp>
        <p:nvSpPr>
          <p:cNvPr id="101" name="Rectangle 100"/>
          <p:cNvSpPr/>
          <p:nvPr/>
        </p:nvSpPr>
        <p:spPr>
          <a:xfrm>
            <a:off x="502920" y="393192"/>
            <a:ext cx="100584" cy="210312"/>
          </a:xfrm>
          <a:prstGeom prst="rect">
            <a:avLst/>
          </a:prstGeom>
          <a:solidFill>
            <a:srgbClr val="6547D8"/>
          </a:solidFill>
          <a:ln w="10160">
            <a:solidFill>
              <a:srgbClr val="6547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713232" y="365760"/>
            <a:ext cx="1920240" cy="274320"/>
          </a:xfrm>
          <a:prstGeom prst="rect">
            <a:avLst/>
          </a:prstGeom>
          <a:noFill/>
        </p:spPr>
        <p:txBody>
          <a:bodyPr wrap="square" lIns="9144" rIns="9144" tIns="22860" bIns="22860" anchor="t">
            <a:spAutoFit/>
          </a:bodyPr>
          <a:lstStyle/>
          <a:p>
            <a:pPr>
              <a:lnSpc>
                <a:spcPct val="106000"/>
              </a:lnSpc>
              <a:spcBef>
                <a:spcPts val="0"/>
              </a:spcBef>
              <a:spcAft>
                <a:spcPts val="500"/>
              </a:spcAft>
            </a:pPr>
            <a:r>
              <a:rPr sz="1100" b="1">
                <a:solidFill>
                  <a:srgbClr val="6547D8"/>
                </a:solidFill>
                <a:latin typeface="Segoe UI"/>
              </a:rPr>
              <a:t>CODESTRATA</a:t>
            </a:r>
          </a:p>
        </p:txBody>
      </p:sp>
      <p:sp>
        <p:nvSpPr>
          <p:cNvPr id="103" name="TextBox 102"/>
          <p:cNvSpPr txBox="1"/>
          <p:nvPr/>
        </p:nvSpPr>
        <p:spPr>
          <a:xfrm>
            <a:off x="3657600" y="374904"/>
            <a:ext cx="8001000" cy="292608"/>
          </a:xfrm>
          <a:prstGeom prst="rect">
            <a:avLst/>
          </a:prstGeom>
          <a:noFill/>
        </p:spPr>
        <p:txBody>
          <a:bodyPr wrap="square" lIns="9144" rIns="9144" tIns="22860" bIns="22860" anchor="t">
            <a:spAutoFit/>
          </a:bodyPr>
          <a:lstStyle/>
          <a:p>
            <a:pPr algn="r">
              <a:lnSpc>
                <a:spcPct val="106000"/>
              </a:lnSpc>
              <a:spcBef>
                <a:spcPts val="0"/>
              </a:spcBef>
              <a:spcAft>
                <a:spcPts val="500"/>
              </a:spcAft>
            </a:pPr>
            <a:r>
              <a:rPr sz="1000" b="0">
                <a:solidFill>
                  <a:srgbClr val="646B80"/>
                </a:solidFill>
                <a:latin typeface="Segoe UI"/>
              </a:rPr>
              <a:t>THEME • PROBLEM STATEMENT</a:t>
            </a:r>
          </a:p>
        </p:txBody>
      </p:sp>
      <p:sp>
        <p:nvSpPr>
          <p:cNvPr id="104" name="TextBox 103"/>
          <p:cNvSpPr txBox="1"/>
          <p:nvPr/>
        </p:nvSpPr>
        <p:spPr>
          <a:xfrm>
            <a:off x="502920" y="896112"/>
            <a:ext cx="11109960" cy="868680"/>
          </a:xfrm>
          <a:prstGeom prst="rect">
            <a:avLst/>
          </a:prstGeom>
          <a:noFill/>
        </p:spPr>
        <p:txBody>
          <a:bodyPr wrap="square" lIns="9144" rIns="9144" tIns="22860" bIns="22860" anchor="t">
            <a:spAutoFit/>
          </a:bodyPr>
          <a:lstStyle/>
          <a:p>
            <a:pPr>
              <a:lnSpc>
                <a:spcPct val="106000"/>
              </a:lnSpc>
              <a:spcBef>
                <a:spcPts val="0"/>
              </a:spcBef>
              <a:spcAft>
                <a:spcPts val="500"/>
              </a:spcAft>
            </a:pPr>
            <a:r>
              <a:rPr sz="3400" b="1">
                <a:solidFill>
                  <a:srgbClr val="20243A"/>
                </a:solidFill>
                <a:latin typeface="Segoe UI"/>
              </a:rPr>
              <a:t>The right code can be in the wrong version.</a:t>
            </a:r>
          </a:p>
        </p:txBody>
      </p:sp>
      <p:sp>
        <p:nvSpPr>
          <p:cNvPr id="105" name="TextBox 104"/>
          <p:cNvSpPr txBox="1"/>
          <p:nvPr/>
        </p:nvSpPr>
        <p:spPr>
          <a:xfrm>
            <a:off x="530352" y="1746504"/>
            <a:ext cx="10972800" cy="411480"/>
          </a:xfrm>
          <a:prstGeom prst="rect">
            <a:avLst/>
          </a:prstGeom>
          <a:noFill/>
        </p:spPr>
        <p:txBody>
          <a:bodyPr wrap="square" lIns="9144" rIns="9144" tIns="22860" bIns="22860" anchor="t">
            <a:spAutoFit/>
          </a:bodyPr>
          <a:lstStyle/>
          <a:p>
            <a:pPr>
              <a:lnSpc>
                <a:spcPct val="106000"/>
              </a:lnSpc>
              <a:spcBef>
                <a:spcPts val="0"/>
              </a:spcBef>
              <a:spcAft>
                <a:spcPts val="500"/>
              </a:spcAft>
            </a:pPr>
            <a:r>
              <a:rPr sz="1500" b="0">
                <a:solidFill>
                  <a:srgbClr val="646B80"/>
                </a:solidFill>
                <a:latin typeface="Segoe UI"/>
              </a:rPr>
              <a:t>Names move, behavior shifts, and a near-identical result can hide the change that matters.</a:t>
            </a:r>
          </a:p>
        </p:txBody>
      </p:sp>
      <p:cxnSp>
        <p:nvCxnSpPr>
          <p:cNvPr id="106" name="Connector 105"/>
          <p:cNvCxnSpPr/>
          <p:nvPr/>
        </p:nvCxnSpPr>
        <p:spPr>
          <a:xfrm>
            <a:off x="502920" y="6428232"/>
            <a:ext cx="11183112" cy="0"/>
          </a:xfrm>
          <a:prstGeom prst="line">
            <a:avLst/>
          </a:prstGeom>
          <a:ln w="10160">
            <a:solidFill>
              <a:srgbClr val="DFE3EF"/>
            </a:solidFill>
          </a:ln>
          <a:effectLst/>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521207" y="6519672"/>
            <a:ext cx="8961120" cy="201168"/>
          </a:xfrm>
          <a:prstGeom prst="rect">
            <a:avLst/>
          </a:prstGeom>
          <a:noFill/>
        </p:spPr>
        <p:txBody>
          <a:bodyPr wrap="square" lIns="9144" rIns="9144" tIns="22860" bIns="22860" anchor="t">
            <a:spAutoFit/>
          </a:bodyPr>
          <a:lstStyle/>
          <a:p>
            <a:pPr>
              <a:lnSpc>
                <a:spcPct val="106000"/>
              </a:lnSpc>
              <a:spcBef>
                <a:spcPts val="0"/>
              </a:spcBef>
              <a:spcAft>
                <a:spcPts val="500"/>
              </a:spcAft>
            </a:pPr>
            <a:r>
              <a:rPr sz="900" b="0">
                <a:solidFill>
                  <a:srgbClr val="646B80"/>
                </a:solidFill>
                <a:latin typeface="Segoe UI"/>
              </a:rPr>
              <a:t>CODESTRATA  /  AGENTIC CODE INTELLIGENCE</a:t>
            </a:r>
          </a:p>
        </p:txBody>
      </p:sp>
      <p:sp>
        <p:nvSpPr>
          <p:cNvPr id="108" name="TextBox 107"/>
          <p:cNvSpPr txBox="1"/>
          <p:nvPr/>
        </p:nvSpPr>
        <p:spPr>
          <a:xfrm>
            <a:off x="10698480" y="6492240"/>
            <a:ext cx="987552" cy="228600"/>
          </a:xfrm>
          <a:prstGeom prst="rect">
            <a:avLst/>
          </a:prstGeom>
          <a:noFill/>
        </p:spPr>
        <p:txBody>
          <a:bodyPr wrap="square" lIns="9144" rIns="9144" tIns="22860" bIns="22860" anchor="t">
            <a:spAutoFit/>
          </a:bodyPr>
          <a:lstStyle/>
          <a:p>
            <a:r>
              <a:rPr sz="1000" b="1">
                <a:solidFill>
                  <a:srgbClr val="6547D8"/>
                </a:solidFill>
                <a:latin typeface="Segoe UI"/>
              </a:rPr>
              <a:t>02 / 18</a:t>
            </a:r>
          </a:p>
        </p:txBody>
      </p:sp>
      <p:sp>
        <p:nvSpPr>
          <p:cNvPr id="109" name="Rounded Rectangle 108"/>
          <p:cNvSpPr/>
          <p:nvPr/>
        </p:nvSpPr>
        <p:spPr>
          <a:xfrm>
            <a:off x="539496" y="2304288"/>
            <a:ext cx="5422392" cy="3611880"/>
          </a:xfrm>
          <a:prstGeom prst="roundRect">
            <a:avLst>
              <a:gd name="adj" fmla="val 12000"/>
            </a:avLst>
          </a:prstGeom>
          <a:solidFill>
            <a:srgbClr val="FFFFFF"/>
          </a:solidFill>
          <a:ln w="10160">
            <a:solidFill>
              <a:srgbClr val="DF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768096" y="2569464"/>
            <a:ext cx="4937760" cy="274320"/>
          </a:xfrm>
          <a:prstGeom prst="rect">
            <a:avLst/>
          </a:prstGeom>
          <a:noFill/>
        </p:spPr>
        <p:txBody>
          <a:bodyPr wrap="square" lIns="9144" rIns="9144" tIns="22860" bIns="22860" anchor="t">
            <a:spAutoFit/>
          </a:bodyPr>
          <a:lstStyle/>
          <a:p>
            <a:pPr>
              <a:lnSpc>
                <a:spcPct val="106000"/>
              </a:lnSpc>
              <a:spcBef>
                <a:spcPts val="0"/>
              </a:spcBef>
              <a:spcAft>
                <a:spcPts val="500"/>
              </a:spcAft>
            </a:pPr>
            <a:r>
              <a:rPr sz="1100" b="1">
                <a:solidFill>
                  <a:srgbClr val="6547D8"/>
                </a:solidFill>
                <a:latin typeface="Segoe UI"/>
              </a:rPr>
              <a:t>PROBLEM STATEMENT</a:t>
            </a:r>
          </a:p>
        </p:txBody>
      </p:sp>
      <p:sp>
        <p:nvSpPr>
          <p:cNvPr id="111" name="TextBox 110"/>
          <p:cNvSpPr txBox="1"/>
          <p:nvPr/>
        </p:nvSpPr>
        <p:spPr>
          <a:xfrm>
            <a:off x="768096" y="2990088"/>
            <a:ext cx="4809744" cy="969264"/>
          </a:xfrm>
          <a:prstGeom prst="rect">
            <a:avLst/>
          </a:prstGeom>
          <a:noFill/>
        </p:spPr>
        <p:txBody>
          <a:bodyPr wrap="square" lIns="9144" rIns="9144" tIns="22860" bIns="22860" anchor="t">
            <a:spAutoFit/>
          </a:bodyPr>
          <a:lstStyle/>
          <a:p>
            <a:pPr>
              <a:lnSpc>
                <a:spcPct val="106000"/>
              </a:lnSpc>
              <a:spcBef>
                <a:spcPts val="0"/>
              </a:spcBef>
              <a:spcAft>
                <a:spcPts val="500"/>
              </a:spcAft>
            </a:pPr>
            <a:r>
              <a:rPr sz="2400" b="1">
                <a:solidFill>
                  <a:srgbClr val="20243A"/>
                </a:solidFill>
                <a:latin typeface="Segoe UI"/>
              </a:rPr>
              <a:t>“Where did device pairing stop waiting for policyCheck?”</a:t>
            </a:r>
          </a:p>
        </p:txBody>
      </p:sp>
      <p:sp>
        <p:nvSpPr>
          <p:cNvPr id="112" name="TextBox 111"/>
          <p:cNvSpPr txBox="1"/>
          <p:nvPr/>
        </p:nvSpPr>
        <p:spPr>
          <a:xfrm>
            <a:off x="768096" y="4169663"/>
            <a:ext cx="4791456" cy="987552"/>
          </a:xfrm>
          <a:prstGeom prst="rect">
            <a:avLst/>
          </a:prstGeom>
          <a:noFill/>
        </p:spPr>
        <p:txBody>
          <a:bodyPr wrap="square" lIns="9144" rIns="9144" tIns="22860" bIns="22860" anchor="t">
            <a:spAutoFit/>
          </a:bodyPr>
          <a:lstStyle/>
          <a:p>
            <a:pPr>
              <a:lnSpc>
                <a:spcPct val="106000"/>
              </a:lnSpc>
              <a:spcBef>
                <a:spcPts val="0"/>
              </a:spcBef>
              <a:spcAft>
                <a:spcPts val="500"/>
              </a:spcAft>
            </a:pPr>
            <a:r>
              <a:rPr sz="1500" b="0">
                <a:solidFill>
                  <a:srgbClr val="646B80"/>
                </a:solidFill>
                <a:latin typeface="Segoe UI"/>
              </a:rPr>
              <a:t>Search may find a familiar name in the wrong version. One removed await can change the answer while the surrounding code stays similar.</a:t>
            </a:r>
          </a:p>
        </p:txBody>
      </p:sp>
      <p:sp>
        <p:nvSpPr>
          <p:cNvPr id="113" name="TextBox 112"/>
          <p:cNvSpPr txBox="1"/>
          <p:nvPr/>
        </p:nvSpPr>
        <p:spPr>
          <a:xfrm>
            <a:off x="768096" y="5285232"/>
            <a:ext cx="4773168" cy="521207"/>
          </a:xfrm>
          <a:prstGeom prst="rect">
            <a:avLst/>
          </a:prstGeom>
          <a:noFill/>
        </p:spPr>
        <p:txBody>
          <a:bodyPr wrap="square" lIns="9144" rIns="9144" tIns="22860" bIns="22860" anchor="t">
            <a:spAutoFit/>
          </a:bodyPr>
          <a:lstStyle/>
          <a:p>
            <a:pPr>
              <a:lnSpc>
                <a:spcPct val="106000"/>
              </a:lnSpc>
              <a:spcBef>
                <a:spcPts val="0"/>
              </a:spcBef>
              <a:spcAft>
                <a:spcPts val="500"/>
              </a:spcAft>
            </a:pPr>
            <a:r>
              <a:rPr sz="1500" b="1">
                <a:solidFill>
                  <a:srgbClr val="6547D8"/>
                </a:solidFill>
                <a:latin typeface="Segoe UI"/>
              </a:rPr>
              <a:t>A useful answer needs the version, the exact source, and a neighboring counterexample.</a:t>
            </a:r>
          </a:p>
        </p:txBody>
      </p:sp>
      <p:sp>
        <p:nvSpPr>
          <p:cNvPr id="114" name="Rounded Rectangle 113"/>
          <p:cNvSpPr/>
          <p:nvPr/>
        </p:nvSpPr>
        <p:spPr>
          <a:xfrm>
            <a:off x="6240780" y="2354579"/>
            <a:ext cx="5340096" cy="1600200"/>
          </a:xfrm>
          <a:prstGeom prst="roundRect">
            <a:avLst>
              <a:gd name="adj" fmla="val 12000"/>
            </a:avLst>
          </a:prstGeom>
          <a:solidFill>
            <a:srgbClr val="FFFFFF"/>
          </a:solidFill>
          <a:ln w="10160">
            <a:solidFill>
              <a:srgbClr val="DF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5" name="Picture 114" descr="overview.png"/>
          <p:cNvPicPr>
            <a:picLocks noChangeAspect="1"/>
          </p:cNvPicPr>
          <p:nvPr/>
        </p:nvPicPr>
        <p:blipFill>
          <a:blip r:embed="rId3"/>
          <a:stretch>
            <a:fillRect/>
          </a:stretch>
        </p:blipFill>
        <p:spPr>
          <a:xfrm>
            <a:off x="6272783" y="2406103"/>
            <a:ext cx="5276088" cy="1497153"/>
          </a:xfrm>
          <a:prstGeom prst="rect">
            <a:avLst/>
          </a:prstGeom>
        </p:spPr>
      </p:pic>
      <p:sp>
        <p:nvSpPr>
          <p:cNvPr id="116" name="TextBox 115"/>
          <p:cNvSpPr txBox="1"/>
          <p:nvPr/>
        </p:nvSpPr>
        <p:spPr>
          <a:xfrm>
            <a:off x="6400800" y="4096512"/>
            <a:ext cx="4846320" cy="265176"/>
          </a:xfrm>
          <a:prstGeom prst="rect">
            <a:avLst/>
          </a:prstGeom>
          <a:noFill/>
        </p:spPr>
        <p:txBody>
          <a:bodyPr wrap="square" lIns="9144" rIns="9144" tIns="22860" bIns="22860" anchor="t">
            <a:spAutoFit/>
          </a:bodyPr>
          <a:lstStyle/>
          <a:p>
            <a:pPr>
              <a:lnSpc>
                <a:spcPct val="106000"/>
              </a:lnSpc>
              <a:spcBef>
                <a:spcPts val="0"/>
              </a:spcBef>
              <a:spcAft>
                <a:spcPts val="500"/>
              </a:spcAft>
            </a:pPr>
            <a:r>
              <a:rPr sz="1100" b="1">
                <a:solidFill>
                  <a:srgbClr val="6547D8"/>
                </a:solidFill>
                <a:latin typeface="Segoe UI"/>
              </a:rPr>
              <a:t>THE ACTUAL WORKSPACE</a:t>
            </a:r>
          </a:p>
        </p:txBody>
      </p:sp>
      <p:sp>
        <p:nvSpPr>
          <p:cNvPr id="117" name="TextBox 116"/>
          <p:cNvSpPr txBox="1"/>
          <p:nvPr/>
        </p:nvSpPr>
        <p:spPr>
          <a:xfrm>
            <a:off x="6400800" y="4489704"/>
            <a:ext cx="4882896" cy="1042415"/>
          </a:xfrm>
          <a:prstGeom prst="rect">
            <a:avLst/>
          </a:prstGeom>
          <a:noFill/>
        </p:spPr>
        <p:txBody>
          <a:bodyPr wrap="square" lIns="9144" rIns="9144" tIns="22860" bIns="22860" anchor="t">
            <a:spAutoFit/>
          </a:bodyPr>
          <a:lstStyle/>
          <a:p>
            <a:pPr>
              <a:lnSpc>
                <a:spcPct val="106000"/>
              </a:lnSpc>
              <a:spcBef>
                <a:spcPts val="0"/>
              </a:spcBef>
              <a:spcAft>
                <a:spcPts val="500"/>
              </a:spcAft>
            </a:pPr>
            <a:r>
              <a:rPr sz="1700" b="1">
                <a:solidFill>
                  <a:srgbClr val="20243A"/>
                </a:solidFill>
                <a:latin typeface="Segoe UI"/>
              </a:rPr>
              <a:t>Ask a behavior question. Inspect evidence across versions. Save the result as a rule.</a:t>
            </a:r>
          </a:p>
        </p:txBody>
      </p:sp>
      <p:sp>
        <p:nvSpPr>
          <p:cNvPr id="118" name="Rounded Rectangle 117"/>
          <p:cNvSpPr/>
          <p:nvPr/>
        </p:nvSpPr>
        <p:spPr>
          <a:xfrm>
            <a:off x="6263640" y="5641848"/>
            <a:ext cx="5266944" cy="384048"/>
          </a:xfrm>
          <a:prstGeom prst="roundRect">
            <a:avLst>
              <a:gd name="adj" fmla="val 12000"/>
            </a:avLst>
          </a:prstGeom>
          <a:solidFill>
            <a:srgbClr val="EFEAFF"/>
          </a:solidFill>
          <a:ln w="10160">
            <a:solidFill>
              <a:srgbClr val="EFE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6446520" y="5715000"/>
            <a:ext cx="4919472" cy="256032"/>
          </a:xfrm>
          <a:prstGeom prst="rect">
            <a:avLst/>
          </a:prstGeom>
          <a:noFill/>
        </p:spPr>
        <p:txBody>
          <a:bodyPr wrap="square" lIns="9144" rIns="9144" tIns="22860" bIns="22860" anchor="t">
            <a:spAutoFit/>
          </a:bodyPr>
          <a:lstStyle/>
          <a:p>
            <a:pPr>
              <a:lnSpc>
                <a:spcPct val="106000"/>
              </a:lnSpc>
              <a:spcBef>
                <a:spcPts val="0"/>
              </a:spcBef>
              <a:spcAft>
                <a:spcPts val="500"/>
              </a:spcAft>
            </a:pPr>
            <a:r>
              <a:rPr sz="1200" b="1">
                <a:solidFill>
                  <a:srgbClr val="6547D8"/>
                </a:solidFill>
                <a:latin typeface="Segoe UI"/>
              </a:rPr>
              <a:t>RETRIEVE  →  EXPLAIN  →  WATCH</a:t>
            </a:r>
          </a:p>
        </p:txBody>
      </p:sp>
    </p:spTree>
  </p:cSld>
  <p:clrMapOvr>
    <a:masterClrMapping/>
  </p:clrMapOvr>
  <p:transition spd="fast">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8F9FD"/>
        </a:solidFill>
        <a:effectLst/>
      </p:bgPr>
    </p:bg>
    <p:spTree>
      <p:nvGrpSpPr>
        <p:cNvPr id="106" name="Shape 106"/>
        <p:cNvGrpSpPr/>
        <p:nvPr/>
      </p:nvGrpSpPr>
      <p:grpSpPr>
        <a:xfrm>
          <a:off x="0" y="0"/>
          <a:ext cx="0" cy="0"/>
          <a:chOff x="0" y="0"/>
          <a:chExt cx="0" cy="0"/>
        </a:xfrm>
      </p:grpSpPr>
      <p:sp>
        <p:nvSpPr>
          <p:cNvPr id="107" name="Rectangle 106"/>
          <p:cNvSpPr/>
          <p:nvPr/>
        </p:nvSpPr>
        <p:spPr>
          <a:xfrm>
            <a:off x="502920" y="393192"/>
            <a:ext cx="100584" cy="210312"/>
          </a:xfrm>
          <a:prstGeom prst="rect">
            <a:avLst/>
          </a:prstGeom>
          <a:solidFill>
            <a:srgbClr val="6547D8"/>
          </a:solidFill>
          <a:ln w="10160">
            <a:solidFill>
              <a:srgbClr val="6547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713232" y="365760"/>
            <a:ext cx="1920240" cy="274320"/>
          </a:xfrm>
          <a:prstGeom prst="rect">
            <a:avLst/>
          </a:prstGeom>
          <a:noFill/>
        </p:spPr>
        <p:txBody>
          <a:bodyPr wrap="square" lIns="9144" rIns="9144" tIns="22860" bIns="22860" anchor="t">
            <a:spAutoFit/>
          </a:bodyPr>
          <a:lstStyle/>
          <a:p>
            <a:pPr>
              <a:lnSpc>
                <a:spcPct val="106000"/>
              </a:lnSpc>
              <a:spcBef>
                <a:spcPts val="0"/>
              </a:spcBef>
              <a:spcAft>
                <a:spcPts val="500"/>
              </a:spcAft>
            </a:pPr>
            <a:r>
              <a:rPr sz="1100" b="1">
                <a:solidFill>
                  <a:srgbClr val="6547D8"/>
                </a:solidFill>
                <a:latin typeface="Segoe UI"/>
              </a:rPr>
              <a:t>CODESTRATA</a:t>
            </a:r>
          </a:p>
        </p:txBody>
      </p:sp>
      <p:sp>
        <p:nvSpPr>
          <p:cNvPr id="109" name="TextBox 108"/>
          <p:cNvSpPr txBox="1"/>
          <p:nvPr/>
        </p:nvSpPr>
        <p:spPr>
          <a:xfrm>
            <a:off x="3657600" y="374904"/>
            <a:ext cx="8001000" cy="292608"/>
          </a:xfrm>
          <a:prstGeom prst="rect">
            <a:avLst/>
          </a:prstGeom>
          <a:noFill/>
        </p:spPr>
        <p:txBody>
          <a:bodyPr wrap="square" lIns="9144" rIns="9144" tIns="22860" bIns="22860" anchor="t">
            <a:spAutoFit/>
          </a:bodyPr>
          <a:lstStyle/>
          <a:p>
            <a:pPr algn="r">
              <a:lnSpc>
                <a:spcPct val="106000"/>
              </a:lnSpc>
              <a:spcBef>
                <a:spcPts val="0"/>
              </a:spcBef>
              <a:spcAft>
                <a:spcPts val="500"/>
              </a:spcAft>
            </a:pPr>
            <a:r>
              <a:rPr sz="1000" b="0">
                <a:solidFill>
                  <a:srgbClr val="646B80"/>
                </a:solidFill>
                <a:latin typeface="Segoe UI"/>
              </a:rPr>
              <a:t>EXISTING SOLUTIONS &amp; GAPS</a:t>
            </a:r>
          </a:p>
        </p:txBody>
      </p:sp>
      <p:sp>
        <p:nvSpPr>
          <p:cNvPr id="110" name="TextBox 109"/>
          <p:cNvSpPr txBox="1"/>
          <p:nvPr/>
        </p:nvSpPr>
        <p:spPr>
          <a:xfrm>
            <a:off x="502920" y="896112"/>
            <a:ext cx="11109960" cy="868680"/>
          </a:xfrm>
          <a:prstGeom prst="rect">
            <a:avLst/>
          </a:prstGeom>
          <a:noFill/>
        </p:spPr>
        <p:txBody>
          <a:bodyPr wrap="square" lIns="9144" rIns="9144" tIns="22860" bIns="22860" anchor="t">
            <a:spAutoFit/>
          </a:bodyPr>
          <a:lstStyle/>
          <a:p>
            <a:pPr>
              <a:lnSpc>
                <a:spcPct val="106000"/>
              </a:lnSpc>
              <a:spcBef>
                <a:spcPts val="0"/>
              </a:spcBef>
              <a:spcAft>
                <a:spcPts val="500"/>
              </a:spcAft>
            </a:pPr>
            <a:r>
              <a:rPr sz="3400" b="1">
                <a:solidFill>
                  <a:srgbClr val="20243A"/>
                </a:solidFill>
                <a:latin typeface="Segoe UI"/>
              </a:rPr>
              <a:t>One token can change the answer.</a:t>
            </a:r>
          </a:p>
        </p:txBody>
      </p:sp>
      <p:sp>
        <p:nvSpPr>
          <p:cNvPr id="111" name="TextBox 110"/>
          <p:cNvSpPr txBox="1"/>
          <p:nvPr/>
        </p:nvSpPr>
        <p:spPr>
          <a:xfrm>
            <a:off x="530352" y="1746504"/>
            <a:ext cx="10972800" cy="411480"/>
          </a:xfrm>
          <a:prstGeom prst="rect">
            <a:avLst/>
          </a:prstGeom>
          <a:noFill/>
        </p:spPr>
        <p:txBody>
          <a:bodyPr wrap="square" lIns="9144" rIns="9144" tIns="22860" bIns="22860" anchor="t">
            <a:spAutoFit/>
          </a:bodyPr>
          <a:lstStyle/>
          <a:p>
            <a:pPr>
              <a:lnSpc>
                <a:spcPct val="106000"/>
              </a:lnSpc>
              <a:spcBef>
                <a:spcPts val="0"/>
              </a:spcBef>
              <a:spcAft>
                <a:spcPts val="500"/>
              </a:spcAft>
            </a:pPr>
            <a:r>
              <a:rPr sz="1500" b="0">
                <a:solidFill>
                  <a:srgbClr val="646B80"/>
                </a:solidFill>
                <a:latin typeface="Segoe UI"/>
              </a:rPr>
              <a:t>The gap we target: connecting a behavior question to the correct implementation in history.</a:t>
            </a:r>
          </a:p>
        </p:txBody>
      </p:sp>
      <p:cxnSp>
        <p:nvCxnSpPr>
          <p:cNvPr id="112" name="Connector 111"/>
          <p:cNvCxnSpPr/>
          <p:nvPr/>
        </p:nvCxnSpPr>
        <p:spPr>
          <a:xfrm>
            <a:off x="502920" y="6428232"/>
            <a:ext cx="11183112" cy="0"/>
          </a:xfrm>
          <a:prstGeom prst="line">
            <a:avLst/>
          </a:prstGeom>
          <a:ln w="10160">
            <a:solidFill>
              <a:srgbClr val="DFE3EF"/>
            </a:solidFill>
          </a:ln>
          <a:effectLst/>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521207" y="6519672"/>
            <a:ext cx="8961120" cy="201168"/>
          </a:xfrm>
          <a:prstGeom prst="rect">
            <a:avLst/>
          </a:prstGeom>
          <a:noFill/>
        </p:spPr>
        <p:txBody>
          <a:bodyPr wrap="square" lIns="9144" rIns="9144" tIns="22860" bIns="22860" anchor="t">
            <a:spAutoFit/>
          </a:bodyPr>
          <a:lstStyle/>
          <a:p>
            <a:pPr>
              <a:lnSpc>
                <a:spcPct val="106000"/>
              </a:lnSpc>
              <a:spcBef>
                <a:spcPts val="0"/>
              </a:spcBef>
              <a:spcAft>
                <a:spcPts val="500"/>
              </a:spcAft>
            </a:pPr>
            <a:r>
              <a:rPr sz="900" b="0">
                <a:solidFill>
                  <a:srgbClr val="646B80"/>
                </a:solidFill>
                <a:latin typeface="Segoe UI"/>
              </a:rPr>
              <a:t>CODESTRATA  /  AGENTIC CODE INTELLIGENCE</a:t>
            </a:r>
          </a:p>
        </p:txBody>
      </p:sp>
      <p:sp>
        <p:nvSpPr>
          <p:cNvPr id="114" name="TextBox 113"/>
          <p:cNvSpPr txBox="1"/>
          <p:nvPr/>
        </p:nvSpPr>
        <p:spPr>
          <a:xfrm>
            <a:off x="10698480" y="6492240"/>
            <a:ext cx="987552" cy="228600"/>
          </a:xfrm>
          <a:prstGeom prst="rect">
            <a:avLst/>
          </a:prstGeom>
          <a:noFill/>
        </p:spPr>
        <p:txBody>
          <a:bodyPr wrap="square" lIns="9144" rIns="9144" tIns="22860" bIns="22860" anchor="t">
            <a:spAutoFit/>
          </a:bodyPr>
          <a:lstStyle/>
          <a:p>
            <a:r>
              <a:rPr sz="1000" b="1">
                <a:solidFill>
                  <a:srgbClr val="6547D8"/>
                </a:solidFill>
                <a:latin typeface="Segoe UI"/>
              </a:rPr>
              <a:t>03 / 18</a:t>
            </a:r>
          </a:p>
        </p:txBody>
      </p:sp>
      <p:sp>
        <p:nvSpPr>
          <p:cNvPr id="115" name="TextBox 114"/>
          <p:cNvSpPr txBox="1"/>
          <p:nvPr/>
        </p:nvSpPr>
        <p:spPr>
          <a:xfrm>
            <a:off x="566928" y="2414016"/>
            <a:ext cx="502920" cy="457200"/>
          </a:xfrm>
          <a:prstGeom prst="rect">
            <a:avLst/>
          </a:prstGeom>
          <a:noFill/>
        </p:spPr>
        <p:txBody>
          <a:bodyPr wrap="square" lIns="9144" rIns="9144" tIns="22860" bIns="22860" anchor="t">
            <a:spAutoFit/>
          </a:bodyPr>
          <a:lstStyle/>
          <a:p>
            <a:pPr>
              <a:lnSpc>
                <a:spcPct val="106000"/>
              </a:lnSpc>
              <a:spcBef>
                <a:spcPts val="0"/>
              </a:spcBef>
              <a:spcAft>
                <a:spcPts val="500"/>
              </a:spcAft>
            </a:pPr>
            <a:r>
              <a:rPr sz="2300" b="1">
                <a:solidFill>
                  <a:srgbClr val="6547D8"/>
                </a:solidFill>
                <a:latin typeface="Segoe UI"/>
              </a:rPr>
              <a:t>01</a:t>
            </a:r>
          </a:p>
        </p:txBody>
      </p:sp>
      <p:sp>
        <p:nvSpPr>
          <p:cNvPr id="116" name="TextBox 115"/>
          <p:cNvSpPr txBox="1"/>
          <p:nvPr/>
        </p:nvSpPr>
        <p:spPr>
          <a:xfrm>
            <a:off x="1280160" y="2414016"/>
            <a:ext cx="4800600" cy="411480"/>
          </a:xfrm>
          <a:prstGeom prst="rect">
            <a:avLst/>
          </a:prstGeom>
          <a:noFill/>
        </p:spPr>
        <p:txBody>
          <a:bodyPr wrap="square" lIns="9144" rIns="9144" tIns="22860" bIns="22860" anchor="t">
            <a:spAutoFit/>
          </a:bodyPr>
          <a:lstStyle/>
          <a:p>
            <a:pPr>
              <a:lnSpc>
                <a:spcPct val="106000"/>
              </a:lnSpc>
              <a:spcBef>
                <a:spcPts val="0"/>
              </a:spcBef>
              <a:spcAft>
                <a:spcPts val="500"/>
              </a:spcAft>
            </a:pPr>
            <a:r>
              <a:rPr sz="2100" b="1">
                <a:solidFill>
                  <a:srgbClr val="20243A"/>
                </a:solidFill>
                <a:latin typeface="Segoe UI"/>
              </a:rPr>
              <a:t>Names can change</a:t>
            </a:r>
          </a:p>
        </p:txBody>
      </p:sp>
      <p:sp>
        <p:nvSpPr>
          <p:cNvPr id="117" name="TextBox 116"/>
          <p:cNvSpPr txBox="1"/>
          <p:nvPr/>
        </p:nvSpPr>
        <p:spPr>
          <a:xfrm>
            <a:off x="1280160" y="2852928"/>
            <a:ext cx="4800600" cy="576072"/>
          </a:xfrm>
          <a:prstGeom prst="rect">
            <a:avLst/>
          </a:prstGeom>
          <a:noFill/>
        </p:spPr>
        <p:txBody>
          <a:bodyPr wrap="square" lIns="9144" rIns="9144" tIns="22860" bIns="22860" anchor="t">
            <a:spAutoFit/>
          </a:bodyPr>
          <a:lstStyle/>
          <a:p>
            <a:pPr>
              <a:lnSpc>
                <a:spcPct val="106000"/>
              </a:lnSpc>
              <a:spcBef>
                <a:spcPts val="0"/>
              </a:spcBef>
              <a:spcAft>
                <a:spcPts val="500"/>
              </a:spcAft>
            </a:pPr>
            <a:r>
              <a:rPr sz="1500" b="0">
                <a:solidFill>
                  <a:srgbClr val="646B80"/>
                </a:solidFill>
                <a:latin typeface="Segoe UI"/>
              </a:rPr>
              <a:t>A moved or renamed function is harder to follow by symbol alone.</a:t>
            </a:r>
          </a:p>
        </p:txBody>
      </p:sp>
      <p:sp>
        <p:nvSpPr>
          <p:cNvPr id="118" name="TextBox 117"/>
          <p:cNvSpPr txBox="1"/>
          <p:nvPr/>
        </p:nvSpPr>
        <p:spPr>
          <a:xfrm>
            <a:off x="566928" y="3547872"/>
            <a:ext cx="502920" cy="457200"/>
          </a:xfrm>
          <a:prstGeom prst="rect">
            <a:avLst/>
          </a:prstGeom>
          <a:noFill/>
        </p:spPr>
        <p:txBody>
          <a:bodyPr wrap="square" lIns="9144" rIns="9144" tIns="22860" bIns="22860" anchor="t">
            <a:spAutoFit/>
          </a:bodyPr>
          <a:lstStyle/>
          <a:p>
            <a:pPr>
              <a:lnSpc>
                <a:spcPct val="106000"/>
              </a:lnSpc>
              <a:spcBef>
                <a:spcPts val="0"/>
              </a:spcBef>
              <a:spcAft>
                <a:spcPts val="500"/>
              </a:spcAft>
            </a:pPr>
            <a:r>
              <a:rPr sz="2300" b="1">
                <a:solidFill>
                  <a:srgbClr val="6547D8"/>
                </a:solidFill>
                <a:latin typeface="Segoe UI"/>
              </a:rPr>
              <a:t>02</a:t>
            </a:r>
          </a:p>
        </p:txBody>
      </p:sp>
      <p:sp>
        <p:nvSpPr>
          <p:cNvPr id="119" name="TextBox 118"/>
          <p:cNvSpPr txBox="1"/>
          <p:nvPr/>
        </p:nvSpPr>
        <p:spPr>
          <a:xfrm>
            <a:off x="1280160" y="3547872"/>
            <a:ext cx="4800600" cy="411480"/>
          </a:xfrm>
          <a:prstGeom prst="rect">
            <a:avLst/>
          </a:prstGeom>
          <a:noFill/>
        </p:spPr>
        <p:txBody>
          <a:bodyPr wrap="square" lIns="9144" rIns="9144" tIns="22860" bIns="22860" anchor="t">
            <a:spAutoFit/>
          </a:bodyPr>
          <a:lstStyle/>
          <a:p>
            <a:pPr>
              <a:lnSpc>
                <a:spcPct val="106000"/>
              </a:lnSpc>
              <a:spcBef>
                <a:spcPts val="0"/>
              </a:spcBef>
              <a:spcAft>
                <a:spcPts val="500"/>
              </a:spcAft>
            </a:pPr>
            <a:r>
              <a:rPr sz="2100" b="1">
                <a:solidFill>
                  <a:srgbClr val="20243A"/>
                </a:solidFill>
                <a:latin typeface="Segoe UI"/>
              </a:rPr>
              <a:t>Similar code can disagree</a:t>
            </a:r>
          </a:p>
        </p:txBody>
      </p:sp>
      <p:sp>
        <p:nvSpPr>
          <p:cNvPr id="120" name="TextBox 119"/>
          <p:cNvSpPr txBox="1"/>
          <p:nvPr/>
        </p:nvSpPr>
        <p:spPr>
          <a:xfrm>
            <a:off x="1280160" y="3986783"/>
            <a:ext cx="4800600" cy="576072"/>
          </a:xfrm>
          <a:prstGeom prst="rect">
            <a:avLst/>
          </a:prstGeom>
          <a:noFill/>
        </p:spPr>
        <p:txBody>
          <a:bodyPr wrap="square" lIns="9144" rIns="9144" tIns="22860" bIns="22860" anchor="t">
            <a:spAutoFit/>
          </a:bodyPr>
          <a:lstStyle/>
          <a:p>
            <a:pPr>
              <a:lnSpc>
                <a:spcPct val="106000"/>
              </a:lnSpc>
              <a:spcBef>
                <a:spcPts val="0"/>
              </a:spcBef>
              <a:spcAft>
                <a:spcPts val="500"/>
              </a:spcAft>
            </a:pPr>
            <a:r>
              <a:rPr sz="1500" b="0">
                <a:solidFill>
                  <a:srgbClr val="646B80"/>
                </a:solidFill>
                <a:latin typeface="Segoe UI"/>
              </a:rPr>
              <a:t>Two near-identical versions may differ in their direct await or call order.</a:t>
            </a:r>
          </a:p>
        </p:txBody>
      </p:sp>
      <p:sp>
        <p:nvSpPr>
          <p:cNvPr id="121" name="TextBox 120"/>
          <p:cNvSpPr txBox="1"/>
          <p:nvPr/>
        </p:nvSpPr>
        <p:spPr>
          <a:xfrm>
            <a:off x="566928" y="4681728"/>
            <a:ext cx="502920" cy="457200"/>
          </a:xfrm>
          <a:prstGeom prst="rect">
            <a:avLst/>
          </a:prstGeom>
          <a:noFill/>
        </p:spPr>
        <p:txBody>
          <a:bodyPr wrap="square" lIns="9144" rIns="9144" tIns="22860" bIns="22860" anchor="t">
            <a:spAutoFit/>
          </a:bodyPr>
          <a:lstStyle/>
          <a:p>
            <a:pPr>
              <a:lnSpc>
                <a:spcPct val="106000"/>
              </a:lnSpc>
              <a:spcBef>
                <a:spcPts val="0"/>
              </a:spcBef>
              <a:spcAft>
                <a:spcPts val="500"/>
              </a:spcAft>
            </a:pPr>
            <a:r>
              <a:rPr sz="2300" b="1">
                <a:solidFill>
                  <a:srgbClr val="6547D8"/>
                </a:solidFill>
                <a:latin typeface="Segoe UI"/>
              </a:rPr>
              <a:t>03</a:t>
            </a:r>
          </a:p>
        </p:txBody>
      </p:sp>
      <p:sp>
        <p:nvSpPr>
          <p:cNvPr id="122" name="TextBox 121"/>
          <p:cNvSpPr txBox="1"/>
          <p:nvPr/>
        </p:nvSpPr>
        <p:spPr>
          <a:xfrm>
            <a:off x="1280160" y="4681728"/>
            <a:ext cx="4800600" cy="411480"/>
          </a:xfrm>
          <a:prstGeom prst="rect">
            <a:avLst/>
          </a:prstGeom>
          <a:noFill/>
        </p:spPr>
        <p:txBody>
          <a:bodyPr wrap="square" lIns="9144" rIns="9144" tIns="22860" bIns="22860" anchor="t">
            <a:spAutoFit/>
          </a:bodyPr>
          <a:lstStyle/>
          <a:p>
            <a:pPr>
              <a:lnSpc>
                <a:spcPct val="106000"/>
              </a:lnSpc>
              <a:spcBef>
                <a:spcPts val="0"/>
              </a:spcBef>
              <a:spcAft>
                <a:spcPts val="500"/>
              </a:spcAft>
            </a:pPr>
            <a:r>
              <a:rPr sz="2100" b="1">
                <a:solidFill>
                  <a:srgbClr val="20243A"/>
                </a:solidFill>
                <a:latin typeface="Segoe UI"/>
              </a:rPr>
              <a:t>A diff still needs context</a:t>
            </a:r>
          </a:p>
        </p:txBody>
      </p:sp>
      <p:sp>
        <p:nvSpPr>
          <p:cNvPr id="123" name="TextBox 122"/>
          <p:cNvSpPr txBox="1"/>
          <p:nvPr/>
        </p:nvSpPr>
        <p:spPr>
          <a:xfrm>
            <a:off x="1280160" y="5120640"/>
            <a:ext cx="4800600" cy="576072"/>
          </a:xfrm>
          <a:prstGeom prst="rect">
            <a:avLst/>
          </a:prstGeom>
          <a:noFill/>
        </p:spPr>
        <p:txBody>
          <a:bodyPr wrap="square" lIns="9144" rIns="9144" tIns="22860" bIns="22860" anchor="t">
            <a:spAutoFit/>
          </a:bodyPr>
          <a:lstStyle/>
          <a:p>
            <a:pPr>
              <a:lnSpc>
                <a:spcPct val="106000"/>
              </a:lnSpc>
              <a:spcBef>
                <a:spcPts val="0"/>
              </a:spcBef>
              <a:spcAft>
                <a:spcPts val="500"/>
              </a:spcAft>
            </a:pPr>
            <a:r>
              <a:rPr sz="1500" b="0">
                <a:solidFill>
                  <a:srgbClr val="646B80"/>
                </a:solidFill>
                <a:latin typeface="Segoe UI"/>
              </a:rPr>
              <a:t>Reviewers need the source, version, and evidence behind an answer.</a:t>
            </a:r>
          </a:p>
        </p:txBody>
      </p:sp>
      <p:sp>
        <p:nvSpPr>
          <p:cNvPr id="124" name="Rounded Rectangle 123"/>
          <p:cNvSpPr/>
          <p:nvPr/>
        </p:nvSpPr>
        <p:spPr>
          <a:xfrm>
            <a:off x="6510528" y="2423160"/>
            <a:ext cx="5129784" cy="3584448"/>
          </a:xfrm>
          <a:prstGeom prst="roundRect">
            <a:avLst>
              <a:gd name="adj" fmla="val 12000"/>
            </a:avLst>
          </a:prstGeom>
          <a:solidFill>
            <a:srgbClr val="FFFFFF"/>
          </a:solidFill>
          <a:ln w="10160">
            <a:solidFill>
              <a:srgbClr val="DF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ounded Rectangle 124"/>
          <p:cNvSpPr/>
          <p:nvPr/>
        </p:nvSpPr>
        <p:spPr>
          <a:xfrm>
            <a:off x="6766560" y="2697480"/>
            <a:ext cx="4453128" cy="310896"/>
          </a:xfrm>
          <a:prstGeom prst="roundRect">
            <a:avLst>
              <a:gd name="adj" fmla="val 12000"/>
            </a:avLst>
          </a:prstGeom>
          <a:solidFill>
            <a:srgbClr val="EFEAFF"/>
          </a:solidFill>
          <a:ln w="10160">
            <a:solidFill>
              <a:srgbClr val="EFE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6858000" y="2729484"/>
            <a:ext cx="4270248" cy="237744"/>
          </a:xfrm>
          <a:prstGeom prst="rect">
            <a:avLst/>
          </a:prstGeom>
          <a:noFill/>
        </p:spPr>
        <p:txBody>
          <a:bodyPr wrap="square" lIns="9144" rIns="9144" tIns="22860" bIns="22860" anchor="t">
            <a:spAutoFit/>
          </a:bodyPr>
          <a:lstStyle/>
          <a:p>
            <a:pPr>
              <a:lnSpc>
                <a:spcPct val="106000"/>
              </a:lnSpc>
              <a:spcBef>
                <a:spcPts val="0"/>
              </a:spcBef>
              <a:spcAft>
                <a:spcPts val="500"/>
              </a:spcAft>
            </a:pPr>
            <a:r>
              <a:rPr sz="1000" b="1">
                <a:solidFill>
                  <a:srgbClr val="6547D8"/>
                </a:solidFill>
                <a:latin typeface="Segoe UI"/>
              </a:rPr>
              <a:t>SAME CALL • DIFFERENT VERSION</a:t>
            </a:r>
          </a:p>
        </p:txBody>
      </p:sp>
      <p:sp>
        <p:nvSpPr>
          <p:cNvPr id="127" name="TextBox 126"/>
          <p:cNvSpPr txBox="1"/>
          <p:nvPr/>
        </p:nvSpPr>
        <p:spPr>
          <a:xfrm>
            <a:off x="6775704" y="3264408"/>
            <a:ext cx="4526280" cy="292608"/>
          </a:xfrm>
          <a:prstGeom prst="rect">
            <a:avLst/>
          </a:prstGeom>
          <a:noFill/>
        </p:spPr>
        <p:txBody>
          <a:bodyPr wrap="square" lIns="9144" rIns="9144" tIns="22860" bIns="22860" anchor="t">
            <a:spAutoFit/>
          </a:bodyPr>
          <a:lstStyle/>
          <a:p>
            <a:pPr>
              <a:lnSpc>
                <a:spcPct val="106000"/>
              </a:lnSpc>
              <a:spcBef>
                <a:spcPts val="0"/>
              </a:spcBef>
              <a:spcAft>
                <a:spcPts val="500"/>
              </a:spcAft>
            </a:pPr>
            <a:r>
              <a:rPr sz="1400" b="1">
                <a:solidFill>
                  <a:srgbClr val="646B80"/>
                </a:solidFill>
                <a:latin typeface="Segoe UI"/>
              </a:rPr>
              <a:t>v1  /  devices/connect.js</a:t>
            </a:r>
          </a:p>
        </p:txBody>
      </p:sp>
      <p:sp>
        <p:nvSpPr>
          <p:cNvPr id="128" name="TextBox 127"/>
          <p:cNvSpPr txBox="1"/>
          <p:nvPr/>
        </p:nvSpPr>
        <p:spPr>
          <a:xfrm>
            <a:off x="6775704" y="3675887"/>
            <a:ext cx="4526280" cy="402336"/>
          </a:xfrm>
          <a:prstGeom prst="rect">
            <a:avLst/>
          </a:prstGeom>
          <a:noFill/>
        </p:spPr>
        <p:txBody>
          <a:bodyPr wrap="square" lIns="9144" rIns="9144" tIns="22860" bIns="22860" anchor="t">
            <a:spAutoFit/>
          </a:bodyPr>
          <a:lstStyle/>
          <a:p>
            <a:pPr>
              <a:lnSpc>
                <a:spcPct val="106000"/>
              </a:lnSpc>
              <a:spcBef>
                <a:spcPts val="0"/>
              </a:spcBef>
              <a:spcAft>
                <a:spcPts val="500"/>
              </a:spcAft>
            </a:pPr>
            <a:r>
              <a:rPr sz="1900" b="1">
                <a:solidFill>
                  <a:srgbClr val="087A60"/>
                </a:solidFill>
                <a:latin typeface="Consolas"/>
              </a:rPr>
              <a:t>await policyCheck(device);</a:t>
            </a:r>
          </a:p>
        </p:txBody>
      </p:sp>
      <p:cxnSp>
        <p:nvCxnSpPr>
          <p:cNvPr id="129" name="Connector 128"/>
          <p:cNvCxnSpPr/>
          <p:nvPr/>
        </p:nvCxnSpPr>
        <p:spPr>
          <a:xfrm>
            <a:off x="6775704" y="4251960"/>
            <a:ext cx="4517136" cy="0"/>
          </a:xfrm>
          <a:prstGeom prst="line">
            <a:avLst/>
          </a:prstGeom>
          <a:ln w="21590">
            <a:solidFill>
              <a:srgbClr val="DFE3EF"/>
            </a:solidFill>
          </a:ln>
          <a:effectLst/>
        </p:spPr>
        <p:style>
          <a:lnRef idx="2">
            <a:schemeClr val="accent1"/>
          </a:lnRef>
          <a:fillRef idx="0">
            <a:schemeClr val="accent1"/>
          </a:fillRef>
          <a:effectRef idx="1">
            <a:schemeClr val="accent1"/>
          </a:effectRef>
          <a:fontRef idx="minor">
            <a:schemeClr val="tx1"/>
          </a:fontRef>
        </p:style>
      </p:cxnSp>
      <p:sp>
        <p:nvSpPr>
          <p:cNvPr id="130" name="TextBox 129"/>
          <p:cNvSpPr txBox="1"/>
          <p:nvPr/>
        </p:nvSpPr>
        <p:spPr>
          <a:xfrm>
            <a:off x="6775704" y="4517136"/>
            <a:ext cx="4526280" cy="292608"/>
          </a:xfrm>
          <a:prstGeom prst="rect">
            <a:avLst/>
          </a:prstGeom>
          <a:noFill/>
        </p:spPr>
        <p:txBody>
          <a:bodyPr wrap="square" lIns="9144" rIns="9144" tIns="22860" bIns="22860" anchor="t">
            <a:spAutoFit/>
          </a:bodyPr>
          <a:lstStyle/>
          <a:p>
            <a:pPr>
              <a:lnSpc>
                <a:spcPct val="106000"/>
              </a:lnSpc>
              <a:spcBef>
                <a:spcPts val="0"/>
              </a:spcBef>
              <a:spcAft>
                <a:spcPts val="500"/>
              </a:spcAft>
            </a:pPr>
            <a:r>
              <a:rPr sz="1400" b="1">
                <a:solidFill>
                  <a:srgbClr val="646B80"/>
                </a:solidFill>
                <a:latin typeface="Segoe UI"/>
              </a:rPr>
              <a:t>v2  /  flows/pair.js</a:t>
            </a:r>
          </a:p>
        </p:txBody>
      </p:sp>
      <p:sp>
        <p:nvSpPr>
          <p:cNvPr id="131" name="TextBox 130"/>
          <p:cNvSpPr txBox="1"/>
          <p:nvPr/>
        </p:nvSpPr>
        <p:spPr>
          <a:xfrm>
            <a:off x="6775704" y="4928616"/>
            <a:ext cx="4526280" cy="402336"/>
          </a:xfrm>
          <a:prstGeom prst="rect">
            <a:avLst/>
          </a:prstGeom>
          <a:noFill/>
        </p:spPr>
        <p:txBody>
          <a:bodyPr wrap="square" lIns="9144" rIns="9144" tIns="22860" bIns="22860" anchor="t">
            <a:spAutoFit/>
          </a:bodyPr>
          <a:lstStyle/>
          <a:p>
            <a:pPr>
              <a:lnSpc>
                <a:spcPct val="106000"/>
              </a:lnSpc>
              <a:spcBef>
                <a:spcPts val="0"/>
              </a:spcBef>
              <a:spcAft>
                <a:spcPts val="500"/>
              </a:spcAft>
            </a:pPr>
            <a:r>
              <a:rPr sz="1900" b="1">
                <a:solidFill>
                  <a:srgbClr val="AE5427"/>
                </a:solidFill>
                <a:latin typeface="Consolas"/>
              </a:rPr>
              <a:t>policyCheck(device);</a:t>
            </a:r>
          </a:p>
        </p:txBody>
      </p:sp>
      <p:sp>
        <p:nvSpPr>
          <p:cNvPr id="132" name="TextBox 131"/>
          <p:cNvSpPr txBox="1"/>
          <p:nvPr/>
        </p:nvSpPr>
        <p:spPr>
          <a:xfrm>
            <a:off x="6775704" y="5504688"/>
            <a:ext cx="4507992" cy="438912"/>
          </a:xfrm>
          <a:prstGeom prst="rect">
            <a:avLst/>
          </a:prstGeom>
          <a:noFill/>
        </p:spPr>
        <p:txBody>
          <a:bodyPr wrap="square" lIns="9144" rIns="9144" tIns="22860" bIns="22860" anchor="t">
            <a:spAutoFit/>
          </a:bodyPr>
          <a:lstStyle/>
          <a:p>
            <a:pPr>
              <a:lnSpc>
                <a:spcPct val="106000"/>
              </a:lnSpc>
              <a:spcBef>
                <a:spcPts val="0"/>
              </a:spcBef>
              <a:spcAft>
                <a:spcPts val="500"/>
              </a:spcAft>
            </a:pPr>
            <a:r>
              <a:rPr sz="1200" b="0">
                <a:solidFill>
                  <a:srgbClr val="646B80"/>
                </a:solidFill>
                <a:latin typeface="Segoe UI"/>
              </a:rPr>
              <a:t>A removed direct await is inspectable evidence,</a:t>
            </a:r>
          </a:p>
          <a:p>
            <a:pPr>
              <a:lnSpc>
                <a:spcPct val="106000"/>
              </a:lnSpc>
              <a:spcBef>
                <a:spcPts val="0"/>
              </a:spcBef>
              <a:spcAft>
                <a:spcPts val="500"/>
              </a:spcAft>
            </a:pPr>
            <a:r>
              <a:rPr sz="1200" b="0">
                <a:solidFill>
                  <a:srgbClr val="646B80"/>
                </a:solidFill>
                <a:latin typeface="Segoe UI"/>
              </a:rPr>
              <a:t>not proof of a runtime race.</a:t>
            </a:r>
          </a:p>
        </p:txBody>
      </p:sp>
    </p:spTree>
  </p:cSld>
  <p:clrMapOvr>
    <a:masterClrMapping/>
  </p:clrMapOvr>
  <p:transition spd="fast">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8F9FD"/>
        </a:solidFill>
      </p:bgPr>
    </p:bg>
    <p:spTree>
      <p:nvGrpSpPr>
        <p:cNvPr id="112" name="Shape 112"/>
        <p:cNvGrpSpPr/>
        <p:nvPr/>
      </p:nvGrpSpPr>
      <p:grpSpPr>
        <a:xfrm>
          <a:off x="0" y="0"/>
          <a:ext cx="0" cy="0"/>
          <a:chOff x="0" y="0"/>
          <a:chExt cx="0" cy="0"/>
        </a:xfrm>
      </p:grpSpPr>
      <p:sp>
        <p:nvSpPr>
          <p:cNvPr id="113" name="Rectangle 112"/>
          <p:cNvSpPr/>
          <p:nvPr/>
        </p:nvSpPr>
        <p:spPr>
          <a:xfrm>
            <a:off x="502920" y="393192"/>
            <a:ext cx="100584" cy="210312"/>
          </a:xfrm>
          <a:prstGeom prst="rect">
            <a:avLst/>
          </a:prstGeom>
          <a:solidFill>
            <a:srgbClr val="6547D8"/>
          </a:solidFill>
          <a:ln w="10160">
            <a:solidFill>
              <a:srgbClr val="6547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713232" y="365760"/>
            <a:ext cx="1920240" cy="274320"/>
          </a:xfrm>
          <a:prstGeom prst="rect">
            <a:avLst/>
          </a:prstGeom>
          <a:noFill/>
        </p:spPr>
        <p:txBody>
          <a:bodyPr wrap="square" lIns="9144" rIns="9144" tIns="22860" bIns="22860" anchor="t">
            <a:spAutoFit/>
          </a:bodyPr>
          <a:lstStyle/>
          <a:p>
            <a:pPr>
              <a:lnSpc>
                <a:spcPct val="106000"/>
              </a:lnSpc>
              <a:spcBef>
                <a:spcPts val="0"/>
              </a:spcBef>
              <a:spcAft>
                <a:spcPts val="500"/>
              </a:spcAft>
            </a:pPr>
            <a:r>
              <a:rPr sz="1100" b="1">
                <a:solidFill>
                  <a:srgbClr val="6547D8"/>
                </a:solidFill>
                <a:latin typeface="Segoe UI"/>
              </a:rPr>
              <a:t>CODESTRATA</a:t>
            </a:r>
          </a:p>
        </p:txBody>
      </p:sp>
      <p:sp>
        <p:nvSpPr>
          <p:cNvPr id="115" name="TextBox 114"/>
          <p:cNvSpPr txBox="1"/>
          <p:nvPr/>
        </p:nvSpPr>
        <p:spPr>
          <a:xfrm>
            <a:off x="3657600" y="374904"/>
            <a:ext cx="8001000" cy="292608"/>
          </a:xfrm>
          <a:prstGeom prst="rect">
            <a:avLst/>
          </a:prstGeom>
          <a:noFill/>
        </p:spPr>
        <p:txBody>
          <a:bodyPr wrap="square" lIns="9144" rIns="9144" tIns="22860" bIns="22860" anchor="t">
            <a:spAutoFit/>
          </a:bodyPr>
          <a:lstStyle/>
          <a:p>
            <a:pPr algn="r">
              <a:lnSpc>
                <a:spcPct val="106000"/>
              </a:lnSpc>
              <a:spcBef>
                <a:spcPts val="0"/>
              </a:spcBef>
              <a:spcAft>
                <a:spcPts val="500"/>
              </a:spcAft>
            </a:pPr>
            <a:r>
              <a:rPr sz="1000" b="0">
                <a:solidFill>
                  <a:srgbClr val="646B80"/>
                </a:solidFill>
                <a:latin typeface="Segoe UI"/>
              </a:rPr>
              <a:t>OUR SOLUTION &amp; ARCHITECTURE</a:t>
            </a:r>
          </a:p>
        </p:txBody>
      </p:sp>
      <p:sp>
        <p:nvSpPr>
          <p:cNvPr id="116" name="TextBox 115"/>
          <p:cNvSpPr txBox="1"/>
          <p:nvPr/>
        </p:nvSpPr>
        <p:spPr>
          <a:xfrm>
            <a:off x="502920" y="896112"/>
            <a:ext cx="11109960" cy="868680"/>
          </a:xfrm>
          <a:prstGeom prst="rect">
            <a:avLst/>
          </a:prstGeom>
          <a:noFill/>
        </p:spPr>
        <p:txBody>
          <a:bodyPr wrap="square" lIns="9144" rIns="9144" tIns="22860" bIns="22860" anchor="t">
            <a:spAutoFit/>
          </a:bodyPr>
          <a:lstStyle/>
          <a:p>
            <a:pPr>
              <a:lnSpc>
                <a:spcPct val="106000"/>
              </a:lnSpc>
              <a:spcBef>
                <a:spcPts val="0"/>
              </a:spcBef>
              <a:spcAft>
                <a:spcPts val="500"/>
              </a:spcAft>
            </a:pPr>
            <a:r>
              <a:rPr sz="3400" b="1">
                <a:solidFill>
                  <a:srgbClr val="20243A"/>
                </a:solidFill>
                <a:latin typeface="Segoe UI"/>
              </a:rPr>
              <a:t>From Git history to behavior evidence.</a:t>
            </a:r>
          </a:p>
        </p:txBody>
      </p:sp>
      <p:sp>
        <p:nvSpPr>
          <p:cNvPr id="117" name="TextBox 116"/>
          <p:cNvSpPr txBox="1"/>
          <p:nvPr/>
        </p:nvSpPr>
        <p:spPr>
          <a:xfrm>
            <a:off x="530352" y="1746504"/>
            <a:ext cx="10972800" cy="411480"/>
          </a:xfrm>
          <a:prstGeom prst="rect">
            <a:avLst/>
          </a:prstGeom>
          <a:noFill/>
        </p:spPr>
        <p:txBody>
          <a:bodyPr wrap="square" lIns="9144" rIns="9144" tIns="22860" bIns="22860" anchor="t">
            <a:spAutoFit/>
          </a:bodyPr>
          <a:lstStyle/>
          <a:p>
            <a:pPr>
              <a:lnSpc>
                <a:spcPct val="106000"/>
              </a:lnSpc>
              <a:spcBef>
                <a:spcPts val="0"/>
              </a:spcBef>
              <a:spcAft>
                <a:spcPts val="500"/>
              </a:spcAft>
            </a:pPr>
            <a:r>
              <a:rPr sz="1500" b="0">
                <a:solidFill>
                  <a:srgbClr val="646B80"/>
                </a:solidFill>
                <a:latin typeface="Segoe UI"/>
              </a:rPr>
              <a:t>Cached analysis feeds a bounded search policy and a repeatable watch workflow.</a:t>
            </a:r>
          </a:p>
        </p:txBody>
      </p:sp>
      <p:cxnSp>
        <p:nvCxnSpPr>
          <p:cNvPr id="118" name="Connector 117"/>
          <p:cNvCxnSpPr/>
          <p:nvPr/>
        </p:nvCxnSpPr>
        <p:spPr>
          <a:xfrm>
            <a:off x="502920" y="6428232"/>
            <a:ext cx="11183112" cy="0"/>
          </a:xfrm>
          <a:prstGeom prst="line">
            <a:avLst/>
          </a:prstGeom>
          <a:ln w="10160">
            <a:solidFill>
              <a:srgbClr val="DFE3EF"/>
            </a:solidFill>
          </a:ln>
          <a:effectLst/>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521207" y="6519672"/>
            <a:ext cx="8961120" cy="201168"/>
          </a:xfrm>
          <a:prstGeom prst="rect">
            <a:avLst/>
          </a:prstGeom>
          <a:noFill/>
        </p:spPr>
        <p:txBody>
          <a:bodyPr wrap="square" lIns="9144" rIns="9144" tIns="22860" bIns="22860" anchor="t">
            <a:spAutoFit/>
          </a:bodyPr>
          <a:lstStyle/>
          <a:p>
            <a:pPr>
              <a:lnSpc>
                <a:spcPct val="106000"/>
              </a:lnSpc>
              <a:spcBef>
                <a:spcPts val="0"/>
              </a:spcBef>
              <a:spcAft>
                <a:spcPts val="500"/>
              </a:spcAft>
            </a:pPr>
            <a:r>
              <a:rPr sz="900" b="0">
                <a:solidFill>
                  <a:srgbClr val="646B80"/>
                </a:solidFill>
                <a:latin typeface="Segoe UI"/>
              </a:rPr>
              <a:t>CODESTRATA  /  AGENTIC CODE INTELLIGENCE</a:t>
            </a:r>
          </a:p>
        </p:txBody>
      </p:sp>
      <p:sp>
        <p:nvSpPr>
          <p:cNvPr id="120" name="TextBox 119"/>
          <p:cNvSpPr txBox="1"/>
          <p:nvPr/>
        </p:nvSpPr>
        <p:spPr>
          <a:xfrm>
            <a:off x="10698480" y="6492240"/>
            <a:ext cx="987552" cy="228600"/>
          </a:xfrm>
          <a:prstGeom prst="rect">
            <a:avLst/>
          </a:prstGeom>
          <a:noFill/>
        </p:spPr>
        <p:txBody>
          <a:bodyPr wrap="square" lIns="9144" rIns="9144" tIns="22860" bIns="22860" anchor="t">
            <a:spAutoFit/>
          </a:bodyPr>
          <a:lstStyle/>
          <a:p>
            <a:r>
              <a:rPr sz="1000" b="1">
                <a:solidFill>
                  <a:srgbClr val="6547D8"/>
                </a:solidFill>
                <a:latin typeface="Segoe UI"/>
              </a:rPr>
              <a:t>05 / 18</a:t>
            </a:r>
          </a:p>
        </p:txBody>
      </p:sp>
      <p:sp>
        <p:nvSpPr>
          <p:cNvPr id="121" name="Rounded Rectangle 120"/>
          <p:cNvSpPr/>
          <p:nvPr/>
        </p:nvSpPr>
        <p:spPr>
          <a:xfrm>
            <a:off x="530352" y="2359152"/>
            <a:ext cx="11137392" cy="1069848"/>
          </a:xfrm>
          <a:prstGeom prst="roundRect">
            <a:avLst>
              <a:gd name="adj" fmla="val 12000"/>
            </a:avLst>
          </a:prstGeom>
          <a:solidFill>
            <a:srgbClr val="EFEAFF"/>
          </a:solidFill>
          <a:ln w="10160">
            <a:solidFill>
              <a:srgbClr val="EFE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749808" y="2724912"/>
            <a:ext cx="1298448" cy="411480"/>
          </a:xfrm>
          <a:prstGeom prst="rect">
            <a:avLst/>
          </a:prstGeom>
          <a:noFill/>
        </p:spPr>
        <p:txBody>
          <a:bodyPr wrap="square" lIns="9144" rIns="9144" tIns="22860" bIns="22860" anchor="t">
            <a:spAutoFit/>
          </a:bodyPr>
          <a:lstStyle/>
          <a:p>
            <a:pPr>
              <a:lnSpc>
                <a:spcPct val="106000"/>
              </a:lnSpc>
              <a:spcBef>
                <a:spcPts val="0"/>
              </a:spcBef>
              <a:spcAft>
                <a:spcPts val="500"/>
              </a:spcAft>
            </a:pPr>
            <a:r>
              <a:rPr sz="1100" b="1">
                <a:solidFill>
                  <a:srgbClr val="6547D8"/>
                </a:solidFill>
                <a:latin typeface="Segoe UI"/>
              </a:rPr>
              <a:t>01  INDEX</a:t>
            </a:r>
          </a:p>
        </p:txBody>
      </p:sp>
      <p:sp>
        <p:nvSpPr>
          <p:cNvPr id="123" name="Rounded Rectangle 122"/>
          <p:cNvSpPr/>
          <p:nvPr/>
        </p:nvSpPr>
        <p:spPr>
          <a:xfrm>
            <a:off x="530352" y="3675887"/>
            <a:ext cx="11137392" cy="1069848"/>
          </a:xfrm>
          <a:prstGeom prst="roundRect">
            <a:avLst>
              <a:gd name="adj" fmla="val 12000"/>
            </a:avLst>
          </a:prstGeom>
          <a:solidFill>
            <a:srgbClr val="FFFFFF"/>
          </a:solidFill>
          <a:ln w="101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749808" y="4041648"/>
            <a:ext cx="1298448" cy="411480"/>
          </a:xfrm>
          <a:prstGeom prst="rect">
            <a:avLst/>
          </a:prstGeom>
          <a:noFill/>
        </p:spPr>
        <p:txBody>
          <a:bodyPr wrap="square" lIns="9144" rIns="9144" tIns="22860" bIns="22860" anchor="t">
            <a:spAutoFit/>
          </a:bodyPr>
          <a:lstStyle/>
          <a:p>
            <a:pPr>
              <a:lnSpc>
                <a:spcPct val="106000"/>
              </a:lnSpc>
              <a:spcBef>
                <a:spcPts val="0"/>
              </a:spcBef>
              <a:spcAft>
                <a:spcPts val="500"/>
              </a:spcAft>
            </a:pPr>
            <a:r>
              <a:rPr sz="1100" b="1">
                <a:solidFill>
                  <a:srgbClr val="6547D8"/>
                </a:solidFill>
                <a:latin typeface="Segoe UI"/>
              </a:rPr>
              <a:t>02  INVESTIGATE</a:t>
            </a:r>
          </a:p>
        </p:txBody>
      </p:sp>
      <p:sp>
        <p:nvSpPr>
          <p:cNvPr id="125" name="Rounded Rectangle 124"/>
          <p:cNvSpPr/>
          <p:nvPr/>
        </p:nvSpPr>
        <p:spPr>
          <a:xfrm>
            <a:off x="530352" y="5001768"/>
            <a:ext cx="11137392" cy="1069848"/>
          </a:xfrm>
          <a:prstGeom prst="roundRect">
            <a:avLst>
              <a:gd name="adj" fmla="val 12000"/>
            </a:avLst>
          </a:prstGeom>
          <a:solidFill>
            <a:srgbClr val="E9F7F1"/>
          </a:solidFill>
          <a:ln w="10160">
            <a:solidFill>
              <a:srgbClr val="E9F7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749808" y="5367528"/>
            <a:ext cx="1298448" cy="411480"/>
          </a:xfrm>
          <a:prstGeom prst="rect">
            <a:avLst/>
          </a:prstGeom>
          <a:noFill/>
        </p:spPr>
        <p:txBody>
          <a:bodyPr wrap="square" lIns="9144" rIns="9144" tIns="22860" bIns="22860" anchor="t">
            <a:spAutoFit/>
          </a:bodyPr>
          <a:lstStyle/>
          <a:p>
            <a:pPr>
              <a:lnSpc>
                <a:spcPct val="106000"/>
              </a:lnSpc>
              <a:spcBef>
                <a:spcPts val="0"/>
              </a:spcBef>
              <a:spcAft>
                <a:spcPts val="500"/>
              </a:spcAft>
            </a:pPr>
            <a:r>
              <a:rPr sz="1100" b="1">
                <a:solidFill>
                  <a:srgbClr val="6547D8"/>
                </a:solidFill>
                <a:latin typeface="Segoe UI"/>
              </a:rPr>
              <a:t>03  WATCH</a:t>
            </a:r>
          </a:p>
        </p:txBody>
      </p:sp>
      <p:sp>
        <p:nvSpPr>
          <p:cNvPr id="127" name="TextBox 126"/>
          <p:cNvSpPr txBox="1"/>
          <p:nvPr/>
        </p:nvSpPr>
        <p:spPr>
          <a:xfrm>
            <a:off x="2194560" y="2505456"/>
            <a:ext cx="2194560" cy="338328"/>
          </a:xfrm>
          <a:prstGeom prst="rect">
            <a:avLst/>
          </a:prstGeom>
          <a:noFill/>
        </p:spPr>
        <p:txBody>
          <a:bodyPr wrap="square" lIns="9144" rIns="9144" tIns="22860" bIns="22860" anchor="t">
            <a:spAutoFit/>
          </a:bodyPr>
          <a:lstStyle/>
          <a:p>
            <a:pPr>
              <a:lnSpc>
                <a:spcPct val="106000"/>
              </a:lnSpc>
              <a:spcBef>
                <a:spcPts val="0"/>
              </a:spcBef>
              <a:spcAft>
                <a:spcPts val="500"/>
              </a:spcAft>
            </a:pPr>
            <a:r>
              <a:rPr sz="1700" b="1">
                <a:solidFill>
                  <a:srgbClr val="20243A"/>
                </a:solidFill>
                <a:latin typeface="Segoe UI"/>
              </a:rPr>
              <a:t>Git snapshots</a:t>
            </a:r>
          </a:p>
        </p:txBody>
      </p:sp>
      <p:sp>
        <p:nvSpPr>
          <p:cNvPr id="128" name="TextBox 127"/>
          <p:cNvSpPr txBox="1"/>
          <p:nvPr/>
        </p:nvSpPr>
        <p:spPr>
          <a:xfrm>
            <a:off x="2194560" y="2935224"/>
            <a:ext cx="2194560" cy="402336"/>
          </a:xfrm>
          <a:prstGeom prst="rect">
            <a:avLst/>
          </a:prstGeom>
          <a:noFill/>
        </p:spPr>
        <p:txBody>
          <a:bodyPr wrap="square" lIns="9144" rIns="9144" tIns="22860" bIns="22860" anchor="t">
            <a:spAutoFit/>
          </a:bodyPr>
          <a:lstStyle/>
          <a:p>
            <a:pPr>
              <a:lnSpc>
                <a:spcPct val="106000"/>
              </a:lnSpc>
              <a:spcBef>
                <a:spcPts val="0"/>
              </a:spcBef>
              <a:spcAft>
                <a:spcPts val="500"/>
              </a:spcAft>
            </a:pPr>
            <a:r>
              <a:rPr sz="1200" b="0">
                <a:solidFill>
                  <a:srgbClr val="646B80"/>
                </a:solidFill>
                <a:latin typeface="Segoe UI"/>
              </a:rPr>
              <a:t>Exact source + versions</a:t>
            </a:r>
          </a:p>
        </p:txBody>
      </p:sp>
      <p:sp>
        <p:nvSpPr>
          <p:cNvPr id="129" name="TextBox 128"/>
          <p:cNvSpPr txBox="1"/>
          <p:nvPr/>
        </p:nvSpPr>
        <p:spPr>
          <a:xfrm>
            <a:off x="4727448" y="2505456"/>
            <a:ext cx="2194560" cy="338328"/>
          </a:xfrm>
          <a:prstGeom prst="rect">
            <a:avLst/>
          </a:prstGeom>
          <a:noFill/>
        </p:spPr>
        <p:txBody>
          <a:bodyPr wrap="square" lIns="9144" rIns="9144" tIns="22860" bIns="22860" anchor="t">
            <a:spAutoFit/>
          </a:bodyPr>
          <a:lstStyle/>
          <a:p>
            <a:pPr>
              <a:lnSpc>
                <a:spcPct val="106000"/>
              </a:lnSpc>
              <a:spcBef>
                <a:spcPts val="0"/>
              </a:spcBef>
              <a:spcAft>
                <a:spcPts val="500"/>
              </a:spcAft>
            </a:pPr>
            <a:r>
              <a:rPr sz="1700" b="1">
                <a:solidFill>
                  <a:srgbClr val="20243A"/>
                </a:solidFill>
                <a:latin typeface="Segoe UI"/>
              </a:rPr>
              <a:t>Babel AST facts</a:t>
            </a:r>
          </a:p>
        </p:txBody>
      </p:sp>
      <p:sp>
        <p:nvSpPr>
          <p:cNvPr id="130" name="TextBox 129"/>
          <p:cNvSpPr txBox="1"/>
          <p:nvPr/>
        </p:nvSpPr>
        <p:spPr>
          <a:xfrm>
            <a:off x="4727448" y="2935224"/>
            <a:ext cx="2194560" cy="402336"/>
          </a:xfrm>
          <a:prstGeom prst="rect">
            <a:avLst/>
          </a:prstGeom>
          <a:noFill/>
        </p:spPr>
        <p:txBody>
          <a:bodyPr wrap="square" lIns="9144" rIns="9144" tIns="22860" bIns="22860" anchor="t">
            <a:spAutoFit/>
          </a:bodyPr>
          <a:lstStyle/>
          <a:p>
            <a:pPr>
              <a:lnSpc>
                <a:spcPct val="106000"/>
              </a:lnSpc>
              <a:spcBef>
                <a:spcPts val="0"/>
              </a:spcBef>
              <a:spcAft>
                <a:spcPts val="500"/>
              </a:spcAft>
            </a:pPr>
            <a:r>
              <a:rPr sz="1200" b="0">
                <a:solidFill>
                  <a:srgbClr val="646B80"/>
                </a:solidFill>
                <a:latin typeface="Segoe UI"/>
              </a:rPr>
              <a:t>Calls, awaits, guards</a:t>
            </a:r>
          </a:p>
        </p:txBody>
      </p:sp>
      <p:sp>
        <p:nvSpPr>
          <p:cNvPr id="131" name="TextBox 130"/>
          <p:cNvSpPr txBox="1"/>
          <p:nvPr/>
        </p:nvSpPr>
        <p:spPr>
          <a:xfrm>
            <a:off x="7315200" y="2505456"/>
            <a:ext cx="4069080" cy="338328"/>
          </a:xfrm>
          <a:prstGeom prst="rect">
            <a:avLst/>
          </a:prstGeom>
          <a:noFill/>
        </p:spPr>
        <p:txBody>
          <a:bodyPr wrap="square" lIns="9144" rIns="9144" tIns="22860" bIns="22860" anchor="t">
            <a:spAutoFit/>
          </a:bodyPr>
          <a:lstStyle/>
          <a:p>
            <a:pPr>
              <a:lnSpc>
                <a:spcPct val="106000"/>
              </a:lnSpc>
              <a:spcBef>
                <a:spcPts val="0"/>
              </a:spcBef>
              <a:spcAft>
                <a:spcPts val="500"/>
              </a:spcAft>
            </a:pPr>
            <a:r>
              <a:rPr sz="1700" b="1">
                <a:solidFill>
                  <a:srgbClr val="20243A"/>
                </a:solidFill>
                <a:latin typeface="Segoe UI"/>
              </a:rPr>
              <a:t>Cached index + graph</a:t>
            </a:r>
          </a:p>
        </p:txBody>
      </p:sp>
      <p:sp>
        <p:nvSpPr>
          <p:cNvPr id="132" name="TextBox 131"/>
          <p:cNvSpPr txBox="1"/>
          <p:nvPr/>
        </p:nvSpPr>
        <p:spPr>
          <a:xfrm>
            <a:off x="7315200" y="2935224"/>
            <a:ext cx="4069080" cy="402336"/>
          </a:xfrm>
          <a:prstGeom prst="rect">
            <a:avLst/>
          </a:prstGeom>
          <a:noFill/>
        </p:spPr>
        <p:txBody>
          <a:bodyPr wrap="square" lIns="9144" rIns="9144" tIns="22860" bIns="22860" anchor="t">
            <a:spAutoFit/>
          </a:bodyPr>
          <a:lstStyle/>
          <a:p>
            <a:pPr>
              <a:lnSpc>
                <a:spcPct val="106000"/>
              </a:lnSpc>
              <a:spcBef>
                <a:spcPts val="0"/>
              </a:spcBef>
              <a:spcAft>
                <a:spcPts val="500"/>
              </a:spcAft>
            </a:pPr>
            <a:r>
              <a:rPr sz="1200" b="0">
                <a:solidFill>
                  <a:srgbClr val="646B80"/>
                </a:solidFill>
                <a:latin typeface="Segoe UI"/>
              </a:rPr>
              <a:t>BM25 + CPU vectors • lineage + imports</a:t>
            </a:r>
          </a:p>
        </p:txBody>
      </p:sp>
      <p:sp>
        <p:nvSpPr>
          <p:cNvPr id="133" name="TextBox 132"/>
          <p:cNvSpPr txBox="1"/>
          <p:nvPr/>
        </p:nvSpPr>
        <p:spPr>
          <a:xfrm>
            <a:off x="2194560" y="3822191"/>
            <a:ext cx="2194560" cy="338328"/>
          </a:xfrm>
          <a:prstGeom prst="rect">
            <a:avLst/>
          </a:prstGeom>
          <a:noFill/>
        </p:spPr>
        <p:txBody>
          <a:bodyPr wrap="square" lIns="9144" rIns="9144" tIns="22860" bIns="22860" anchor="t">
            <a:spAutoFit/>
          </a:bodyPr>
          <a:lstStyle/>
          <a:p>
            <a:pPr>
              <a:lnSpc>
                <a:spcPct val="106000"/>
              </a:lnSpc>
              <a:spcBef>
                <a:spcPts val="0"/>
              </a:spcBef>
              <a:spcAft>
                <a:spcPts val="500"/>
              </a:spcAft>
            </a:pPr>
            <a:r>
              <a:rPr sz="1700" b="1">
                <a:solidFill>
                  <a:srgbClr val="20243A"/>
                </a:solidFill>
                <a:latin typeface="Segoe UI"/>
              </a:rPr>
              <a:t>Question → plan</a:t>
            </a:r>
          </a:p>
        </p:txBody>
      </p:sp>
      <p:sp>
        <p:nvSpPr>
          <p:cNvPr id="134" name="TextBox 133"/>
          <p:cNvSpPr txBox="1"/>
          <p:nvPr/>
        </p:nvSpPr>
        <p:spPr>
          <a:xfrm>
            <a:off x="2194560" y="4251959"/>
            <a:ext cx="2194560" cy="402336"/>
          </a:xfrm>
          <a:prstGeom prst="rect">
            <a:avLst/>
          </a:prstGeom>
          <a:noFill/>
        </p:spPr>
        <p:txBody>
          <a:bodyPr wrap="square" lIns="9144" rIns="9144" tIns="22860" bIns="22860" anchor="t">
            <a:spAutoFit/>
          </a:bodyPr>
          <a:lstStyle/>
          <a:p>
            <a:pPr>
              <a:lnSpc>
                <a:spcPct val="106000"/>
              </a:lnSpc>
              <a:spcBef>
                <a:spcPts val="0"/>
              </a:spcBef>
              <a:spcAft>
                <a:spcPts val="500"/>
              </a:spcAft>
            </a:pPr>
            <a:r>
              <a:rPr sz="1200" b="0">
                <a:solidFill>
                  <a:srgbClr val="646B80"/>
                </a:solidFill>
                <a:latin typeface="Segoe UI"/>
              </a:rPr>
              <a:t>Supported constraints</a:t>
            </a:r>
          </a:p>
        </p:txBody>
      </p:sp>
      <p:sp>
        <p:nvSpPr>
          <p:cNvPr id="135" name="TextBox 134"/>
          <p:cNvSpPr txBox="1"/>
          <p:nvPr/>
        </p:nvSpPr>
        <p:spPr>
          <a:xfrm>
            <a:off x="4727448" y="3822191"/>
            <a:ext cx="2194560" cy="338328"/>
          </a:xfrm>
          <a:prstGeom prst="rect">
            <a:avLst/>
          </a:prstGeom>
          <a:noFill/>
        </p:spPr>
        <p:txBody>
          <a:bodyPr wrap="square" lIns="9144" rIns="9144" tIns="22860" bIns="22860" anchor="t">
            <a:spAutoFit/>
          </a:bodyPr>
          <a:lstStyle/>
          <a:p>
            <a:pPr>
              <a:lnSpc>
                <a:spcPct val="106000"/>
              </a:lnSpc>
              <a:spcBef>
                <a:spcPts val="0"/>
              </a:spcBef>
              <a:spcAft>
                <a:spcPts val="500"/>
              </a:spcAft>
            </a:pPr>
            <a:r>
              <a:rPr sz="1700" b="1">
                <a:solidFill>
                  <a:srgbClr val="20243A"/>
                </a:solidFill>
                <a:latin typeface="Segoe UI"/>
              </a:rPr>
              <a:t>Retrieve → refine</a:t>
            </a:r>
          </a:p>
        </p:txBody>
      </p:sp>
      <p:sp>
        <p:nvSpPr>
          <p:cNvPr id="136" name="TextBox 135"/>
          <p:cNvSpPr txBox="1"/>
          <p:nvPr/>
        </p:nvSpPr>
        <p:spPr>
          <a:xfrm>
            <a:off x="4727448" y="4251959"/>
            <a:ext cx="2194560" cy="402336"/>
          </a:xfrm>
          <a:prstGeom prst="rect">
            <a:avLst/>
          </a:prstGeom>
          <a:noFill/>
        </p:spPr>
        <p:txBody>
          <a:bodyPr wrap="square" lIns="9144" rIns="9144" tIns="22860" bIns="22860" anchor="t">
            <a:spAutoFit/>
          </a:bodyPr>
          <a:lstStyle/>
          <a:p>
            <a:pPr>
              <a:lnSpc>
                <a:spcPct val="106000"/>
              </a:lnSpc>
              <a:spcBef>
                <a:spcPts val="0"/>
              </a:spcBef>
              <a:spcAft>
                <a:spcPts val="500"/>
              </a:spcAft>
            </a:pPr>
            <a:r>
              <a:rPr sz="1200" b="0">
                <a:solidFill>
                  <a:srgbClr val="646B80"/>
                </a:solidFill>
                <a:latin typeface="Segoe UI"/>
              </a:rPr>
              <a:t>Bounded local agent</a:t>
            </a:r>
          </a:p>
        </p:txBody>
      </p:sp>
      <p:sp>
        <p:nvSpPr>
          <p:cNvPr id="137" name="TextBox 136"/>
          <p:cNvSpPr txBox="1"/>
          <p:nvPr/>
        </p:nvSpPr>
        <p:spPr>
          <a:xfrm>
            <a:off x="7315200" y="3822191"/>
            <a:ext cx="4069080" cy="338328"/>
          </a:xfrm>
          <a:prstGeom prst="rect">
            <a:avLst/>
          </a:prstGeom>
          <a:noFill/>
        </p:spPr>
        <p:txBody>
          <a:bodyPr wrap="square" lIns="9144" rIns="9144" tIns="22860" bIns="22860" anchor="t">
            <a:spAutoFit/>
          </a:bodyPr>
          <a:lstStyle/>
          <a:p>
            <a:pPr>
              <a:lnSpc>
                <a:spcPct val="106000"/>
              </a:lnSpc>
              <a:spcBef>
                <a:spcPts val="0"/>
              </a:spcBef>
              <a:spcAft>
                <a:spcPts val="500"/>
              </a:spcAft>
            </a:pPr>
            <a:r>
              <a:rPr sz="1700" b="1">
                <a:solidFill>
                  <a:srgbClr val="20243A"/>
                </a:solidFill>
                <a:latin typeface="Segoe UI"/>
              </a:rPr>
              <a:t>Inspect → explain</a:t>
            </a:r>
          </a:p>
        </p:txBody>
      </p:sp>
      <p:sp>
        <p:nvSpPr>
          <p:cNvPr id="138" name="TextBox 137"/>
          <p:cNvSpPr txBox="1"/>
          <p:nvPr/>
        </p:nvSpPr>
        <p:spPr>
          <a:xfrm>
            <a:off x="7315200" y="4251959"/>
            <a:ext cx="4069080" cy="402336"/>
          </a:xfrm>
          <a:prstGeom prst="rect">
            <a:avLst/>
          </a:prstGeom>
          <a:noFill/>
        </p:spPr>
        <p:txBody>
          <a:bodyPr wrap="square" lIns="9144" rIns="9144" tIns="22860" bIns="22860" anchor="t">
            <a:spAutoFit/>
          </a:bodyPr>
          <a:lstStyle/>
          <a:p>
            <a:pPr>
              <a:lnSpc>
                <a:spcPct val="106000"/>
              </a:lnSpc>
              <a:spcBef>
                <a:spcPts val="0"/>
              </a:spcBef>
              <a:spcAft>
                <a:spcPts val="500"/>
              </a:spcAft>
            </a:pPr>
            <a:r>
              <a:rPr sz="1200" b="0">
                <a:solidFill>
                  <a:srgbClr val="646B80"/>
                </a:solidFill>
                <a:latin typeface="Segoe UI"/>
              </a:rPr>
              <a:t>Source, counterexample, decision trace</a:t>
            </a:r>
          </a:p>
        </p:txBody>
      </p:sp>
      <p:sp>
        <p:nvSpPr>
          <p:cNvPr id="139" name="TextBox 138"/>
          <p:cNvSpPr txBox="1"/>
          <p:nvPr/>
        </p:nvSpPr>
        <p:spPr>
          <a:xfrm>
            <a:off x="2194560" y="5148072"/>
            <a:ext cx="2194560" cy="338328"/>
          </a:xfrm>
          <a:prstGeom prst="rect">
            <a:avLst/>
          </a:prstGeom>
          <a:noFill/>
        </p:spPr>
        <p:txBody>
          <a:bodyPr wrap="square" lIns="9144" rIns="9144" tIns="22860" bIns="22860" anchor="t">
            <a:spAutoFit/>
          </a:bodyPr>
          <a:lstStyle/>
          <a:p>
            <a:pPr>
              <a:lnSpc>
                <a:spcPct val="106000"/>
              </a:lnSpc>
              <a:spcBef>
                <a:spcPts val="0"/>
              </a:spcBef>
              <a:spcAft>
                <a:spcPts val="500"/>
              </a:spcAft>
            </a:pPr>
            <a:r>
              <a:rPr sz="1700" b="1">
                <a:solidFill>
                  <a:srgbClr val="20243A"/>
                </a:solidFill>
                <a:latin typeface="Segoe UI"/>
              </a:rPr>
              <a:t>Pin a static rule</a:t>
            </a:r>
          </a:p>
        </p:txBody>
      </p:sp>
      <p:sp>
        <p:nvSpPr>
          <p:cNvPr id="140" name="TextBox 139"/>
          <p:cNvSpPr txBox="1"/>
          <p:nvPr/>
        </p:nvSpPr>
        <p:spPr>
          <a:xfrm>
            <a:off x="2194560" y="5577840"/>
            <a:ext cx="2194560" cy="402336"/>
          </a:xfrm>
          <a:prstGeom prst="rect">
            <a:avLst/>
          </a:prstGeom>
          <a:noFill/>
        </p:spPr>
        <p:txBody>
          <a:bodyPr wrap="square" lIns="9144" rIns="9144" tIns="22860" bIns="22860" anchor="t">
            <a:spAutoFit/>
          </a:bodyPr>
          <a:lstStyle/>
          <a:p>
            <a:pPr>
              <a:lnSpc>
                <a:spcPct val="106000"/>
              </a:lnSpc>
              <a:spcBef>
                <a:spcPts val="0"/>
              </a:spcBef>
              <a:spcAft>
                <a:spcPts val="500"/>
              </a:spcAft>
            </a:pPr>
            <a:r>
              <a:rPr sz="1200" b="0">
                <a:solidFill>
                  <a:srgbClr val="646B80"/>
                </a:solidFill>
                <a:latin typeface="Segoe UI"/>
              </a:rPr>
              <a:t>Anchor ID + source hash</a:t>
            </a:r>
          </a:p>
        </p:txBody>
      </p:sp>
      <p:sp>
        <p:nvSpPr>
          <p:cNvPr id="141" name="TextBox 140"/>
          <p:cNvSpPr txBox="1"/>
          <p:nvPr/>
        </p:nvSpPr>
        <p:spPr>
          <a:xfrm>
            <a:off x="4727448" y="5148072"/>
            <a:ext cx="2194560" cy="338328"/>
          </a:xfrm>
          <a:prstGeom prst="rect">
            <a:avLst/>
          </a:prstGeom>
          <a:noFill/>
        </p:spPr>
        <p:txBody>
          <a:bodyPr wrap="square" lIns="9144" rIns="9144" tIns="22860" bIns="22860" anchor="t">
            <a:spAutoFit/>
          </a:bodyPr>
          <a:lstStyle/>
          <a:p>
            <a:pPr>
              <a:lnSpc>
                <a:spcPct val="106000"/>
              </a:lnSpc>
              <a:spcBef>
                <a:spcPts val="0"/>
              </a:spcBef>
              <a:spcAft>
                <a:spcPts val="500"/>
              </a:spcAft>
            </a:pPr>
            <a:r>
              <a:rPr sz="1700" b="1">
                <a:solidFill>
                  <a:srgbClr val="20243A"/>
                </a:solidFill>
                <a:latin typeface="Segoe UI"/>
              </a:rPr>
              <a:t>Follow one lineage</a:t>
            </a:r>
          </a:p>
        </p:txBody>
      </p:sp>
      <p:sp>
        <p:nvSpPr>
          <p:cNvPr id="142" name="TextBox 141"/>
          <p:cNvSpPr txBox="1"/>
          <p:nvPr/>
        </p:nvSpPr>
        <p:spPr>
          <a:xfrm>
            <a:off x="4727448" y="5577840"/>
            <a:ext cx="2194560" cy="402336"/>
          </a:xfrm>
          <a:prstGeom prst="rect">
            <a:avLst/>
          </a:prstGeom>
          <a:noFill/>
        </p:spPr>
        <p:txBody>
          <a:bodyPr wrap="square" lIns="9144" rIns="9144" tIns="22860" bIns="22860" anchor="t">
            <a:spAutoFit/>
          </a:bodyPr>
          <a:lstStyle/>
          <a:p>
            <a:pPr>
              <a:lnSpc>
                <a:spcPct val="106000"/>
              </a:lnSpc>
              <a:spcBef>
                <a:spcPts val="0"/>
              </a:spcBef>
              <a:spcAft>
                <a:spcPts val="500"/>
              </a:spcAft>
            </a:pPr>
            <a:r>
              <a:rPr sz="1200" b="0">
                <a:solidFill>
                  <a:srgbClr val="646B80"/>
                </a:solidFill>
                <a:latin typeface="Segoe UI"/>
              </a:rPr>
              <a:t>Check linked snapshots</a:t>
            </a:r>
          </a:p>
        </p:txBody>
      </p:sp>
      <p:sp>
        <p:nvSpPr>
          <p:cNvPr id="143" name="TextBox 142"/>
          <p:cNvSpPr txBox="1"/>
          <p:nvPr/>
        </p:nvSpPr>
        <p:spPr>
          <a:xfrm>
            <a:off x="7315200" y="5148072"/>
            <a:ext cx="4069080" cy="338328"/>
          </a:xfrm>
          <a:prstGeom prst="rect">
            <a:avLst/>
          </a:prstGeom>
          <a:noFill/>
        </p:spPr>
        <p:txBody>
          <a:bodyPr wrap="square" lIns="9144" rIns="9144" tIns="22860" bIns="22860" anchor="t">
            <a:spAutoFit/>
          </a:bodyPr>
          <a:lstStyle/>
          <a:p>
            <a:pPr>
              <a:lnSpc>
                <a:spcPct val="106000"/>
              </a:lnSpc>
              <a:spcBef>
                <a:spcPts val="0"/>
              </a:spcBef>
              <a:spcAft>
                <a:spcPts val="500"/>
              </a:spcAft>
            </a:pPr>
            <a:r>
              <a:rPr sz="1700" b="1">
                <a:solidFill>
                  <a:srgbClr val="20243A"/>
                </a:solidFill>
                <a:latin typeface="Segoe UI"/>
              </a:rPr>
              <a:t>Review states → export</a:t>
            </a:r>
          </a:p>
        </p:txBody>
      </p:sp>
      <p:sp>
        <p:nvSpPr>
          <p:cNvPr id="144" name="TextBox 143"/>
          <p:cNvSpPr txBox="1"/>
          <p:nvPr/>
        </p:nvSpPr>
        <p:spPr>
          <a:xfrm>
            <a:off x="7315200" y="5577840"/>
            <a:ext cx="4069080" cy="402336"/>
          </a:xfrm>
          <a:prstGeom prst="rect">
            <a:avLst/>
          </a:prstGeom>
          <a:noFill/>
        </p:spPr>
        <p:txBody>
          <a:bodyPr wrap="square" lIns="9144" rIns="9144" tIns="22860" bIns="22860" anchor="t">
            <a:spAutoFit/>
          </a:bodyPr>
          <a:lstStyle/>
          <a:p>
            <a:pPr>
              <a:lnSpc>
                <a:spcPct val="106000"/>
              </a:lnSpc>
              <a:spcBef>
                <a:spcPts val="0"/>
              </a:spcBef>
              <a:spcAft>
                <a:spcPts val="500"/>
              </a:spcAft>
            </a:pPr>
            <a:r>
              <a:rPr sz="1200" b="0">
                <a:solidFill>
                  <a:srgbClr val="646B80"/>
                </a:solidFill>
                <a:latin typeface="Segoe UI"/>
              </a:rPr>
              <a:t>Holds • broken • unknown • unlinked</a:t>
            </a:r>
          </a:p>
        </p:txBody>
      </p:sp>
      <p:cxnSp>
        <p:nvCxnSpPr>
          <p:cNvPr id="145" name="Connector 144"/>
          <p:cNvCxnSpPr/>
          <p:nvPr/>
        </p:nvCxnSpPr>
        <p:spPr>
          <a:xfrm>
            <a:off x="4379976" y="2798064"/>
            <a:ext cx="246888" cy="0"/>
          </a:xfrm>
          <a:prstGeom prst="line">
            <a:avLst/>
          </a:prstGeom>
          <a:ln w="21590">
            <a:solidFill>
              <a:srgbClr val="6547D8"/>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6931152" y="2798064"/>
            <a:ext cx="292608" cy="0"/>
          </a:xfrm>
          <a:prstGeom prst="line">
            <a:avLst/>
          </a:prstGeom>
          <a:ln w="21590">
            <a:solidFill>
              <a:srgbClr val="6547D8"/>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4379976" y="4114800"/>
            <a:ext cx="246888" cy="0"/>
          </a:xfrm>
          <a:prstGeom prst="line">
            <a:avLst/>
          </a:prstGeom>
          <a:ln w="21590">
            <a:solidFill>
              <a:srgbClr val="6547D8"/>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6931152" y="4114800"/>
            <a:ext cx="292608" cy="0"/>
          </a:xfrm>
          <a:prstGeom prst="line">
            <a:avLst/>
          </a:prstGeom>
          <a:ln w="21590">
            <a:solidFill>
              <a:srgbClr val="6547D8"/>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4379976" y="5440680"/>
            <a:ext cx="246888" cy="0"/>
          </a:xfrm>
          <a:prstGeom prst="line">
            <a:avLst/>
          </a:prstGeom>
          <a:ln w="21590">
            <a:solidFill>
              <a:srgbClr val="6547D8"/>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6931152" y="5440680"/>
            <a:ext cx="292608" cy="0"/>
          </a:xfrm>
          <a:prstGeom prst="line">
            <a:avLst/>
          </a:prstGeom>
          <a:ln w="21590">
            <a:solidFill>
              <a:srgbClr val="6547D8"/>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9317736" y="3429000"/>
            <a:ext cx="0" cy="228600"/>
          </a:xfrm>
          <a:prstGeom prst="line">
            <a:avLst/>
          </a:prstGeom>
          <a:ln w="21590">
            <a:solidFill>
              <a:srgbClr val="6547D8"/>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H="1">
            <a:off x="5815584" y="3547872"/>
            <a:ext cx="3502152" cy="0"/>
          </a:xfrm>
          <a:prstGeom prst="line">
            <a:avLst/>
          </a:prstGeom>
          <a:ln w="21590">
            <a:solidFill>
              <a:srgbClr val="6547D8"/>
            </a:solidFill>
          </a:ln>
          <a:effectLst/>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5815584" y="3547872"/>
            <a:ext cx="0" cy="109728"/>
          </a:xfrm>
          <a:prstGeom prst="line">
            <a:avLst/>
          </a:prstGeom>
          <a:ln w="21590">
            <a:solidFill>
              <a:srgbClr val="6547D8"/>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9317736" y="4754880"/>
            <a:ext cx="0" cy="128016"/>
          </a:xfrm>
          <a:prstGeom prst="line">
            <a:avLst/>
          </a:prstGeom>
          <a:ln w="21590">
            <a:solidFill>
              <a:srgbClr val="6547D8"/>
            </a:solidFill>
          </a:ln>
          <a:effectLst/>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H="1">
            <a:off x="3108960" y="4882896"/>
            <a:ext cx="6208776" cy="0"/>
          </a:xfrm>
          <a:prstGeom prst="line">
            <a:avLst/>
          </a:prstGeom>
          <a:ln w="21590">
            <a:solidFill>
              <a:srgbClr val="6547D8"/>
            </a:solidFill>
          </a:ln>
          <a:effectLst/>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3108960" y="4882896"/>
            <a:ext cx="0" cy="91440"/>
          </a:xfrm>
          <a:prstGeom prst="line">
            <a:avLst/>
          </a:prstGeom>
          <a:ln w="21590">
            <a:solidFill>
              <a:srgbClr val="6547D8"/>
            </a:solidFill>
            <a:tailEnd type="triangle"/>
          </a:ln>
          <a:effectLst/>
        </p:spPr>
        <p:style>
          <a:lnRef idx="2">
            <a:schemeClr val="accent1"/>
          </a:lnRef>
          <a:fillRef idx="0">
            <a:schemeClr val="accent1"/>
          </a:fillRef>
          <a:effectRef idx="1">
            <a:schemeClr val="accent1"/>
          </a:effectRef>
          <a:fontRef idx="minor">
            <a:schemeClr val="tx1"/>
          </a:fontRef>
        </p:style>
      </p:cxnSp>
    </p:spTree>
  </p:cSld>
  <p:clrMapOvr>
    <a:masterClrMapping/>
  </p:clrMapOvr>
  <p:transition spd="fast">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8F9FD"/>
        </a:solidFill>
        <a:effectLst/>
      </p:bgPr>
    </p:bg>
    <p:spTree>
      <p:nvGrpSpPr>
        <p:cNvPr id="118" name="Shape 118"/>
        <p:cNvGrpSpPr/>
        <p:nvPr/>
      </p:nvGrpSpPr>
      <p:grpSpPr>
        <a:xfrm>
          <a:off x="0" y="0"/>
          <a:ext cx="0" cy="0"/>
          <a:chOff x="0" y="0"/>
          <a:chExt cx="0" cy="0"/>
        </a:xfrm>
      </p:grpSpPr>
      <p:sp>
        <p:nvSpPr>
          <p:cNvPr id="119" name="Rectangle 118"/>
          <p:cNvSpPr/>
          <p:nvPr/>
        </p:nvSpPr>
        <p:spPr>
          <a:xfrm>
            <a:off x="502920" y="393192"/>
            <a:ext cx="100584" cy="210312"/>
          </a:xfrm>
          <a:prstGeom prst="rect">
            <a:avLst/>
          </a:prstGeom>
          <a:solidFill>
            <a:srgbClr val="6547D8"/>
          </a:solidFill>
          <a:ln w="10160">
            <a:solidFill>
              <a:srgbClr val="6547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713232" y="365760"/>
            <a:ext cx="1920240" cy="274320"/>
          </a:xfrm>
          <a:prstGeom prst="rect">
            <a:avLst/>
          </a:prstGeom>
          <a:noFill/>
        </p:spPr>
        <p:txBody>
          <a:bodyPr wrap="square" lIns="9144" rIns="9144" tIns="22860" bIns="22860" anchor="t">
            <a:spAutoFit/>
          </a:bodyPr>
          <a:lstStyle/>
          <a:p>
            <a:pPr>
              <a:lnSpc>
                <a:spcPct val="106000"/>
              </a:lnSpc>
              <a:spcBef>
                <a:spcPts val="0"/>
              </a:spcBef>
              <a:spcAft>
                <a:spcPts val="500"/>
              </a:spcAft>
            </a:pPr>
            <a:r>
              <a:rPr sz="1100" b="1">
                <a:solidFill>
                  <a:srgbClr val="6547D8"/>
                </a:solidFill>
                <a:latin typeface="Segoe UI"/>
              </a:rPr>
              <a:t>CODESTRATA</a:t>
            </a:r>
          </a:p>
        </p:txBody>
      </p:sp>
      <p:sp>
        <p:nvSpPr>
          <p:cNvPr id="121" name="TextBox 120"/>
          <p:cNvSpPr txBox="1"/>
          <p:nvPr/>
        </p:nvSpPr>
        <p:spPr>
          <a:xfrm>
            <a:off x="3657600" y="374904"/>
            <a:ext cx="8001000" cy="292608"/>
          </a:xfrm>
          <a:prstGeom prst="rect">
            <a:avLst/>
          </a:prstGeom>
          <a:noFill/>
        </p:spPr>
        <p:txBody>
          <a:bodyPr wrap="square" lIns="9144" rIns="9144" tIns="22860" bIns="22860" anchor="t">
            <a:spAutoFit/>
          </a:bodyPr>
          <a:lstStyle/>
          <a:p>
            <a:pPr algn="r">
              <a:lnSpc>
                <a:spcPct val="106000"/>
              </a:lnSpc>
              <a:spcBef>
                <a:spcPts val="0"/>
              </a:spcBef>
              <a:spcAft>
                <a:spcPts val="500"/>
              </a:spcAft>
            </a:pPr>
            <a:r>
              <a:rPr sz="1000" b="0">
                <a:solidFill>
                  <a:srgbClr val="646B80"/>
                </a:solidFill>
                <a:latin typeface="Segoe UI"/>
              </a:rPr>
              <a:t>DEMO &amp; PRODUCT WALKTHROUGH</a:t>
            </a:r>
          </a:p>
        </p:txBody>
      </p:sp>
      <p:sp>
        <p:nvSpPr>
          <p:cNvPr id="122" name="TextBox 121"/>
          <p:cNvSpPr txBox="1"/>
          <p:nvPr/>
        </p:nvSpPr>
        <p:spPr>
          <a:xfrm>
            <a:off x="502920" y="896112"/>
            <a:ext cx="11109960" cy="868680"/>
          </a:xfrm>
          <a:prstGeom prst="rect">
            <a:avLst/>
          </a:prstGeom>
          <a:noFill/>
        </p:spPr>
        <p:txBody>
          <a:bodyPr wrap="square" lIns="9144" rIns="9144" tIns="22860" bIns="22860" anchor="t">
            <a:spAutoFit/>
          </a:bodyPr>
          <a:lstStyle/>
          <a:p>
            <a:pPr>
              <a:lnSpc>
                <a:spcPct val="106000"/>
              </a:lnSpc>
              <a:spcBef>
                <a:spcPts val="0"/>
              </a:spcBef>
              <a:spcAft>
                <a:spcPts val="500"/>
              </a:spcAft>
            </a:pPr>
            <a:r>
              <a:rPr sz="3400" b="1">
                <a:solidFill>
                  <a:srgbClr val="20243A"/>
                </a:solidFill>
                <a:latin typeface="Segoe UI"/>
              </a:rPr>
              <a:t>An answer you can inspect.</a:t>
            </a:r>
          </a:p>
        </p:txBody>
      </p:sp>
      <p:sp>
        <p:nvSpPr>
          <p:cNvPr id="123" name="TextBox 122"/>
          <p:cNvSpPr txBox="1"/>
          <p:nvPr/>
        </p:nvSpPr>
        <p:spPr>
          <a:xfrm>
            <a:off x="530352" y="1746504"/>
            <a:ext cx="10972800" cy="411480"/>
          </a:xfrm>
          <a:prstGeom prst="rect">
            <a:avLst/>
          </a:prstGeom>
          <a:noFill/>
        </p:spPr>
        <p:txBody>
          <a:bodyPr wrap="square" lIns="9144" rIns="9144" tIns="22860" bIns="22860" anchor="t">
            <a:spAutoFit/>
          </a:bodyPr>
          <a:lstStyle/>
          <a:p>
            <a:pPr>
              <a:lnSpc>
                <a:spcPct val="106000"/>
              </a:lnSpc>
              <a:spcBef>
                <a:spcPts val="0"/>
              </a:spcBef>
              <a:spcAft>
                <a:spcPts val="500"/>
              </a:spcAft>
            </a:pPr>
            <a:r>
              <a:rPr sz="1500" b="0">
                <a:solidFill>
                  <a:srgbClr val="646B80"/>
                </a:solidFill>
                <a:latin typeface="Segoe UI"/>
              </a:rPr>
              <a:t>The agent retrieves a version, checks its static facts, then shows the source that supports and contradicts it.</a:t>
            </a:r>
          </a:p>
        </p:txBody>
      </p:sp>
      <p:cxnSp>
        <p:nvCxnSpPr>
          <p:cNvPr id="124" name="Connector 123"/>
          <p:cNvCxnSpPr/>
          <p:nvPr/>
        </p:nvCxnSpPr>
        <p:spPr>
          <a:xfrm>
            <a:off x="502920" y="6428232"/>
            <a:ext cx="11183112" cy="0"/>
          </a:xfrm>
          <a:prstGeom prst="line">
            <a:avLst/>
          </a:prstGeom>
          <a:ln w="10160">
            <a:solidFill>
              <a:srgbClr val="DFE3EF"/>
            </a:solidFill>
          </a:ln>
          <a:effectLst/>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521207" y="6519672"/>
            <a:ext cx="8961120" cy="201168"/>
          </a:xfrm>
          <a:prstGeom prst="rect">
            <a:avLst/>
          </a:prstGeom>
          <a:noFill/>
        </p:spPr>
        <p:txBody>
          <a:bodyPr wrap="square" lIns="9144" rIns="9144" tIns="22860" bIns="22860" anchor="t">
            <a:spAutoFit/>
          </a:bodyPr>
          <a:lstStyle/>
          <a:p>
            <a:pPr>
              <a:lnSpc>
                <a:spcPct val="106000"/>
              </a:lnSpc>
              <a:spcBef>
                <a:spcPts val="0"/>
              </a:spcBef>
              <a:spcAft>
                <a:spcPts val="500"/>
              </a:spcAft>
            </a:pPr>
            <a:r>
              <a:rPr sz="900" b="0">
                <a:solidFill>
                  <a:srgbClr val="646B80"/>
                </a:solidFill>
                <a:latin typeface="Segoe UI"/>
              </a:rPr>
              <a:t>CODESTRATA  /  AGENTIC CODE INTELLIGENCE</a:t>
            </a:r>
          </a:p>
        </p:txBody>
      </p:sp>
      <p:sp>
        <p:nvSpPr>
          <p:cNvPr id="126" name="TextBox 125"/>
          <p:cNvSpPr txBox="1"/>
          <p:nvPr/>
        </p:nvSpPr>
        <p:spPr>
          <a:xfrm>
            <a:off x="10698480" y="6492240"/>
            <a:ext cx="987552" cy="228600"/>
          </a:xfrm>
          <a:prstGeom prst="rect">
            <a:avLst/>
          </a:prstGeom>
          <a:noFill/>
        </p:spPr>
        <p:txBody>
          <a:bodyPr wrap="square" lIns="9144" rIns="9144" tIns="22860" bIns="22860" anchor="t">
            <a:spAutoFit/>
          </a:bodyPr>
          <a:lstStyle/>
          <a:p>
            <a:r>
              <a:rPr sz="1000" b="1">
                <a:solidFill>
                  <a:srgbClr val="6547D8"/>
                </a:solidFill>
                <a:latin typeface="Segoe UI"/>
              </a:rPr>
              <a:t>08 / 18</a:t>
            </a:r>
          </a:p>
        </p:txBody>
      </p:sp>
      <p:sp>
        <p:nvSpPr>
          <p:cNvPr id="127" name="Rounded Rectangle 126"/>
          <p:cNvSpPr/>
          <p:nvPr/>
        </p:nvSpPr>
        <p:spPr>
          <a:xfrm>
            <a:off x="544068" y="2327148"/>
            <a:ext cx="6675120" cy="3566160"/>
          </a:xfrm>
          <a:prstGeom prst="roundRect">
            <a:avLst>
              <a:gd name="adj" fmla="val 12000"/>
            </a:avLst>
          </a:prstGeom>
          <a:solidFill>
            <a:srgbClr val="FFFFFF"/>
          </a:solidFill>
          <a:ln w="10160">
            <a:solidFill>
              <a:srgbClr val="DF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8" name="Picture 127" descr="investigation.png"/>
          <p:cNvPicPr>
            <a:picLocks noChangeAspect="1"/>
          </p:cNvPicPr>
          <p:nvPr/>
        </p:nvPicPr>
        <p:blipFill>
          <a:blip r:embed="rId3"/>
          <a:stretch>
            <a:fillRect/>
          </a:stretch>
        </p:blipFill>
        <p:spPr>
          <a:xfrm>
            <a:off x="1480451" y="2359152"/>
            <a:ext cx="4802352" cy="3502152"/>
          </a:xfrm>
          <a:prstGeom prst="rect">
            <a:avLst/>
          </a:prstGeom>
        </p:spPr>
      </p:pic>
      <p:sp>
        <p:nvSpPr>
          <p:cNvPr id="129" name="Rounded Rectangle 128"/>
          <p:cNvSpPr/>
          <p:nvPr/>
        </p:nvSpPr>
        <p:spPr>
          <a:xfrm>
            <a:off x="7525512" y="2423160"/>
            <a:ext cx="365760" cy="310896"/>
          </a:xfrm>
          <a:prstGeom prst="roundRect">
            <a:avLst>
              <a:gd name="adj" fmla="val 12000"/>
            </a:avLst>
          </a:prstGeom>
          <a:solidFill>
            <a:srgbClr val="EFEAFF"/>
          </a:solidFill>
          <a:ln w="10160">
            <a:solidFill>
              <a:srgbClr val="EFE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7616952" y="2455164"/>
            <a:ext cx="182880" cy="237744"/>
          </a:xfrm>
          <a:prstGeom prst="rect">
            <a:avLst/>
          </a:prstGeom>
          <a:noFill/>
        </p:spPr>
        <p:txBody>
          <a:bodyPr wrap="square" lIns="9144" rIns="9144" tIns="22860" bIns="22860" anchor="t">
            <a:spAutoFit/>
          </a:bodyPr>
          <a:lstStyle/>
          <a:p>
            <a:pPr>
              <a:lnSpc>
                <a:spcPct val="106000"/>
              </a:lnSpc>
              <a:spcBef>
                <a:spcPts val="0"/>
              </a:spcBef>
              <a:spcAft>
                <a:spcPts val="500"/>
              </a:spcAft>
            </a:pPr>
            <a:r>
              <a:rPr sz="1000" b="1">
                <a:solidFill>
                  <a:srgbClr val="6547D8"/>
                </a:solidFill>
                <a:latin typeface="Segoe UI"/>
              </a:rPr>
              <a:t>1</a:t>
            </a:r>
          </a:p>
        </p:txBody>
      </p:sp>
      <p:sp>
        <p:nvSpPr>
          <p:cNvPr id="131" name="TextBox 130"/>
          <p:cNvSpPr txBox="1"/>
          <p:nvPr/>
        </p:nvSpPr>
        <p:spPr>
          <a:xfrm>
            <a:off x="8074152" y="2395728"/>
            <a:ext cx="3602736" cy="502920"/>
          </a:xfrm>
          <a:prstGeom prst="rect">
            <a:avLst/>
          </a:prstGeom>
          <a:noFill/>
        </p:spPr>
        <p:txBody>
          <a:bodyPr wrap="square" lIns="9144" rIns="9144" tIns="22860" bIns="22860" anchor="t">
            <a:spAutoFit/>
          </a:bodyPr>
          <a:lstStyle/>
          <a:p>
            <a:pPr>
              <a:lnSpc>
                <a:spcPct val="106000"/>
              </a:lnSpc>
              <a:spcBef>
                <a:spcPts val="0"/>
              </a:spcBef>
              <a:spcAft>
                <a:spcPts val="500"/>
              </a:spcAft>
            </a:pPr>
            <a:r>
              <a:rPr sz="1800" b="1">
                <a:solidFill>
                  <a:srgbClr val="20243A"/>
                </a:solidFill>
                <a:latin typeface="Segoe UI"/>
              </a:rPr>
              <a:t>Find pairDevice @ v2</a:t>
            </a:r>
          </a:p>
        </p:txBody>
      </p:sp>
      <p:sp>
        <p:nvSpPr>
          <p:cNvPr id="132" name="TextBox 131"/>
          <p:cNvSpPr txBox="1"/>
          <p:nvPr/>
        </p:nvSpPr>
        <p:spPr>
          <a:xfrm>
            <a:off x="8074152" y="2962656"/>
            <a:ext cx="3557016" cy="502920"/>
          </a:xfrm>
          <a:prstGeom prst="rect">
            <a:avLst/>
          </a:prstGeom>
          <a:noFill/>
        </p:spPr>
        <p:txBody>
          <a:bodyPr wrap="square" lIns="9144" rIns="9144" tIns="22860" bIns="22860" anchor="t">
            <a:spAutoFit/>
          </a:bodyPr>
          <a:lstStyle/>
          <a:p>
            <a:pPr>
              <a:lnSpc>
                <a:spcPct val="106000"/>
              </a:lnSpc>
              <a:spcBef>
                <a:spcPts val="0"/>
              </a:spcBef>
              <a:spcAft>
                <a:spcPts val="500"/>
              </a:spcAft>
            </a:pPr>
            <a:r>
              <a:rPr sz="1400" b="0">
                <a:solidFill>
                  <a:srgbClr val="646B80"/>
                </a:solidFill>
                <a:latin typeface="Segoe UI"/>
              </a:rPr>
              <a:t>Open exact source and line numbers.</a:t>
            </a:r>
          </a:p>
        </p:txBody>
      </p:sp>
      <p:sp>
        <p:nvSpPr>
          <p:cNvPr id="133" name="Rounded Rectangle 132"/>
          <p:cNvSpPr/>
          <p:nvPr/>
        </p:nvSpPr>
        <p:spPr>
          <a:xfrm>
            <a:off x="7525512" y="3520440"/>
            <a:ext cx="365760" cy="310896"/>
          </a:xfrm>
          <a:prstGeom prst="roundRect">
            <a:avLst>
              <a:gd name="adj" fmla="val 12000"/>
            </a:avLst>
          </a:prstGeom>
          <a:solidFill>
            <a:srgbClr val="EFEAFF"/>
          </a:solidFill>
          <a:ln w="10160">
            <a:solidFill>
              <a:srgbClr val="EFE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7616952" y="3552444"/>
            <a:ext cx="182880" cy="237744"/>
          </a:xfrm>
          <a:prstGeom prst="rect">
            <a:avLst/>
          </a:prstGeom>
          <a:noFill/>
        </p:spPr>
        <p:txBody>
          <a:bodyPr wrap="square" lIns="9144" rIns="9144" tIns="22860" bIns="22860" anchor="t">
            <a:spAutoFit/>
          </a:bodyPr>
          <a:lstStyle/>
          <a:p>
            <a:pPr>
              <a:lnSpc>
                <a:spcPct val="106000"/>
              </a:lnSpc>
              <a:spcBef>
                <a:spcPts val="0"/>
              </a:spcBef>
              <a:spcAft>
                <a:spcPts val="500"/>
              </a:spcAft>
            </a:pPr>
            <a:r>
              <a:rPr sz="1000" b="1">
                <a:solidFill>
                  <a:srgbClr val="6547D8"/>
                </a:solidFill>
                <a:latin typeface="Segoe UI"/>
              </a:rPr>
              <a:t>2</a:t>
            </a:r>
          </a:p>
        </p:txBody>
      </p:sp>
      <p:sp>
        <p:nvSpPr>
          <p:cNvPr id="135" name="TextBox 134"/>
          <p:cNvSpPr txBox="1"/>
          <p:nvPr/>
        </p:nvSpPr>
        <p:spPr>
          <a:xfrm>
            <a:off x="8074152" y="3493008"/>
            <a:ext cx="3602736" cy="502920"/>
          </a:xfrm>
          <a:prstGeom prst="rect">
            <a:avLst/>
          </a:prstGeom>
          <a:noFill/>
        </p:spPr>
        <p:txBody>
          <a:bodyPr wrap="square" lIns="9144" rIns="9144" tIns="22860" bIns="22860" anchor="t">
            <a:spAutoFit/>
          </a:bodyPr>
          <a:lstStyle/>
          <a:p>
            <a:pPr>
              <a:lnSpc>
                <a:spcPct val="106000"/>
              </a:lnSpc>
              <a:spcBef>
                <a:spcPts val="0"/>
              </a:spcBef>
              <a:spcAft>
                <a:spcPts val="500"/>
              </a:spcAft>
            </a:pPr>
            <a:r>
              <a:rPr sz="1800" b="1">
                <a:solidFill>
                  <a:srgbClr val="20243A"/>
                </a:solidFill>
                <a:latin typeface="Segoe UI"/>
              </a:rPr>
              <a:t>Compare connectDevice @ v1</a:t>
            </a:r>
          </a:p>
        </p:txBody>
      </p:sp>
      <p:sp>
        <p:nvSpPr>
          <p:cNvPr id="136" name="TextBox 135"/>
          <p:cNvSpPr txBox="1"/>
          <p:nvPr/>
        </p:nvSpPr>
        <p:spPr>
          <a:xfrm>
            <a:off x="8074152" y="4059936"/>
            <a:ext cx="3557016" cy="502920"/>
          </a:xfrm>
          <a:prstGeom prst="rect">
            <a:avLst/>
          </a:prstGeom>
          <a:noFill/>
        </p:spPr>
        <p:txBody>
          <a:bodyPr wrap="square" lIns="9144" rIns="9144" tIns="22860" bIns="22860" anchor="t">
            <a:spAutoFit/>
          </a:bodyPr>
          <a:lstStyle/>
          <a:p>
            <a:pPr>
              <a:lnSpc>
                <a:spcPct val="106000"/>
              </a:lnSpc>
              <a:spcBef>
                <a:spcPts val="0"/>
              </a:spcBef>
              <a:spcAft>
                <a:spcPts val="500"/>
              </a:spcAft>
            </a:pPr>
            <a:r>
              <a:rPr sz="1400" b="0">
                <a:solidFill>
                  <a:srgbClr val="646B80"/>
                </a:solidFill>
                <a:latin typeface="Segoe UI"/>
              </a:rPr>
              <a:t>Inspect the inferred rename / move.</a:t>
            </a:r>
          </a:p>
        </p:txBody>
      </p:sp>
      <p:sp>
        <p:nvSpPr>
          <p:cNvPr id="137" name="Rounded Rectangle 136"/>
          <p:cNvSpPr/>
          <p:nvPr/>
        </p:nvSpPr>
        <p:spPr>
          <a:xfrm>
            <a:off x="7525512" y="4617720"/>
            <a:ext cx="365760" cy="310896"/>
          </a:xfrm>
          <a:prstGeom prst="roundRect">
            <a:avLst>
              <a:gd name="adj" fmla="val 12000"/>
            </a:avLst>
          </a:prstGeom>
          <a:solidFill>
            <a:srgbClr val="EFEAFF"/>
          </a:solidFill>
          <a:ln w="10160">
            <a:solidFill>
              <a:srgbClr val="EFE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7616952" y="4649724"/>
            <a:ext cx="182880" cy="237744"/>
          </a:xfrm>
          <a:prstGeom prst="rect">
            <a:avLst/>
          </a:prstGeom>
          <a:noFill/>
        </p:spPr>
        <p:txBody>
          <a:bodyPr wrap="square" lIns="9144" rIns="9144" tIns="22860" bIns="22860" anchor="t">
            <a:spAutoFit/>
          </a:bodyPr>
          <a:lstStyle/>
          <a:p>
            <a:pPr>
              <a:lnSpc>
                <a:spcPct val="106000"/>
              </a:lnSpc>
              <a:spcBef>
                <a:spcPts val="0"/>
              </a:spcBef>
              <a:spcAft>
                <a:spcPts val="500"/>
              </a:spcAft>
            </a:pPr>
            <a:r>
              <a:rPr sz="1000" b="1">
                <a:solidFill>
                  <a:srgbClr val="6547D8"/>
                </a:solidFill>
                <a:latin typeface="Segoe UI"/>
              </a:rPr>
              <a:t>3</a:t>
            </a:r>
          </a:p>
        </p:txBody>
      </p:sp>
      <p:sp>
        <p:nvSpPr>
          <p:cNvPr id="139" name="TextBox 138"/>
          <p:cNvSpPr txBox="1"/>
          <p:nvPr/>
        </p:nvSpPr>
        <p:spPr>
          <a:xfrm>
            <a:off x="8074152" y="4590288"/>
            <a:ext cx="3602736" cy="502920"/>
          </a:xfrm>
          <a:prstGeom prst="rect">
            <a:avLst/>
          </a:prstGeom>
          <a:noFill/>
        </p:spPr>
        <p:txBody>
          <a:bodyPr wrap="square" lIns="9144" rIns="9144" tIns="22860" bIns="22860" anchor="t">
            <a:spAutoFit/>
          </a:bodyPr>
          <a:lstStyle/>
          <a:p>
            <a:pPr>
              <a:lnSpc>
                <a:spcPct val="106000"/>
              </a:lnSpc>
              <a:spcBef>
                <a:spcPts val="0"/>
              </a:spcBef>
              <a:spcAft>
                <a:spcPts val="500"/>
              </a:spcAft>
            </a:pPr>
            <a:r>
              <a:rPr sz="1800" b="1">
                <a:solidFill>
                  <a:srgbClr val="20243A"/>
                </a:solidFill>
                <a:latin typeface="Segoe UI"/>
              </a:rPr>
              <a:t>Follow policyCheck</a:t>
            </a:r>
          </a:p>
        </p:txBody>
      </p:sp>
      <p:sp>
        <p:nvSpPr>
          <p:cNvPr id="140" name="TextBox 139"/>
          <p:cNvSpPr txBox="1"/>
          <p:nvPr/>
        </p:nvSpPr>
        <p:spPr>
          <a:xfrm>
            <a:off x="8074152" y="5157216"/>
            <a:ext cx="3557016" cy="502920"/>
          </a:xfrm>
          <a:prstGeom prst="rect">
            <a:avLst/>
          </a:prstGeom>
          <a:noFill/>
        </p:spPr>
        <p:txBody>
          <a:bodyPr wrap="square" lIns="9144" rIns="9144" tIns="22860" bIns="22860" anchor="t">
            <a:spAutoFit/>
          </a:bodyPr>
          <a:lstStyle/>
          <a:p>
            <a:pPr>
              <a:lnSpc>
                <a:spcPct val="106000"/>
              </a:lnSpc>
              <a:spcBef>
                <a:spcPts val="0"/>
              </a:spcBef>
              <a:spcAft>
                <a:spcPts val="500"/>
              </a:spcAft>
            </a:pPr>
            <a:r>
              <a:rPr sz="1400" b="0">
                <a:solidFill>
                  <a:srgbClr val="646B80"/>
                </a:solidFill>
                <a:latin typeface="Segoe UI"/>
              </a:rPr>
              <a:t>Navigate the resolved imported helper.</a:t>
            </a:r>
          </a:p>
        </p:txBody>
      </p:sp>
      <p:sp>
        <p:nvSpPr>
          <p:cNvPr id="141" name="Rounded Rectangle 140"/>
          <p:cNvSpPr/>
          <p:nvPr/>
        </p:nvSpPr>
        <p:spPr>
          <a:xfrm>
            <a:off x="585216" y="5980176"/>
            <a:ext cx="11064240" cy="292608"/>
          </a:xfrm>
          <a:prstGeom prst="roundRect">
            <a:avLst>
              <a:gd name="adj" fmla="val 12000"/>
            </a:avLst>
          </a:prstGeom>
          <a:solidFill>
            <a:srgbClr val="EFEAFF"/>
          </a:solidFill>
          <a:ln w="10160">
            <a:solidFill>
              <a:srgbClr val="EFE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749808" y="5998464"/>
            <a:ext cx="10716768" cy="219456"/>
          </a:xfrm>
          <a:prstGeom prst="rect">
            <a:avLst/>
          </a:prstGeom>
          <a:noFill/>
        </p:spPr>
        <p:txBody>
          <a:bodyPr wrap="square" lIns="9144" rIns="9144" tIns="22860" bIns="22860" anchor="t">
            <a:spAutoFit/>
          </a:bodyPr>
          <a:lstStyle/>
          <a:p>
            <a:pPr>
              <a:lnSpc>
                <a:spcPct val="106000"/>
              </a:lnSpc>
              <a:spcBef>
                <a:spcPts val="0"/>
              </a:spcBef>
              <a:spcAft>
                <a:spcPts val="500"/>
              </a:spcAft>
            </a:pPr>
            <a:r>
              <a:rPr sz="1000" b="1">
                <a:solidFill>
                  <a:srgbClr val="6547D8"/>
                </a:solidFill>
                <a:latin typeface="Segoe UI"/>
              </a:rPr>
              <a:t>VIDEO URL: [TEAM TO ADD AFTER RECORDING · 5 MIN MAX]</a:t>
            </a:r>
          </a:p>
        </p:txBody>
      </p:sp>
    </p:spTree>
  </p:cSld>
  <p:clrMapOvr>
    <a:masterClrMapping/>
  </p:clrMapOvr>
  <p:transition spd="fast">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8F9FD"/>
        </a:solidFill>
        <a:effectLst/>
      </p:bgPr>
    </p:bg>
    <p:spTree>
      <p:nvGrpSpPr>
        <p:cNvPr id="124" name="Shape 124"/>
        <p:cNvGrpSpPr/>
        <p:nvPr/>
      </p:nvGrpSpPr>
      <p:grpSpPr>
        <a:xfrm>
          <a:off x="0" y="0"/>
          <a:ext cx="0" cy="0"/>
          <a:chOff x="0" y="0"/>
          <a:chExt cx="0" cy="0"/>
        </a:xfrm>
      </p:grpSpPr>
      <p:sp>
        <p:nvSpPr>
          <p:cNvPr id="125" name="Rectangle 124"/>
          <p:cNvSpPr/>
          <p:nvPr/>
        </p:nvSpPr>
        <p:spPr>
          <a:xfrm>
            <a:off x="502920" y="393192"/>
            <a:ext cx="100584" cy="210312"/>
          </a:xfrm>
          <a:prstGeom prst="rect">
            <a:avLst/>
          </a:prstGeom>
          <a:solidFill>
            <a:srgbClr val="6547D8"/>
          </a:solidFill>
          <a:ln w="10160">
            <a:solidFill>
              <a:srgbClr val="6547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713232" y="365760"/>
            <a:ext cx="1920240" cy="274320"/>
          </a:xfrm>
          <a:prstGeom prst="rect">
            <a:avLst/>
          </a:prstGeom>
          <a:noFill/>
        </p:spPr>
        <p:txBody>
          <a:bodyPr wrap="square" lIns="9144" rIns="9144" tIns="22860" bIns="22860" anchor="t">
            <a:spAutoFit/>
          </a:bodyPr>
          <a:lstStyle/>
          <a:p>
            <a:pPr>
              <a:lnSpc>
                <a:spcPct val="106000"/>
              </a:lnSpc>
              <a:spcBef>
                <a:spcPts val="0"/>
              </a:spcBef>
              <a:spcAft>
                <a:spcPts val="500"/>
              </a:spcAft>
            </a:pPr>
            <a:r>
              <a:rPr sz="1100" b="1">
                <a:solidFill>
                  <a:srgbClr val="6547D8"/>
                </a:solidFill>
                <a:latin typeface="Segoe UI"/>
              </a:rPr>
              <a:t>CODESTRATA</a:t>
            </a:r>
          </a:p>
        </p:txBody>
      </p:sp>
      <p:sp>
        <p:nvSpPr>
          <p:cNvPr id="127" name="TextBox 126"/>
          <p:cNvSpPr txBox="1"/>
          <p:nvPr/>
        </p:nvSpPr>
        <p:spPr>
          <a:xfrm>
            <a:off x="3657600" y="374904"/>
            <a:ext cx="8001000" cy="292608"/>
          </a:xfrm>
          <a:prstGeom prst="rect">
            <a:avLst/>
          </a:prstGeom>
          <a:noFill/>
        </p:spPr>
        <p:txBody>
          <a:bodyPr wrap="square" lIns="9144" rIns="9144" tIns="22860" bIns="22860" anchor="t">
            <a:spAutoFit/>
          </a:bodyPr>
          <a:lstStyle/>
          <a:p>
            <a:pPr algn="r">
              <a:lnSpc>
                <a:spcPct val="106000"/>
              </a:lnSpc>
              <a:spcBef>
                <a:spcPts val="0"/>
              </a:spcBef>
              <a:spcAft>
                <a:spcPts val="500"/>
              </a:spcAft>
            </a:pPr>
            <a:r>
              <a:rPr sz="1000" b="0">
                <a:solidFill>
                  <a:srgbClr val="646B80"/>
                </a:solidFill>
                <a:latin typeface="Segoe UI"/>
              </a:rPr>
              <a:t>TOOLS &amp; TECH STACK</a:t>
            </a:r>
          </a:p>
        </p:txBody>
      </p:sp>
      <p:sp>
        <p:nvSpPr>
          <p:cNvPr id="128" name="TextBox 127"/>
          <p:cNvSpPr txBox="1"/>
          <p:nvPr/>
        </p:nvSpPr>
        <p:spPr>
          <a:xfrm>
            <a:off x="502920" y="896112"/>
            <a:ext cx="11109960" cy="868680"/>
          </a:xfrm>
          <a:prstGeom prst="rect">
            <a:avLst/>
          </a:prstGeom>
          <a:noFill/>
        </p:spPr>
        <p:txBody>
          <a:bodyPr wrap="square" lIns="9144" rIns="9144" tIns="22860" bIns="22860" anchor="t">
            <a:spAutoFit/>
          </a:bodyPr>
          <a:lstStyle/>
          <a:p>
            <a:pPr>
              <a:lnSpc>
                <a:spcPct val="106000"/>
              </a:lnSpc>
              <a:spcBef>
                <a:spcPts val="0"/>
              </a:spcBef>
              <a:spcAft>
                <a:spcPts val="500"/>
              </a:spcAft>
            </a:pPr>
            <a:r>
              <a:rPr sz="3400" b="1">
                <a:solidFill>
                  <a:srgbClr val="20243A"/>
                </a:solidFill>
                <a:latin typeface="Segoe UI"/>
              </a:rPr>
              <a:t>How the investigation actually runs.</a:t>
            </a:r>
          </a:p>
        </p:txBody>
      </p:sp>
      <p:sp>
        <p:nvSpPr>
          <p:cNvPr id="129" name="TextBox 128"/>
          <p:cNvSpPr txBox="1"/>
          <p:nvPr/>
        </p:nvSpPr>
        <p:spPr>
          <a:xfrm>
            <a:off x="530352" y="1746504"/>
            <a:ext cx="10972800" cy="411480"/>
          </a:xfrm>
          <a:prstGeom prst="rect">
            <a:avLst/>
          </a:prstGeom>
          <a:noFill/>
        </p:spPr>
        <p:txBody>
          <a:bodyPr wrap="square" lIns="9144" rIns="9144" tIns="22860" bIns="22860" anchor="t">
            <a:spAutoFit/>
          </a:bodyPr>
          <a:lstStyle/>
          <a:p>
            <a:pPr>
              <a:lnSpc>
                <a:spcPct val="106000"/>
              </a:lnSpc>
              <a:spcBef>
                <a:spcPts val="0"/>
              </a:spcBef>
              <a:spcAft>
                <a:spcPts val="500"/>
              </a:spcAft>
            </a:pPr>
            <a:r>
              <a:rPr sz="1500" b="0">
                <a:solidFill>
                  <a:srgbClr val="646B80"/>
                </a:solidFill>
                <a:latin typeface="Segoe UI"/>
              </a:rPr>
              <a:t>A deterministic local policy records its search, inspection, expansion, and stop decisions.</a:t>
            </a:r>
          </a:p>
        </p:txBody>
      </p:sp>
      <p:cxnSp>
        <p:nvCxnSpPr>
          <p:cNvPr id="130" name="Connector 129"/>
          <p:cNvCxnSpPr/>
          <p:nvPr/>
        </p:nvCxnSpPr>
        <p:spPr>
          <a:xfrm>
            <a:off x="502920" y="6428232"/>
            <a:ext cx="11183112" cy="0"/>
          </a:xfrm>
          <a:prstGeom prst="line">
            <a:avLst/>
          </a:prstGeom>
          <a:ln w="10160">
            <a:solidFill>
              <a:srgbClr val="DFE3EF"/>
            </a:solidFill>
          </a:ln>
          <a:effectLst/>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521207" y="6519672"/>
            <a:ext cx="8961120" cy="201168"/>
          </a:xfrm>
          <a:prstGeom prst="rect">
            <a:avLst/>
          </a:prstGeom>
          <a:noFill/>
        </p:spPr>
        <p:txBody>
          <a:bodyPr wrap="square" lIns="9144" rIns="9144" tIns="22860" bIns="22860" anchor="t">
            <a:spAutoFit/>
          </a:bodyPr>
          <a:lstStyle/>
          <a:p>
            <a:pPr>
              <a:lnSpc>
                <a:spcPct val="106000"/>
              </a:lnSpc>
              <a:spcBef>
                <a:spcPts val="0"/>
              </a:spcBef>
              <a:spcAft>
                <a:spcPts val="500"/>
              </a:spcAft>
            </a:pPr>
            <a:r>
              <a:rPr sz="900" b="0">
                <a:solidFill>
                  <a:srgbClr val="646B80"/>
                </a:solidFill>
                <a:latin typeface="Segoe UI"/>
              </a:rPr>
              <a:t>CODESTRATA  /  AGENTIC CODE INTELLIGENCE</a:t>
            </a:r>
          </a:p>
        </p:txBody>
      </p:sp>
      <p:sp>
        <p:nvSpPr>
          <p:cNvPr id="132" name="TextBox 131"/>
          <p:cNvSpPr txBox="1"/>
          <p:nvPr/>
        </p:nvSpPr>
        <p:spPr>
          <a:xfrm>
            <a:off x="10698480" y="6492240"/>
            <a:ext cx="987552" cy="228600"/>
          </a:xfrm>
          <a:prstGeom prst="rect">
            <a:avLst/>
          </a:prstGeom>
          <a:noFill/>
        </p:spPr>
        <p:txBody>
          <a:bodyPr wrap="square" lIns="9144" rIns="9144" tIns="22860" bIns="22860" anchor="t">
            <a:spAutoFit/>
          </a:bodyPr>
          <a:lstStyle/>
          <a:p>
            <a:r>
              <a:rPr sz="1000" b="1">
                <a:solidFill>
                  <a:srgbClr val="6547D8"/>
                </a:solidFill>
                <a:latin typeface="Segoe UI"/>
              </a:rPr>
              <a:t>10 / 18</a:t>
            </a:r>
          </a:p>
        </p:txBody>
      </p:sp>
      <p:sp>
        <p:nvSpPr>
          <p:cNvPr id="133" name="Rounded Rectangle 132"/>
          <p:cNvSpPr/>
          <p:nvPr/>
        </p:nvSpPr>
        <p:spPr>
          <a:xfrm>
            <a:off x="557784" y="2350008"/>
            <a:ext cx="7662672" cy="768096"/>
          </a:xfrm>
          <a:prstGeom prst="roundRect">
            <a:avLst>
              <a:gd name="adj" fmla="val 12000"/>
            </a:avLst>
          </a:prstGeom>
          <a:solidFill>
            <a:srgbClr val="FFFFFF"/>
          </a:solidFill>
          <a:ln w="10160">
            <a:solidFill>
              <a:srgbClr val="DF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758952" y="2441448"/>
            <a:ext cx="1783080" cy="228600"/>
          </a:xfrm>
          <a:prstGeom prst="rect">
            <a:avLst/>
          </a:prstGeom>
          <a:noFill/>
        </p:spPr>
        <p:txBody>
          <a:bodyPr wrap="square" lIns="9144" rIns="9144" tIns="22860" bIns="22860" anchor="t">
            <a:spAutoFit/>
          </a:bodyPr>
          <a:lstStyle/>
          <a:p>
            <a:pPr>
              <a:lnSpc>
                <a:spcPct val="106000"/>
              </a:lnSpc>
              <a:spcBef>
                <a:spcPts val="0"/>
              </a:spcBef>
              <a:spcAft>
                <a:spcPts val="500"/>
              </a:spcAft>
            </a:pPr>
            <a:r>
              <a:rPr sz="1000" b="1">
                <a:solidFill>
                  <a:srgbClr val="6547D8"/>
                </a:solidFill>
                <a:latin typeface="Segoe UI"/>
              </a:rPr>
              <a:t>01  SOURCE ANALYSIS</a:t>
            </a:r>
          </a:p>
        </p:txBody>
      </p:sp>
      <p:sp>
        <p:nvSpPr>
          <p:cNvPr id="135" name="TextBox 134"/>
          <p:cNvSpPr txBox="1"/>
          <p:nvPr/>
        </p:nvSpPr>
        <p:spPr>
          <a:xfrm>
            <a:off x="2340864" y="2441448"/>
            <a:ext cx="1984248" cy="320040"/>
          </a:xfrm>
          <a:prstGeom prst="rect">
            <a:avLst/>
          </a:prstGeom>
          <a:noFill/>
        </p:spPr>
        <p:txBody>
          <a:bodyPr wrap="square" lIns="9144" rIns="9144" tIns="22860" bIns="22860" anchor="t">
            <a:spAutoFit/>
          </a:bodyPr>
          <a:lstStyle/>
          <a:p>
            <a:pPr>
              <a:lnSpc>
                <a:spcPct val="106000"/>
              </a:lnSpc>
              <a:spcBef>
                <a:spcPts val="0"/>
              </a:spcBef>
              <a:spcAft>
                <a:spcPts val="500"/>
              </a:spcAft>
            </a:pPr>
            <a:r>
              <a:rPr sz="1700" b="1">
                <a:solidFill>
                  <a:srgbClr val="20243A"/>
                </a:solidFill>
                <a:latin typeface="Segoe UI"/>
              </a:rPr>
              <a:t>Babel parser</a:t>
            </a:r>
          </a:p>
        </p:txBody>
      </p:sp>
      <p:sp>
        <p:nvSpPr>
          <p:cNvPr id="136" name="TextBox 135"/>
          <p:cNvSpPr txBox="1"/>
          <p:nvPr/>
        </p:nvSpPr>
        <p:spPr>
          <a:xfrm>
            <a:off x="4325112" y="2432303"/>
            <a:ext cx="3657600" cy="566928"/>
          </a:xfrm>
          <a:prstGeom prst="rect">
            <a:avLst/>
          </a:prstGeom>
          <a:noFill/>
        </p:spPr>
        <p:txBody>
          <a:bodyPr wrap="square" lIns="9144" rIns="9144" tIns="22860" bIns="22860" anchor="t">
            <a:spAutoFit/>
          </a:bodyPr>
          <a:lstStyle/>
          <a:p>
            <a:pPr>
              <a:lnSpc>
                <a:spcPct val="106000"/>
              </a:lnSpc>
              <a:spcBef>
                <a:spcPts val="0"/>
              </a:spcBef>
              <a:spcAft>
                <a:spcPts val="500"/>
              </a:spcAft>
            </a:pPr>
            <a:r>
              <a:rPr sz="1300" b="0">
                <a:solidFill>
                  <a:srgbClr val="646B80"/>
                </a:solidFill>
                <a:latin typeface="Segoe UI"/>
              </a:rPr>
              <a:t>Extract functions, direct awaits, calls, guards, literals and exact source locations.</a:t>
            </a:r>
          </a:p>
        </p:txBody>
      </p:sp>
      <p:sp>
        <p:nvSpPr>
          <p:cNvPr id="137" name="Rounded Rectangle 136"/>
          <p:cNvSpPr/>
          <p:nvPr/>
        </p:nvSpPr>
        <p:spPr>
          <a:xfrm>
            <a:off x="557784" y="3218687"/>
            <a:ext cx="7662672" cy="768096"/>
          </a:xfrm>
          <a:prstGeom prst="roundRect">
            <a:avLst>
              <a:gd name="adj" fmla="val 12000"/>
            </a:avLst>
          </a:prstGeom>
          <a:solidFill>
            <a:srgbClr val="FFFFFF"/>
          </a:solidFill>
          <a:ln w="10160">
            <a:solidFill>
              <a:srgbClr val="DF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758952" y="3310127"/>
            <a:ext cx="1783080" cy="228600"/>
          </a:xfrm>
          <a:prstGeom prst="rect">
            <a:avLst/>
          </a:prstGeom>
          <a:noFill/>
        </p:spPr>
        <p:txBody>
          <a:bodyPr wrap="square" lIns="9144" rIns="9144" tIns="22860" bIns="22860" anchor="t">
            <a:spAutoFit/>
          </a:bodyPr>
          <a:lstStyle/>
          <a:p>
            <a:pPr>
              <a:lnSpc>
                <a:spcPct val="106000"/>
              </a:lnSpc>
              <a:spcBef>
                <a:spcPts val="0"/>
              </a:spcBef>
              <a:spcAft>
                <a:spcPts val="500"/>
              </a:spcAft>
            </a:pPr>
            <a:r>
              <a:rPr sz="1000" b="1">
                <a:solidFill>
                  <a:srgbClr val="6547D8"/>
                </a:solidFill>
                <a:latin typeface="Segoe UI"/>
              </a:rPr>
              <a:t>02  CANDIDATE SEARCH</a:t>
            </a:r>
          </a:p>
        </p:txBody>
      </p:sp>
      <p:sp>
        <p:nvSpPr>
          <p:cNvPr id="139" name="TextBox 138"/>
          <p:cNvSpPr txBox="1"/>
          <p:nvPr/>
        </p:nvSpPr>
        <p:spPr>
          <a:xfrm>
            <a:off x="2340864" y="3310127"/>
            <a:ext cx="1984248" cy="320040"/>
          </a:xfrm>
          <a:prstGeom prst="rect">
            <a:avLst/>
          </a:prstGeom>
          <a:noFill/>
        </p:spPr>
        <p:txBody>
          <a:bodyPr wrap="square" lIns="9144" rIns="9144" tIns="22860" bIns="22860" anchor="t">
            <a:spAutoFit/>
          </a:bodyPr>
          <a:lstStyle/>
          <a:p>
            <a:pPr>
              <a:lnSpc>
                <a:spcPct val="106000"/>
              </a:lnSpc>
              <a:spcBef>
                <a:spcPts val="0"/>
              </a:spcBef>
              <a:spcAft>
                <a:spcPts val="500"/>
              </a:spcAft>
            </a:pPr>
            <a:r>
              <a:rPr sz="1700" b="1">
                <a:solidFill>
                  <a:srgbClr val="20243A"/>
                </a:solidFill>
                <a:latin typeface="Segoe UI"/>
              </a:rPr>
              <a:t>BM25 + vectors</a:t>
            </a:r>
          </a:p>
        </p:txBody>
      </p:sp>
      <p:sp>
        <p:nvSpPr>
          <p:cNvPr id="140" name="TextBox 139"/>
          <p:cNvSpPr txBox="1"/>
          <p:nvPr/>
        </p:nvSpPr>
        <p:spPr>
          <a:xfrm>
            <a:off x="4325112" y="3300983"/>
            <a:ext cx="3657600" cy="566928"/>
          </a:xfrm>
          <a:prstGeom prst="rect">
            <a:avLst/>
          </a:prstGeom>
          <a:noFill/>
        </p:spPr>
        <p:txBody>
          <a:bodyPr wrap="square" lIns="9144" rIns="9144" tIns="22860" bIns="22860" anchor="t">
            <a:spAutoFit/>
          </a:bodyPr>
          <a:lstStyle/>
          <a:p>
            <a:pPr>
              <a:lnSpc>
                <a:spcPct val="106000"/>
              </a:lnSpc>
              <a:spcBef>
                <a:spcPts val="0"/>
              </a:spcBef>
              <a:spcAft>
                <a:spcPts val="500"/>
              </a:spcAft>
            </a:pPr>
            <a:r>
              <a:rPr sz="1300" b="0">
                <a:solidFill>
                  <a:srgbClr val="646B80"/>
                </a:solidFill>
                <a:latin typeface="Segoe UI"/>
              </a:rPr>
              <a:t>Use cached lexical postings and CPU vector rank fusion to retrieve likely functions.</a:t>
            </a:r>
          </a:p>
        </p:txBody>
      </p:sp>
      <p:sp>
        <p:nvSpPr>
          <p:cNvPr id="141" name="Rounded Rectangle 140"/>
          <p:cNvSpPr/>
          <p:nvPr/>
        </p:nvSpPr>
        <p:spPr>
          <a:xfrm>
            <a:off x="557784" y="4087368"/>
            <a:ext cx="7662672" cy="768096"/>
          </a:xfrm>
          <a:prstGeom prst="roundRect">
            <a:avLst>
              <a:gd name="adj" fmla="val 12000"/>
            </a:avLst>
          </a:prstGeom>
          <a:solidFill>
            <a:srgbClr val="FFFFFF"/>
          </a:solidFill>
          <a:ln w="10160">
            <a:solidFill>
              <a:srgbClr val="DF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758952" y="4178807"/>
            <a:ext cx="1783080" cy="228600"/>
          </a:xfrm>
          <a:prstGeom prst="rect">
            <a:avLst/>
          </a:prstGeom>
          <a:noFill/>
        </p:spPr>
        <p:txBody>
          <a:bodyPr wrap="square" lIns="9144" rIns="9144" tIns="22860" bIns="22860" anchor="t">
            <a:spAutoFit/>
          </a:bodyPr>
          <a:lstStyle/>
          <a:p>
            <a:pPr>
              <a:lnSpc>
                <a:spcPct val="106000"/>
              </a:lnSpc>
              <a:spcBef>
                <a:spcPts val="0"/>
              </a:spcBef>
              <a:spcAft>
                <a:spcPts val="500"/>
              </a:spcAft>
            </a:pPr>
            <a:r>
              <a:rPr sz="1000" b="1">
                <a:solidFill>
                  <a:srgbClr val="6547D8"/>
                </a:solidFill>
                <a:latin typeface="Segoe UI"/>
              </a:rPr>
              <a:t>03  EVIDENCE CHECK</a:t>
            </a:r>
          </a:p>
        </p:txBody>
      </p:sp>
      <p:sp>
        <p:nvSpPr>
          <p:cNvPr id="143" name="TextBox 142"/>
          <p:cNvSpPr txBox="1"/>
          <p:nvPr/>
        </p:nvSpPr>
        <p:spPr>
          <a:xfrm>
            <a:off x="2340864" y="4178807"/>
            <a:ext cx="1984248" cy="320040"/>
          </a:xfrm>
          <a:prstGeom prst="rect">
            <a:avLst/>
          </a:prstGeom>
          <a:noFill/>
        </p:spPr>
        <p:txBody>
          <a:bodyPr wrap="square" lIns="9144" rIns="9144" tIns="22860" bIns="22860" anchor="t">
            <a:spAutoFit/>
          </a:bodyPr>
          <a:lstStyle/>
          <a:p>
            <a:pPr>
              <a:lnSpc>
                <a:spcPct val="106000"/>
              </a:lnSpc>
              <a:spcBef>
                <a:spcPts val="0"/>
              </a:spcBef>
              <a:spcAft>
                <a:spcPts val="500"/>
              </a:spcAft>
            </a:pPr>
            <a:r>
              <a:rPr sz="1700" b="1">
                <a:solidFill>
                  <a:srgbClr val="20243A"/>
                </a:solidFill>
                <a:latin typeface="Segoe UI"/>
              </a:rPr>
              <a:t>Bounded agent</a:t>
            </a:r>
          </a:p>
        </p:txBody>
      </p:sp>
      <p:sp>
        <p:nvSpPr>
          <p:cNvPr id="144" name="TextBox 143"/>
          <p:cNvSpPr txBox="1"/>
          <p:nvPr/>
        </p:nvSpPr>
        <p:spPr>
          <a:xfrm>
            <a:off x="4325112" y="4169663"/>
            <a:ext cx="3657600" cy="566928"/>
          </a:xfrm>
          <a:prstGeom prst="rect">
            <a:avLst/>
          </a:prstGeom>
          <a:noFill/>
        </p:spPr>
        <p:txBody>
          <a:bodyPr wrap="square" lIns="9144" rIns="9144" tIns="22860" bIns="22860" anchor="t">
            <a:spAutoFit/>
          </a:bodyPr>
          <a:lstStyle/>
          <a:p>
            <a:pPr>
              <a:lnSpc>
                <a:spcPct val="106000"/>
              </a:lnSpc>
              <a:spcBef>
                <a:spcPts val="0"/>
              </a:spcBef>
              <a:spcAft>
                <a:spcPts val="500"/>
              </a:spcAft>
            </a:pPr>
            <a:r>
              <a:rPr sz="1300" b="0">
                <a:solidFill>
                  <a:srgbClr val="646B80"/>
                </a:solidFill>
                <a:latin typeface="Segoe UI"/>
              </a:rPr>
              <a:t>Inspect supported, contradicted, or uncertain patterns; expand when needed.</a:t>
            </a:r>
          </a:p>
        </p:txBody>
      </p:sp>
      <p:sp>
        <p:nvSpPr>
          <p:cNvPr id="145" name="Rounded Rectangle 144"/>
          <p:cNvSpPr/>
          <p:nvPr/>
        </p:nvSpPr>
        <p:spPr>
          <a:xfrm>
            <a:off x="557784" y="4956048"/>
            <a:ext cx="7662672" cy="768096"/>
          </a:xfrm>
          <a:prstGeom prst="roundRect">
            <a:avLst>
              <a:gd name="adj" fmla="val 12000"/>
            </a:avLst>
          </a:prstGeom>
          <a:solidFill>
            <a:srgbClr val="FFFFFF"/>
          </a:solidFill>
          <a:ln w="10160">
            <a:solidFill>
              <a:srgbClr val="DF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758952" y="5047488"/>
            <a:ext cx="1783080" cy="228600"/>
          </a:xfrm>
          <a:prstGeom prst="rect">
            <a:avLst/>
          </a:prstGeom>
          <a:noFill/>
        </p:spPr>
        <p:txBody>
          <a:bodyPr wrap="square" lIns="9144" rIns="9144" tIns="22860" bIns="22860" anchor="t">
            <a:spAutoFit/>
          </a:bodyPr>
          <a:lstStyle/>
          <a:p>
            <a:pPr>
              <a:lnSpc>
                <a:spcPct val="106000"/>
              </a:lnSpc>
              <a:spcBef>
                <a:spcPts val="0"/>
              </a:spcBef>
              <a:spcAft>
                <a:spcPts val="500"/>
              </a:spcAft>
            </a:pPr>
            <a:r>
              <a:rPr sz="1000" b="1">
                <a:solidFill>
                  <a:srgbClr val="6547D8"/>
                </a:solidFill>
                <a:latin typeface="Segoe UI"/>
              </a:rPr>
              <a:t>04  REVIEWABLE OUTPUT</a:t>
            </a:r>
          </a:p>
        </p:txBody>
      </p:sp>
      <p:sp>
        <p:nvSpPr>
          <p:cNvPr id="147" name="TextBox 146"/>
          <p:cNvSpPr txBox="1"/>
          <p:nvPr/>
        </p:nvSpPr>
        <p:spPr>
          <a:xfrm>
            <a:off x="2340864" y="5047488"/>
            <a:ext cx="1984248" cy="320040"/>
          </a:xfrm>
          <a:prstGeom prst="rect">
            <a:avLst/>
          </a:prstGeom>
          <a:noFill/>
        </p:spPr>
        <p:txBody>
          <a:bodyPr wrap="square" lIns="9144" rIns="9144" tIns="22860" bIns="22860" anchor="t">
            <a:spAutoFit/>
          </a:bodyPr>
          <a:lstStyle/>
          <a:p>
            <a:pPr>
              <a:lnSpc>
                <a:spcPct val="106000"/>
              </a:lnSpc>
              <a:spcBef>
                <a:spcPts val="0"/>
              </a:spcBef>
              <a:spcAft>
                <a:spcPts val="500"/>
              </a:spcAft>
            </a:pPr>
            <a:r>
              <a:rPr sz="1700" b="1">
                <a:solidFill>
                  <a:srgbClr val="20243A"/>
                </a:solidFill>
                <a:latin typeface="Segoe UI"/>
              </a:rPr>
              <a:t>Node.js + browser</a:t>
            </a:r>
          </a:p>
        </p:txBody>
      </p:sp>
      <p:sp>
        <p:nvSpPr>
          <p:cNvPr id="148" name="TextBox 147"/>
          <p:cNvSpPr txBox="1"/>
          <p:nvPr/>
        </p:nvSpPr>
        <p:spPr>
          <a:xfrm>
            <a:off x="4325112" y="5038344"/>
            <a:ext cx="3657600" cy="566928"/>
          </a:xfrm>
          <a:prstGeom prst="rect">
            <a:avLst/>
          </a:prstGeom>
          <a:noFill/>
        </p:spPr>
        <p:txBody>
          <a:bodyPr wrap="square" lIns="9144" rIns="9144" tIns="22860" bIns="22860" anchor="t">
            <a:spAutoFit/>
          </a:bodyPr>
          <a:lstStyle/>
          <a:p>
            <a:pPr>
              <a:lnSpc>
                <a:spcPct val="106000"/>
              </a:lnSpc>
              <a:spcBef>
                <a:spcPts val="0"/>
              </a:spcBef>
              <a:spcAft>
                <a:spcPts val="500"/>
              </a:spcAft>
            </a:pPr>
            <a:r>
              <a:rPr sz="1300" b="0">
                <a:solidFill>
                  <a:srgbClr val="646B80"/>
                </a:solidFill>
                <a:latin typeface="Segoe UI"/>
              </a:rPr>
              <a:t>Stream the real decision trace, show source, and follow linked helpers.</a:t>
            </a:r>
          </a:p>
        </p:txBody>
      </p:sp>
      <p:sp>
        <p:nvSpPr>
          <p:cNvPr id="149" name="Rounded Rectangle 148"/>
          <p:cNvSpPr/>
          <p:nvPr/>
        </p:nvSpPr>
        <p:spPr>
          <a:xfrm>
            <a:off x="8449056" y="2350008"/>
            <a:ext cx="3200400" cy="4059936"/>
          </a:xfrm>
          <a:prstGeom prst="roundRect">
            <a:avLst>
              <a:gd name="adj" fmla="val 12000"/>
            </a:avLst>
          </a:prstGeom>
          <a:solidFill>
            <a:srgbClr val="FFFFFF"/>
          </a:solidFill>
          <a:ln w="10160">
            <a:solidFill>
              <a:srgbClr val="DF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8668512" y="2514600"/>
            <a:ext cx="2770632" cy="274320"/>
          </a:xfrm>
          <a:prstGeom prst="rect">
            <a:avLst/>
          </a:prstGeom>
          <a:noFill/>
        </p:spPr>
        <p:txBody>
          <a:bodyPr wrap="square" lIns="9144" rIns="9144" tIns="22860" bIns="22860" anchor="t">
            <a:spAutoFit/>
          </a:bodyPr>
          <a:lstStyle/>
          <a:p>
            <a:pPr>
              <a:lnSpc>
                <a:spcPct val="106000"/>
              </a:lnSpc>
              <a:spcBef>
                <a:spcPts val="0"/>
              </a:spcBef>
              <a:spcAft>
                <a:spcPts val="500"/>
              </a:spcAft>
            </a:pPr>
            <a:r>
              <a:rPr sz="1000" b="1">
                <a:solidFill>
                  <a:srgbClr val="6547D8"/>
                </a:solidFill>
                <a:latin typeface="Segoe UI"/>
              </a:rPr>
              <a:t>LIVE AGENT TRACE</a:t>
            </a:r>
          </a:p>
        </p:txBody>
      </p:sp>
      <p:sp>
        <p:nvSpPr>
          <p:cNvPr id="151" name="Rounded Rectangle 150"/>
          <p:cNvSpPr/>
          <p:nvPr/>
        </p:nvSpPr>
        <p:spPr>
          <a:xfrm>
            <a:off x="8581644" y="2866644"/>
            <a:ext cx="2935224" cy="3255264"/>
          </a:xfrm>
          <a:prstGeom prst="roundRect">
            <a:avLst>
              <a:gd name="adj" fmla="val 12000"/>
            </a:avLst>
          </a:prstGeom>
          <a:solidFill>
            <a:srgbClr val="FFFFFF"/>
          </a:solidFill>
          <a:ln w="10160">
            <a:solidFill>
              <a:srgbClr val="DF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2" name="Picture 151" descr="agent-trace.png"/>
          <p:cNvPicPr>
            <a:picLocks noChangeAspect="1"/>
          </p:cNvPicPr>
          <p:nvPr/>
        </p:nvPicPr>
        <p:blipFill>
          <a:blip r:embed="rId3"/>
          <a:stretch>
            <a:fillRect/>
          </a:stretch>
        </p:blipFill>
        <p:spPr>
          <a:xfrm>
            <a:off x="9189851" y="2898648"/>
            <a:ext cx="1718809" cy="3191256"/>
          </a:xfrm>
          <a:prstGeom prst="rect">
            <a:avLst/>
          </a:prstGeom>
        </p:spPr>
      </p:pic>
      <p:sp>
        <p:nvSpPr>
          <p:cNvPr id="153" name="Rounded Rectangle 152"/>
          <p:cNvSpPr/>
          <p:nvPr/>
        </p:nvSpPr>
        <p:spPr>
          <a:xfrm>
            <a:off x="557784" y="5980176"/>
            <a:ext cx="7662672" cy="411480"/>
          </a:xfrm>
          <a:prstGeom prst="roundRect">
            <a:avLst>
              <a:gd name="adj" fmla="val 12000"/>
            </a:avLst>
          </a:prstGeom>
          <a:solidFill>
            <a:srgbClr val="EFEAFF"/>
          </a:solidFill>
          <a:ln w="10160">
            <a:solidFill>
              <a:srgbClr val="EFE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768096" y="6062472"/>
            <a:ext cx="7296912" cy="246888"/>
          </a:xfrm>
          <a:prstGeom prst="rect">
            <a:avLst/>
          </a:prstGeom>
          <a:noFill/>
        </p:spPr>
        <p:txBody>
          <a:bodyPr wrap="square" lIns="9144" rIns="9144" tIns="22860" bIns="22860" anchor="t">
            <a:spAutoFit/>
          </a:bodyPr>
          <a:lstStyle/>
          <a:p>
            <a:pPr>
              <a:lnSpc>
                <a:spcPct val="106000"/>
              </a:lnSpc>
              <a:spcBef>
                <a:spcPts val="0"/>
              </a:spcBef>
              <a:spcAft>
                <a:spcPts val="500"/>
              </a:spcAft>
            </a:pPr>
            <a:r>
              <a:rPr sz="1200" b="1">
                <a:solidFill>
                  <a:srgbClr val="6547D8"/>
                </a:solidFill>
                <a:latin typeface="Segoe UI"/>
              </a:rPr>
              <a:t>Default: offline feature hashing  •  Optional: BGE / Jina Code / MiniLM q8</a:t>
            </a:r>
          </a:p>
        </p:txBody>
      </p:sp>
    </p:spTree>
  </p:cSld>
  <p:clrMapOvr>
    <a:masterClrMapping/>
  </p:clrMapOvr>
  <p:transition spd="fast">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8F9FD"/>
        </a:solidFill>
        <a:effectLst/>
      </p:bgPr>
    </p:bg>
    <p:spTree>
      <p:nvGrpSpPr>
        <p:cNvPr id="130" name="Shape 130"/>
        <p:cNvGrpSpPr/>
        <p:nvPr/>
      </p:nvGrpSpPr>
      <p:grpSpPr>
        <a:xfrm>
          <a:off x="0" y="0"/>
          <a:ext cx="0" cy="0"/>
          <a:chOff x="0" y="0"/>
          <a:chExt cx="0" cy="0"/>
        </a:xfrm>
      </p:grpSpPr>
      <p:sp>
        <p:nvSpPr>
          <p:cNvPr id="131" name="Rectangle 130"/>
          <p:cNvSpPr/>
          <p:nvPr/>
        </p:nvSpPr>
        <p:spPr>
          <a:xfrm>
            <a:off x="502920" y="393192"/>
            <a:ext cx="100584" cy="210312"/>
          </a:xfrm>
          <a:prstGeom prst="rect">
            <a:avLst/>
          </a:prstGeom>
          <a:solidFill>
            <a:srgbClr val="6547D8"/>
          </a:solidFill>
          <a:ln w="10160">
            <a:solidFill>
              <a:srgbClr val="6547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713232" y="365760"/>
            <a:ext cx="1920240" cy="274320"/>
          </a:xfrm>
          <a:prstGeom prst="rect">
            <a:avLst/>
          </a:prstGeom>
          <a:noFill/>
        </p:spPr>
        <p:txBody>
          <a:bodyPr wrap="square" lIns="9144" rIns="9144" tIns="22860" bIns="22860" anchor="t">
            <a:spAutoFit/>
          </a:bodyPr>
          <a:lstStyle/>
          <a:p>
            <a:pPr>
              <a:lnSpc>
                <a:spcPct val="106000"/>
              </a:lnSpc>
              <a:spcBef>
                <a:spcPts val="0"/>
              </a:spcBef>
              <a:spcAft>
                <a:spcPts val="500"/>
              </a:spcAft>
            </a:pPr>
            <a:r>
              <a:rPr sz="1100" b="1">
                <a:solidFill>
                  <a:srgbClr val="6547D8"/>
                </a:solidFill>
                <a:latin typeface="Segoe UI"/>
              </a:rPr>
              <a:t>CODESTRATA</a:t>
            </a:r>
          </a:p>
        </p:txBody>
      </p:sp>
      <p:sp>
        <p:nvSpPr>
          <p:cNvPr id="133" name="TextBox 132"/>
          <p:cNvSpPr txBox="1"/>
          <p:nvPr/>
        </p:nvSpPr>
        <p:spPr>
          <a:xfrm>
            <a:off x="3657600" y="374904"/>
            <a:ext cx="8001000" cy="292608"/>
          </a:xfrm>
          <a:prstGeom prst="rect">
            <a:avLst/>
          </a:prstGeom>
          <a:noFill/>
        </p:spPr>
        <p:txBody>
          <a:bodyPr wrap="square" lIns="9144" rIns="9144" tIns="22860" bIns="22860" anchor="t">
            <a:spAutoFit/>
          </a:bodyPr>
          <a:lstStyle/>
          <a:p>
            <a:pPr algn="r">
              <a:lnSpc>
                <a:spcPct val="106000"/>
              </a:lnSpc>
              <a:spcBef>
                <a:spcPts val="0"/>
              </a:spcBef>
              <a:spcAft>
                <a:spcPts val="500"/>
              </a:spcAft>
            </a:pPr>
            <a:r>
              <a:rPr sz="1000" b="0">
                <a:solidFill>
                  <a:srgbClr val="646B80"/>
                </a:solidFill>
                <a:latin typeface="Segoe UI"/>
              </a:rPr>
              <a:t>IMPACT &amp; USE CASES</a:t>
            </a:r>
          </a:p>
        </p:txBody>
      </p:sp>
      <p:sp>
        <p:nvSpPr>
          <p:cNvPr id="134" name="TextBox 133"/>
          <p:cNvSpPr txBox="1"/>
          <p:nvPr/>
        </p:nvSpPr>
        <p:spPr>
          <a:xfrm>
            <a:off x="502920" y="896112"/>
            <a:ext cx="11109960" cy="868680"/>
          </a:xfrm>
          <a:prstGeom prst="rect">
            <a:avLst/>
          </a:prstGeom>
          <a:noFill/>
        </p:spPr>
        <p:txBody>
          <a:bodyPr wrap="square" lIns="9144" rIns="9144" tIns="22860" bIns="22860" anchor="t">
            <a:spAutoFit/>
          </a:bodyPr>
          <a:lstStyle/>
          <a:p>
            <a:pPr>
              <a:lnSpc>
                <a:spcPct val="106000"/>
              </a:lnSpc>
              <a:spcBef>
                <a:spcPts val="0"/>
              </a:spcBef>
              <a:spcAft>
                <a:spcPts val="500"/>
              </a:spcAft>
            </a:pPr>
            <a:r>
              <a:rPr sz="3400" b="1">
                <a:solidFill>
                  <a:srgbClr val="20243A"/>
                </a:solidFill>
                <a:latin typeface="Segoe UI"/>
              </a:rPr>
              <a:t>Less history to reconstruct by hand.</a:t>
            </a:r>
          </a:p>
        </p:txBody>
      </p:sp>
      <p:sp>
        <p:nvSpPr>
          <p:cNvPr id="135" name="TextBox 134"/>
          <p:cNvSpPr txBox="1"/>
          <p:nvPr/>
        </p:nvSpPr>
        <p:spPr>
          <a:xfrm>
            <a:off x="530352" y="1746504"/>
            <a:ext cx="10972800" cy="411480"/>
          </a:xfrm>
          <a:prstGeom prst="rect">
            <a:avLst/>
          </a:prstGeom>
          <a:noFill/>
        </p:spPr>
        <p:txBody>
          <a:bodyPr wrap="square" lIns="9144" rIns="9144" tIns="22860" bIns="22860" anchor="t">
            <a:spAutoFit/>
          </a:bodyPr>
          <a:lstStyle/>
          <a:p>
            <a:pPr>
              <a:lnSpc>
                <a:spcPct val="106000"/>
              </a:lnSpc>
              <a:spcBef>
                <a:spcPts val="0"/>
              </a:spcBef>
              <a:spcAft>
                <a:spcPts val="500"/>
              </a:spcAft>
            </a:pPr>
            <a:r>
              <a:rPr sz="1500" b="0">
                <a:solidFill>
                  <a:srgbClr val="646B80"/>
                </a:solidFill>
                <a:latin typeface="Segoe UI"/>
              </a:rPr>
              <a:t>Designed for reviewers investigating a specific behavior change.</a:t>
            </a:r>
          </a:p>
        </p:txBody>
      </p:sp>
      <p:cxnSp>
        <p:nvCxnSpPr>
          <p:cNvPr id="136" name="Connector 135"/>
          <p:cNvCxnSpPr/>
          <p:nvPr/>
        </p:nvCxnSpPr>
        <p:spPr>
          <a:xfrm>
            <a:off x="502920" y="6428232"/>
            <a:ext cx="11183112" cy="0"/>
          </a:xfrm>
          <a:prstGeom prst="line">
            <a:avLst/>
          </a:prstGeom>
          <a:ln w="10160">
            <a:solidFill>
              <a:srgbClr val="DFE3EF"/>
            </a:solidFill>
          </a:ln>
          <a:effectLst/>
        </p:spPr>
        <p:style>
          <a:lnRef idx="2">
            <a:schemeClr val="accent1"/>
          </a:lnRef>
          <a:fillRef idx="0">
            <a:schemeClr val="accent1"/>
          </a:fillRef>
          <a:effectRef idx="1">
            <a:schemeClr val="accent1"/>
          </a:effectRef>
          <a:fontRef idx="minor">
            <a:schemeClr val="tx1"/>
          </a:fontRef>
        </p:style>
      </p:cxnSp>
      <p:sp>
        <p:nvSpPr>
          <p:cNvPr id="137" name="TextBox 136"/>
          <p:cNvSpPr txBox="1"/>
          <p:nvPr/>
        </p:nvSpPr>
        <p:spPr>
          <a:xfrm>
            <a:off x="521207" y="6519672"/>
            <a:ext cx="8961120" cy="201168"/>
          </a:xfrm>
          <a:prstGeom prst="rect">
            <a:avLst/>
          </a:prstGeom>
          <a:noFill/>
        </p:spPr>
        <p:txBody>
          <a:bodyPr wrap="square" lIns="9144" rIns="9144" tIns="22860" bIns="22860" anchor="t">
            <a:spAutoFit/>
          </a:bodyPr>
          <a:lstStyle/>
          <a:p>
            <a:pPr>
              <a:lnSpc>
                <a:spcPct val="106000"/>
              </a:lnSpc>
              <a:spcBef>
                <a:spcPts val="0"/>
              </a:spcBef>
              <a:spcAft>
                <a:spcPts val="500"/>
              </a:spcAft>
            </a:pPr>
            <a:r>
              <a:rPr sz="900" b="0">
                <a:solidFill>
                  <a:srgbClr val="646B80"/>
                </a:solidFill>
                <a:latin typeface="Segoe UI"/>
              </a:rPr>
              <a:t>CODESTRATA  /  AGENTIC CODE INTELLIGENCE</a:t>
            </a:r>
          </a:p>
        </p:txBody>
      </p:sp>
      <p:sp>
        <p:nvSpPr>
          <p:cNvPr id="138" name="TextBox 137"/>
          <p:cNvSpPr txBox="1"/>
          <p:nvPr/>
        </p:nvSpPr>
        <p:spPr>
          <a:xfrm>
            <a:off x="10698480" y="6492240"/>
            <a:ext cx="987552" cy="228600"/>
          </a:xfrm>
          <a:prstGeom prst="rect">
            <a:avLst/>
          </a:prstGeom>
          <a:noFill/>
        </p:spPr>
        <p:txBody>
          <a:bodyPr wrap="square" lIns="9144" rIns="9144" tIns="22860" bIns="22860" anchor="t">
            <a:spAutoFit/>
          </a:bodyPr>
          <a:lstStyle/>
          <a:p>
            <a:r>
              <a:rPr sz="1000" b="1">
                <a:solidFill>
                  <a:srgbClr val="6547D8"/>
                </a:solidFill>
                <a:latin typeface="Segoe UI"/>
              </a:rPr>
              <a:t>13 / 18</a:t>
            </a:r>
          </a:p>
        </p:txBody>
      </p:sp>
      <p:sp>
        <p:nvSpPr>
          <p:cNvPr id="139" name="Rounded Rectangle 138"/>
          <p:cNvSpPr/>
          <p:nvPr/>
        </p:nvSpPr>
        <p:spPr>
          <a:xfrm>
            <a:off x="548640" y="2450592"/>
            <a:ext cx="3447288" cy="2871216"/>
          </a:xfrm>
          <a:prstGeom prst="roundRect">
            <a:avLst>
              <a:gd name="adj" fmla="val 12000"/>
            </a:avLst>
          </a:prstGeom>
          <a:solidFill>
            <a:srgbClr val="EFEAFF"/>
          </a:solidFill>
          <a:ln w="10160">
            <a:solidFill>
              <a:srgbClr val="DF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749808" y="2615184"/>
            <a:ext cx="3044952" cy="365760"/>
          </a:xfrm>
          <a:prstGeom prst="rect">
            <a:avLst/>
          </a:prstGeom>
          <a:noFill/>
        </p:spPr>
        <p:txBody>
          <a:bodyPr wrap="square" lIns="9144" rIns="9144" tIns="22860" bIns="22860" anchor="t">
            <a:spAutoFit/>
          </a:bodyPr>
          <a:lstStyle/>
          <a:p>
            <a:pPr>
              <a:lnSpc>
                <a:spcPct val="106000"/>
              </a:lnSpc>
              <a:spcBef>
                <a:spcPts val="0"/>
              </a:spcBef>
              <a:spcAft>
                <a:spcPts val="500"/>
              </a:spcAft>
            </a:pPr>
            <a:r>
              <a:rPr sz="2300" b="1">
                <a:solidFill>
                  <a:srgbClr val="6547D8"/>
                </a:solidFill>
                <a:latin typeface="Segoe UI"/>
              </a:rPr>
              <a:t>01</a:t>
            </a:r>
          </a:p>
        </p:txBody>
      </p:sp>
      <p:sp>
        <p:nvSpPr>
          <p:cNvPr id="141" name="TextBox 140"/>
          <p:cNvSpPr txBox="1"/>
          <p:nvPr/>
        </p:nvSpPr>
        <p:spPr>
          <a:xfrm>
            <a:off x="749808" y="3118104"/>
            <a:ext cx="3044952" cy="749808"/>
          </a:xfrm>
          <a:prstGeom prst="rect">
            <a:avLst/>
          </a:prstGeom>
          <a:noFill/>
        </p:spPr>
        <p:txBody>
          <a:bodyPr wrap="square" lIns="9144" rIns="9144" tIns="22860" bIns="22860" anchor="t">
            <a:spAutoFit/>
          </a:bodyPr>
          <a:lstStyle/>
          <a:p>
            <a:pPr>
              <a:lnSpc>
                <a:spcPct val="106000"/>
              </a:lnSpc>
              <a:spcBef>
                <a:spcPts val="0"/>
              </a:spcBef>
              <a:spcAft>
                <a:spcPts val="500"/>
              </a:spcAft>
            </a:pPr>
            <a:r>
              <a:rPr sz="2200" b="1">
                <a:solidFill>
                  <a:srgbClr val="20243A"/>
                </a:solidFill>
                <a:latin typeface="Segoe UI"/>
              </a:rPr>
              <a:t>Refactor review</a:t>
            </a:r>
          </a:p>
        </p:txBody>
      </p:sp>
      <p:sp>
        <p:nvSpPr>
          <p:cNvPr id="142" name="TextBox 141"/>
          <p:cNvSpPr txBox="1"/>
          <p:nvPr/>
        </p:nvSpPr>
        <p:spPr>
          <a:xfrm>
            <a:off x="749808" y="3959352"/>
            <a:ext cx="3044952" cy="1252728"/>
          </a:xfrm>
          <a:prstGeom prst="rect">
            <a:avLst/>
          </a:prstGeom>
          <a:noFill/>
        </p:spPr>
        <p:txBody>
          <a:bodyPr wrap="square" lIns="9144" rIns="9144" tIns="22860" bIns="22860" anchor="t">
            <a:spAutoFit/>
          </a:bodyPr>
          <a:lstStyle/>
          <a:p>
            <a:pPr>
              <a:lnSpc>
                <a:spcPct val="106000"/>
              </a:lnSpc>
              <a:spcBef>
                <a:spcPts val="0"/>
              </a:spcBef>
              <a:spcAft>
                <a:spcPts val="500"/>
              </a:spcAft>
            </a:pPr>
            <a:r>
              <a:rPr sz="1600" b="0">
                <a:solidFill>
                  <a:srgbClr val="646B80"/>
                </a:solidFill>
                <a:latin typeface="Segoe UI"/>
              </a:rPr>
              <a:t>Follow a function after a rename or move.</a:t>
            </a:r>
          </a:p>
          <a:p>
            <a:pPr>
              <a:lnSpc>
                <a:spcPct val="106000"/>
              </a:lnSpc>
              <a:spcBef>
                <a:spcPts val="0"/>
              </a:spcBef>
              <a:spcAft>
                <a:spcPts val="500"/>
              </a:spcAft>
            </a:pPr>
            <a:r>
              <a:rPr sz="1600" b="0">
                <a:solidFill>
                  <a:srgbClr val="646B80"/>
                </a:solidFill>
                <a:latin typeface="Segoe UI"/>
              </a:rPr>
              <a:t>Inspect whether its await pattern changed.</a:t>
            </a:r>
          </a:p>
        </p:txBody>
      </p:sp>
      <p:sp>
        <p:nvSpPr>
          <p:cNvPr id="143" name="Rounded Rectangle 142"/>
          <p:cNvSpPr/>
          <p:nvPr/>
        </p:nvSpPr>
        <p:spPr>
          <a:xfrm>
            <a:off x="4370832" y="2450592"/>
            <a:ext cx="3447288" cy="2871216"/>
          </a:xfrm>
          <a:prstGeom prst="roundRect">
            <a:avLst>
              <a:gd name="adj" fmla="val 12000"/>
            </a:avLst>
          </a:prstGeom>
          <a:solidFill>
            <a:srgbClr val="FFF0E5"/>
          </a:solidFill>
          <a:ln w="10160">
            <a:solidFill>
              <a:srgbClr val="DF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4572000" y="2615184"/>
            <a:ext cx="3044952" cy="365760"/>
          </a:xfrm>
          <a:prstGeom prst="rect">
            <a:avLst/>
          </a:prstGeom>
          <a:noFill/>
        </p:spPr>
        <p:txBody>
          <a:bodyPr wrap="square" lIns="9144" rIns="9144" tIns="22860" bIns="22860" anchor="t">
            <a:spAutoFit/>
          </a:bodyPr>
          <a:lstStyle/>
          <a:p>
            <a:pPr>
              <a:lnSpc>
                <a:spcPct val="106000"/>
              </a:lnSpc>
              <a:spcBef>
                <a:spcPts val="0"/>
              </a:spcBef>
              <a:spcAft>
                <a:spcPts val="500"/>
              </a:spcAft>
            </a:pPr>
            <a:r>
              <a:rPr sz="2300" b="1">
                <a:solidFill>
                  <a:srgbClr val="6547D8"/>
                </a:solidFill>
                <a:latin typeface="Segoe UI"/>
              </a:rPr>
              <a:t>02</a:t>
            </a:r>
          </a:p>
        </p:txBody>
      </p:sp>
      <p:sp>
        <p:nvSpPr>
          <p:cNvPr id="145" name="TextBox 144"/>
          <p:cNvSpPr txBox="1"/>
          <p:nvPr/>
        </p:nvSpPr>
        <p:spPr>
          <a:xfrm>
            <a:off x="4572000" y="3118104"/>
            <a:ext cx="3044952" cy="749808"/>
          </a:xfrm>
          <a:prstGeom prst="rect">
            <a:avLst/>
          </a:prstGeom>
          <a:noFill/>
        </p:spPr>
        <p:txBody>
          <a:bodyPr wrap="square" lIns="9144" rIns="9144" tIns="22860" bIns="22860" anchor="t">
            <a:spAutoFit/>
          </a:bodyPr>
          <a:lstStyle/>
          <a:p>
            <a:pPr>
              <a:lnSpc>
                <a:spcPct val="106000"/>
              </a:lnSpc>
              <a:spcBef>
                <a:spcPts val="0"/>
              </a:spcBef>
              <a:spcAft>
                <a:spcPts val="500"/>
              </a:spcAft>
            </a:pPr>
            <a:r>
              <a:rPr sz="2200" b="1">
                <a:solidFill>
                  <a:srgbClr val="20243A"/>
                </a:solidFill>
                <a:latin typeface="Segoe UI"/>
              </a:rPr>
              <a:t>Regression triage</a:t>
            </a:r>
          </a:p>
        </p:txBody>
      </p:sp>
      <p:sp>
        <p:nvSpPr>
          <p:cNvPr id="146" name="TextBox 145"/>
          <p:cNvSpPr txBox="1"/>
          <p:nvPr/>
        </p:nvSpPr>
        <p:spPr>
          <a:xfrm>
            <a:off x="4572000" y="3959352"/>
            <a:ext cx="3044952" cy="1252728"/>
          </a:xfrm>
          <a:prstGeom prst="rect">
            <a:avLst/>
          </a:prstGeom>
          <a:noFill/>
        </p:spPr>
        <p:txBody>
          <a:bodyPr wrap="square" lIns="9144" rIns="9144" tIns="22860" bIns="22860" anchor="t">
            <a:spAutoFit/>
          </a:bodyPr>
          <a:lstStyle/>
          <a:p>
            <a:pPr>
              <a:lnSpc>
                <a:spcPct val="106000"/>
              </a:lnSpc>
              <a:spcBef>
                <a:spcPts val="0"/>
              </a:spcBef>
              <a:spcAft>
                <a:spcPts val="500"/>
              </a:spcAft>
            </a:pPr>
            <a:r>
              <a:rPr sz="1600" b="0">
                <a:solidFill>
                  <a:srgbClr val="646B80"/>
                </a:solidFill>
                <a:latin typeface="Segoe UI"/>
              </a:rPr>
              <a:t>Locate a changed guard or invocation order.</a:t>
            </a:r>
          </a:p>
          <a:p>
            <a:pPr>
              <a:lnSpc>
                <a:spcPct val="106000"/>
              </a:lnSpc>
              <a:spcBef>
                <a:spcPts val="0"/>
              </a:spcBef>
              <a:spcAft>
                <a:spcPts val="500"/>
              </a:spcAft>
            </a:pPr>
            <a:r>
              <a:rPr sz="1600" b="0">
                <a:solidFill>
                  <a:srgbClr val="646B80"/>
                </a:solidFill>
                <a:latin typeface="Segoe UI"/>
              </a:rPr>
              <a:t>Compare the neighboring source version.</a:t>
            </a:r>
          </a:p>
        </p:txBody>
      </p:sp>
      <p:sp>
        <p:nvSpPr>
          <p:cNvPr id="147" name="Rounded Rectangle 146"/>
          <p:cNvSpPr/>
          <p:nvPr/>
        </p:nvSpPr>
        <p:spPr>
          <a:xfrm>
            <a:off x="8193024" y="2450592"/>
            <a:ext cx="3447288" cy="2871216"/>
          </a:xfrm>
          <a:prstGeom prst="roundRect">
            <a:avLst>
              <a:gd name="adj" fmla="val 12000"/>
            </a:avLst>
          </a:prstGeom>
          <a:solidFill>
            <a:srgbClr val="E9F7F1"/>
          </a:solidFill>
          <a:ln w="10160">
            <a:solidFill>
              <a:srgbClr val="DF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8394192" y="2615184"/>
            <a:ext cx="3044952" cy="365760"/>
          </a:xfrm>
          <a:prstGeom prst="rect">
            <a:avLst/>
          </a:prstGeom>
          <a:noFill/>
        </p:spPr>
        <p:txBody>
          <a:bodyPr wrap="square" lIns="9144" rIns="9144" tIns="22860" bIns="22860" anchor="t">
            <a:spAutoFit/>
          </a:bodyPr>
          <a:lstStyle/>
          <a:p>
            <a:pPr>
              <a:lnSpc>
                <a:spcPct val="106000"/>
              </a:lnSpc>
              <a:spcBef>
                <a:spcPts val="0"/>
              </a:spcBef>
              <a:spcAft>
                <a:spcPts val="500"/>
              </a:spcAft>
            </a:pPr>
            <a:r>
              <a:rPr sz="2300" b="1">
                <a:solidFill>
                  <a:srgbClr val="6547D8"/>
                </a:solidFill>
                <a:latin typeface="Segoe UI"/>
              </a:rPr>
              <a:t>03</a:t>
            </a:r>
          </a:p>
        </p:txBody>
      </p:sp>
      <p:sp>
        <p:nvSpPr>
          <p:cNvPr id="149" name="TextBox 148"/>
          <p:cNvSpPr txBox="1"/>
          <p:nvPr/>
        </p:nvSpPr>
        <p:spPr>
          <a:xfrm>
            <a:off x="8394192" y="3118104"/>
            <a:ext cx="3044952" cy="749808"/>
          </a:xfrm>
          <a:prstGeom prst="rect">
            <a:avLst/>
          </a:prstGeom>
          <a:noFill/>
        </p:spPr>
        <p:txBody>
          <a:bodyPr wrap="square" lIns="9144" rIns="9144" tIns="22860" bIns="22860" anchor="t">
            <a:spAutoFit/>
          </a:bodyPr>
          <a:lstStyle/>
          <a:p>
            <a:pPr>
              <a:lnSpc>
                <a:spcPct val="106000"/>
              </a:lnSpc>
              <a:spcBef>
                <a:spcPts val="0"/>
              </a:spcBef>
              <a:spcAft>
                <a:spcPts val="500"/>
              </a:spcAft>
            </a:pPr>
            <a:r>
              <a:rPr sz="2200" b="1">
                <a:solidFill>
                  <a:srgbClr val="20243A"/>
                </a:solidFill>
                <a:latin typeface="Segoe UI"/>
              </a:rPr>
              <a:t>Version migration</a:t>
            </a:r>
          </a:p>
        </p:txBody>
      </p:sp>
      <p:sp>
        <p:nvSpPr>
          <p:cNvPr id="150" name="TextBox 149"/>
          <p:cNvSpPr txBox="1"/>
          <p:nvPr/>
        </p:nvSpPr>
        <p:spPr>
          <a:xfrm>
            <a:off x="8394192" y="3959352"/>
            <a:ext cx="3044952" cy="1252728"/>
          </a:xfrm>
          <a:prstGeom prst="rect">
            <a:avLst/>
          </a:prstGeom>
          <a:noFill/>
        </p:spPr>
        <p:txBody>
          <a:bodyPr wrap="square" lIns="9144" rIns="9144" tIns="22860" bIns="22860" anchor="t">
            <a:spAutoFit/>
          </a:bodyPr>
          <a:lstStyle/>
          <a:p>
            <a:pPr>
              <a:lnSpc>
                <a:spcPct val="106000"/>
              </a:lnSpc>
              <a:spcBef>
                <a:spcPts val="0"/>
              </a:spcBef>
              <a:spcAft>
                <a:spcPts val="500"/>
              </a:spcAft>
            </a:pPr>
            <a:r>
              <a:rPr sz="1600" b="0">
                <a:solidFill>
                  <a:srgbClr val="646B80"/>
                </a:solidFill>
                <a:latin typeface="Segoe UI"/>
              </a:rPr>
              <a:t>Pin a rule before moving versions.</a:t>
            </a:r>
          </a:p>
          <a:p>
            <a:pPr>
              <a:lnSpc>
                <a:spcPct val="106000"/>
              </a:lnSpc>
              <a:spcBef>
                <a:spcPts val="0"/>
              </a:spcBef>
              <a:spcAft>
                <a:spcPts val="500"/>
              </a:spcAft>
            </a:pPr>
            <a:r>
              <a:rPr sz="1600" b="0">
                <a:solidFill>
                  <a:srgbClr val="646B80"/>
                </a:solidFill>
                <a:latin typeface="Segoe UI"/>
              </a:rPr>
              <a:t>Recheck it across the loaded history.</a:t>
            </a:r>
          </a:p>
        </p:txBody>
      </p:sp>
      <p:sp>
        <p:nvSpPr>
          <p:cNvPr id="151" name="Rounded Rectangle 150"/>
          <p:cNvSpPr/>
          <p:nvPr/>
        </p:nvSpPr>
        <p:spPr>
          <a:xfrm>
            <a:off x="557784" y="5641848"/>
            <a:ext cx="11091672" cy="521207"/>
          </a:xfrm>
          <a:prstGeom prst="roundRect">
            <a:avLst>
              <a:gd name="adj" fmla="val 12000"/>
            </a:avLst>
          </a:prstGeom>
          <a:solidFill>
            <a:srgbClr val="FFFFFF"/>
          </a:solidFill>
          <a:ln w="10160">
            <a:solidFill>
              <a:srgbClr val="DF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786384" y="5760720"/>
            <a:ext cx="10607040" cy="292608"/>
          </a:xfrm>
          <a:prstGeom prst="rect">
            <a:avLst/>
          </a:prstGeom>
          <a:noFill/>
        </p:spPr>
        <p:txBody>
          <a:bodyPr wrap="square" lIns="9144" rIns="9144" tIns="22860" bIns="22860" anchor="t">
            <a:spAutoFit/>
          </a:bodyPr>
          <a:lstStyle/>
          <a:p>
            <a:pPr algn="ctr">
              <a:lnSpc>
                <a:spcPct val="106000"/>
              </a:lnSpc>
              <a:spcBef>
                <a:spcPts val="0"/>
              </a:spcBef>
              <a:spcAft>
                <a:spcPts val="500"/>
              </a:spcAft>
            </a:pPr>
            <a:r>
              <a:rPr sz="1700" b="1">
                <a:solidFill>
                  <a:srgbClr val="6547D8"/>
                </a:solidFill>
                <a:latin typeface="Segoe UI"/>
              </a:rPr>
              <a:t>DISCOVER   →   INSPECT   →   PIN A RULE   →   RECHECK</a:t>
            </a:r>
          </a:p>
        </p:txBody>
      </p:sp>
    </p:spTree>
  </p:cSld>
  <p:clrMapOvr>
    <a:masterClrMapping/>
  </p:clrMapOvr>
  <p:transition spd="fast">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8F9FD"/>
        </a:solidFill>
        <a:effectLst/>
      </p:bgPr>
    </p:bg>
    <p:spTree>
      <p:nvGrpSpPr>
        <p:cNvPr id="136" name="Shape 136"/>
        <p:cNvGrpSpPr/>
        <p:nvPr/>
      </p:nvGrpSpPr>
      <p:grpSpPr>
        <a:xfrm>
          <a:off x="0" y="0"/>
          <a:ext cx="0" cy="0"/>
          <a:chOff x="0" y="0"/>
          <a:chExt cx="0" cy="0"/>
        </a:xfrm>
      </p:grpSpPr>
      <p:sp>
        <p:nvSpPr>
          <p:cNvPr id="137" name="Rectangle 136"/>
          <p:cNvSpPr/>
          <p:nvPr/>
        </p:nvSpPr>
        <p:spPr>
          <a:xfrm>
            <a:off x="502920" y="393192"/>
            <a:ext cx="100584" cy="210312"/>
          </a:xfrm>
          <a:prstGeom prst="rect">
            <a:avLst/>
          </a:prstGeom>
          <a:solidFill>
            <a:srgbClr val="6547D8"/>
          </a:solidFill>
          <a:ln w="10160">
            <a:solidFill>
              <a:srgbClr val="6547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713232" y="365760"/>
            <a:ext cx="1920240" cy="274320"/>
          </a:xfrm>
          <a:prstGeom prst="rect">
            <a:avLst/>
          </a:prstGeom>
          <a:noFill/>
        </p:spPr>
        <p:txBody>
          <a:bodyPr wrap="square" lIns="9144" rIns="9144" tIns="22860" bIns="22860" anchor="t">
            <a:spAutoFit/>
          </a:bodyPr>
          <a:lstStyle/>
          <a:p>
            <a:pPr>
              <a:lnSpc>
                <a:spcPct val="106000"/>
              </a:lnSpc>
              <a:spcBef>
                <a:spcPts val="0"/>
              </a:spcBef>
              <a:spcAft>
                <a:spcPts val="500"/>
              </a:spcAft>
            </a:pPr>
            <a:r>
              <a:rPr sz="1100" b="1">
                <a:solidFill>
                  <a:srgbClr val="6547D8"/>
                </a:solidFill>
                <a:latin typeface="Segoe UI"/>
              </a:rPr>
              <a:t>CODESTRATA</a:t>
            </a:r>
          </a:p>
        </p:txBody>
      </p:sp>
      <p:sp>
        <p:nvSpPr>
          <p:cNvPr id="139" name="TextBox 138"/>
          <p:cNvSpPr txBox="1"/>
          <p:nvPr/>
        </p:nvSpPr>
        <p:spPr>
          <a:xfrm>
            <a:off x="3657600" y="374904"/>
            <a:ext cx="8001000" cy="292608"/>
          </a:xfrm>
          <a:prstGeom prst="rect">
            <a:avLst/>
          </a:prstGeom>
          <a:noFill/>
        </p:spPr>
        <p:txBody>
          <a:bodyPr wrap="square" lIns="9144" rIns="9144" tIns="22860" bIns="22860" anchor="t">
            <a:spAutoFit/>
          </a:bodyPr>
          <a:lstStyle/>
          <a:p>
            <a:pPr algn="r">
              <a:lnSpc>
                <a:spcPct val="106000"/>
              </a:lnSpc>
              <a:spcBef>
                <a:spcPts val="0"/>
              </a:spcBef>
              <a:spcAft>
                <a:spcPts val="500"/>
              </a:spcAft>
            </a:pPr>
            <a:r>
              <a:rPr sz="1000" b="0">
                <a:solidFill>
                  <a:srgbClr val="646B80"/>
                </a:solidFill>
                <a:latin typeface="Segoe UI"/>
              </a:rPr>
              <a:t>INNOVATION, RESULTS &amp; LIMITATIONS</a:t>
            </a:r>
          </a:p>
        </p:txBody>
      </p:sp>
      <p:sp>
        <p:nvSpPr>
          <p:cNvPr id="140" name="TextBox 139"/>
          <p:cNvSpPr txBox="1"/>
          <p:nvPr/>
        </p:nvSpPr>
        <p:spPr>
          <a:xfrm>
            <a:off x="502920" y="896112"/>
            <a:ext cx="11109960" cy="868680"/>
          </a:xfrm>
          <a:prstGeom prst="rect">
            <a:avLst/>
          </a:prstGeom>
          <a:noFill/>
        </p:spPr>
        <p:txBody>
          <a:bodyPr wrap="square" lIns="9144" rIns="9144" tIns="22860" bIns="22860" anchor="t">
            <a:spAutoFit/>
          </a:bodyPr>
          <a:lstStyle/>
          <a:p>
            <a:pPr>
              <a:lnSpc>
                <a:spcPct val="106000"/>
              </a:lnSpc>
              <a:spcBef>
                <a:spcPts val="0"/>
              </a:spcBef>
              <a:spcAft>
                <a:spcPts val="500"/>
              </a:spcAft>
            </a:pPr>
            <a:r>
              <a:rPr sz="3400" b="1">
                <a:solidFill>
                  <a:srgbClr val="20243A"/>
                </a:solidFill>
                <a:latin typeface="Segoe UI"/>
              </a:rPr>
              <a:t>Three evaluations. Three different claims.</a:t>
            </a:r>
          </a:p>
        </p:txBody>
      </p:sp>
      <p:sp>
        <p:nvSpPr>
          <p:cNvPr id="141" name="TextBox 140"/>
          <p:cNvSpPr txBox="1"/>
          <p:nvPr/>
        </p:nvSpPr>
        <p:spPr>
          <a:xfrm>
            <a:off x="530352" y="1746504"/>
            <a:ext cx="10972800" cy="411480"/>
          </a:xfrm>
          <a:prstGeom prst="rect">
            <a:avLst/>
          </a:prstGeom>
          <a:noFill/>
        </p:spPr>
        <p:txBody>
          <a:bodyPr wrap="square" lIns="9144" rIns="9144" tIns="22860" bIns="22860" anchor="t">
            <a:spAutoFit/>
          </a:bodyPr>
          <a:lstStyle/>
          <a:p>
            <a:pPr>
              <a:lnSpc>
                <a:spcPct val="106000"/>
              </a:lnSpc>
              <a:spcBef>
                <a:spcPts val="0"/>
              </a:spcBef>
              <a:spcAft>
                <a:spcPts val="500"/>
              </a:spcAft>
            </a:pPr>
            <a:r>
              <a:rPr sz="1500" b="0">
                <a:solidFill>
                  <a:srgbClr val="646B80"/>
                </a:solidFill>
                <a:latin typeface="Segoe UI"/>
              </a:rPr>
              <a:t>Measured results are presented with their scope and raw artifacts.</a:t>
            </a:r>
          </a:p>
        </p:txBody>
      </p:sp>
      <p:cxnSp>
        <p:nvCxnSpPr>
          <p:cNvPr id="142" name="Connector 141"/>
          <p:cNvCxnSpPr/>
          <p:nvPr/>
        </p:nvCxnSpPr>
        <p:spPr>
          <a:xfrm>
            <a:off x="502920" y="6428232"/>
            <a:ext cx="11183112" cy="0"/>
          </a:xfrm>
          <a:prstGeom prst="line">
            <a:avLst/>
          </a:prstGeom>
          <a:ln w="10160">
            <a:solidFill>
              <a:srgbClr val="DFE3EF"/>
            </a:solidFill>
          </a:ln>
          <a:effectLst/>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521207" y="6519672"/>
            <a:ext cx="8961120" cy="201168"/>
          </a:xfrm>
          <a:prstGeom prst="rect">
            <a:avLst/>
          </a:prstGeom>
          <a:noFill/>
        </p:spPr>
        <p:txBody>
          <a:bodyPr wrap="square" lIns="9144" rIns="9144" tIns="22860" bIns="22860" anchor="t">
            <a:spAutoFit/>
          </a:bodyPr>
          <a:lstStyle/>
          <a:p>
            <a:pPr>
              <a:lnSpc>
                <a:spcPct val="106000"/>
              </a:lnSpc>
              <a:spcBef>
                <a:spcPts val="0"/>
              </a:spcBef>
              <a:spcAft>
                <a:spcPts val="500"/>
              </a:spcAft>
            </a:pPr>
            <a:r>
              <a:rPr sz="900" b="0">
                <a:solidFill>
                  <a:srgbClr val="646B80"/>
                </a:solidFill>
                <a:latin typeface="Segoe UI"/>
              </a:rPr>
              <a:t>CODESTRATA  /  AGENTIC CODE INTELLIGENCE</a:t>
            </a:r>
          </a:p>
        </p:txBody>
      </p:sp>
      <p:sp>
        <p:nvSpPr>
          <p:cNvPr id="144" name="TextBox 143"/>
          <p:cNvSpPr txBox="1"/>
          <p:nvPr/>
        </p:nvSpPr>
        <p:spPr>
          <a:xfrm>
            <a:off x="10698480" y="6492240"/>
            <a:ext cx="987552" cy="228600"/>
          </a:xfrm>
          <a:prstGeom prst="rect">
            <a:avLst/>
          </a:prstGeom>
          <a:noFill/>
        </p:spPr>
        <p:txBody>
          <a:bodyPr wrap="square" lIns="9144" rIns="9144" tIns="22860" bIns="22860" anchor="t">
            <a:spAutoFit/>
          </a:bodyPr>
          <a:lstStyle/>
          <a:p>
            <a:r>
              <a:rPr sz="1000" b="1">
                <a:solidFill>
                  <a:srgbClr val="6547D8"/>
                </a:solidFill>
                <a:latin typeface="Segoe UI"/>
              </a:rPr>
              <a:t>14 / 18</a:t>
            </a:r>
          </a:p>
        </p:txBody>
      </p:sp>
      <p:sp>
        <p:nvSpPr>
          <p:cNvPr id="145" name="Rounded Rectangle 144"/>
          <p:cNvSpPr/>
          <p:nvPr/>
        </p:nvSpPr>
        <p:spPr>
          <a:xfrm>
            <a:off x="557784" y="2432304"/>
            <a:ext cx="3438144" cy="2496312"/>
          </a:xfrm>
          <a:prstGeom prst="roundRect">
            <a:avLst>
              <a:gd name="adj" fmla="val 12000"/>
            </a:avLst>
          </a:prstGeom>
          <a:solidFill>
            <a:srgbClr val="EFEAFF"/>
          </a:solidFill>
          <a:ln w="10160">
            <a:solidFill>
              <a:srgbClr val="EFE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740664" y="2633472"/>
            <a:ext cx="3072384" cy="237744"/>
          </a:xfrm>
          <a:prstGeom prst="rect">
            <a:avLst/>
          </a:prstGeom>
          <a:noFill/>
        </p:spPr>
        <p:txBody>
          <a:bodyPr wrap="square" lIns="9144" rIns="9144" tIns="22860" bIns="22860" anchor="t">
            <a:spAutoFit/>
          </a:bodyPr>
          <a:lstStyle/>
          <a:p>
            <a:pPr>
              <a:lnSpc>
                <a:spcPct val="106000"/>
              </a:lnSpc>
              <a:spcBef>
                <a:spcPts val="0"/>
              </a:spcBef>
              <a:spcAft>
                <a:spcPts val="500"/>
              </a:spcAft>
            </a:pPr>
            <a:r>
              <a:rPr sz="1000" b="1">
                <a:solidFill>
                  <a:srgbClr val="6547D8"/>
                </a:solidFill>
                <a:latin typeface="Segoe UI"/>
              </a:rPr>
              <a:t>CONTROLLED VERSIONS</a:t>
            </a:r>
          </a:p>
        </p:txBody>
      </p:sp>
      <p:sp>
        <p:nvSpPr>
          <p:cNvPr id="147" name="TextBox 146"/>
          <p:cNvSpPr txBox="1"/>
          <p:nvPr/>
        </p:nvSpPr>
        <p:spPr>
          <a:xfrm>
            <a:off x="740664" y="3099816"/>
            <a:ext cx="3072384" cy="676656"/>
          </a:xfrm>
          <a:prstGeom prst="rect">
            <a:avLst/>
          </a:prstGeom>
          <a:noFill/>
        </p:spPr>
        <p:txBody>
          <a:bodyPr wrap="square" lIns="9144" rIns="9144" tIns="22860" bIns="22860" anchor="t">
            <a:spAutoFit/>
          </a:bodyPr>
          <a:lstStyle/>
          <a:p>
            <a:pPr>
              <a:lnSpc>
                <a:spcPct val="106000"/>
              </a:lnSpc>
              <a:spcBef>
                <a:spcPts val="0"/>
              </a:spcBef>
              <a:spcAft>
                <a:spcPts val="500"/>
              </a:spcAft>
            </a:pPr>
            <a:r>
              <a:rPr sz="3500" b="1">
                <a:solidFill>
                  <a:srgbClr val="20243A"/>
                </a:solidFill>
                <a:latin typeface="Segoe UI"/>
              </a:rPr>
              <a:t>8 / 8</a:t>
            </a:r>
          </a:p>
        </p:txBody>
      </p:sp>
      <p:sp>
        <p:nvSpPr>
          <p:cNvPr id="148" name="TextBox 147"/>
          <p:cNvSpPr txBox="1"/>
          <p:nvPr/>
        </p:nvSpPr>
        <p:spPr>
          <a:xfrm>
            <a:off x="740664" y="3895344"/>
            <a:ext cx="3072384" cy="292608"/>
          </a:xfrm>
          <a:prstGeom prst="rect">
            <a:avLst/>
          </a:prstGeom>
          <a:noFill/>
        </p:spPr>
        <p:txBody>
          <a:bodyPr wrap="square" lIns="9144" rIns="9144" tIns="22860" bIns="22860" anchor="t">
            <a:spAutoFit/>
          </a:bodyPr>
          <a:lstStyle/>
          <a:p>
            <a:pPr>
              <a:lnSpc>
                <a:spcPct val="106000"/>
              </a:lnSpc>
              <a:spcBef>
                <a:spcPts val="0"/>
              </a:spcBef>
              <a:spcAft>
                <a:spcPts val="500"/>
              </a:spcAft>
            </a:pPr>
            <a:r>
              <a:rPr sz="1400" b="1">
                <a:solidFill>
                  <a:srgbClr val="20243A"/>
                </a:solidFill>
                <a:latin typeface="Segoe UI"/>
              </a:rPr>
              <a:t>Correct top result</a:t>
            </a:r>
          </a:p>
        </p:txBody>
      </p:sp>
      <p:sp>
        <p:nvSpPr>
          <p:cNvPr id="149" name="TextBox 148"/>
          <p:cNvSpPr txBox="1"/>
          <p:nvPr/>
        </p:nvSpPr>
        <p:spPr>
          <a:xfrm>
            <a:off x="740664" y="4343400"/>
            <a:ext cx="3072384" cy="438912"/>
          </a:xfrm>
          <a:prstGeom prst="rect">
            <a:avLst/>
          </a:prstGeom>
          <a:noFill/>
        </p:spPr>
        <p:txBody>
          <a:bodyPr wrap="square" lIns="9144" rIns="9144" tIns="22860" bIns="22860" anchor="t">
            <a:spAutoFit/>
          </a:bodyPr>
          <a:lstStyle/>
          <a:p>
            <a:pPr>
              <a:lnSpc>
                <a:spcPct val="106000"/>
              </a:lnSpc>
              <a:spcBef>
                <a:spcPts val="0"/>
              </a:spcBef>
              <a:spcAft>
                <a:spcPts val="500"/>
              </a:spcAft>
            </a:pPr>
            <a:r>
              <a:rPr sz="1100" b="0">
                <a:solidFill>
                  <a:srgbClr val="646B80"/>
                </a:solidFill>
                <a:latin typeface="Segoe UI"/>
              </a:rPr>
              <a:t>25 demo snippets + 1,000 distractors.</a:t>
            </a:r>
          </a:p>
          <a:p>
            <a:pPr>
              <a:lnSpc>
                <a:spcPct val="106000"/>
              </a:lnSpc>
              <a:spcBef>
                <a:spcPts val="0"/>
              </a:spcBef>
              <a:spcAft>
                <a:spcPts val="500"/>
              </a:spcAft>
            </a:pPr>
            <a:r>
              <a:rPr sz="1100" b="0">
                <a:solidFill>
                  <a:srgbClr val="646B80"/>
                </a:solidFill>
                <a:latin typeface="Segoe UI"/>
              </a:rPr>
              <a:t>Synthetic development queries.</a:t>
            </a:r>
          </a:p>
        </p:txBody>
      </p:sp>
      <p:sp>
        <p:nvSpPr>
          <p:cNvPr id="150" name="Rounded Rectangle 149"/>
          <p:cNvSpPr/>
          <p:nvPr/>
        </p:nvSpPr>
        <p:spPr>
          <a:xfrm>
            <a:off x="4379976" y="2432304"/>
            <a:ext cx="3438144" cy="2496312"/>
          </a:xfrm>
          <a:prstGeom prst="roundRect">
            <a:avLst>
              <a:gd name="adj" fmla="val 12000"/>
            </a:avLst>
          </a:prstGeom>
          <a:solidFill>
            <a:srgbClr val="E9F7F1"/>
          </a:solidFill>
          <a:ln w="10160">
            <a:solidFill>
              <a:srgbClr val="E9F7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4562856" y="2633472"/>
            <a:ext cx="3072384" cy="237744"/>
          </a:xfrm>
          <a:prstGeom prst="rect">
            <a:avLst/>
          </a:prstGeom>
          <a:noFill/>
        </p:spPr>
        <p:txBody>
          <a:bodyPr wrap="square" lIns="9144" rIns="9144" tIns="22860" bIns="22860" anchor="t">
            <a:spAutoFit/>
          </a:bodyPr>
          <a:lstStyle/>
          <a:p>
            <a:pPr>
              <a:lnSpc>
                <a:spcPct val="106000"/>
              </a:lnSpc>
              <a:spcBef>
                <a:spcPts val="0"/>
              </a:spcBef>
              <a:spcAft>
                <a:spcPts val="500"/>
              </a:spcAft>
            </a:pPr>
            <a:r>
              <a:rPr sz="1000" b="1">
                <a:solidFill>
                  <a:srgbClr val="6547D8"/>
                </a:solidFill>
                <a:latin typeface="Segoe UI"/>
              </a:rPr>
              <a:t>REAL REPOSITORIES</a:t>
            </a:r>
          </a:p>
        </p:txBody>
      </p:sp>
      <p:sp>
        <p:nvSpPr>
          <p:cNvPr id="152" name="TextBox 151"/>
          <p:cNvSpPr txBox="1"/>
          <p:nvPr/>
        </p:nvSpPr>
        <p:spPr>
          <a:xfrm>
            <a:off x="4562856" y="3099816"/>
            <a:ext cx="3072384" cy="676656"/>
          </a:xfrm>
          <a:prstGeom prst="rect">
            <a:avLst/>
          </a:prstGeom>
          <a:noFill/>
        </p:spPr>
        <p:txBody>
          <a:bodyPr wrap="square" lIns="9144" rIns="9144" tIns="22860" bIns="22860" anchor="t">
            <a:spAutoFit/>
          </a:bodyPr>
          <a:lstStyle/>
          <a:p>
            <a:pPr>
              <a:lnSpc>
                <a:spcPct val="106000"/>
              </a:lnSpc>
              <a:spcBef>
                <a:spcPts val="0"/>
              </a:spcBef>
              <a:spcAft>
                <a:spcPts val="500"/>
              </a:spcAft>
            </a:pPr>
            <a:r>
              <a:rPr sz="3500" b="1">
                <a:solidFill>
                  <a:srgbClr val="20243A"/>
                </a:solidFill>
                <a:latin typeface="Segoe UI"/>
              </a:rPr>
              <a:t>0.67 / 0.86</a:t>
            </a:r>
          </a:p>
        </p:txBody>
      </p:sp>
      <p:sp>
        <p:nvSpPr>
          <p:cNvPr id="153" name="TextBox 152"/>
          <p:cNvSpPr txBox="1"/>
          <p:nvPr/>
        </p:nvSpPr>
        <p:spPr>
          <a:xfrm>
            <a:off x="4562856" y="3895344"/>
            <a:ext cx="3072384" cy="292608"/>
          </a:xfrm>
          <a:prstGeom prst="rect">
            <a:avLst/>
          </a:prstGeom>
          <a:noFill/>
        </p:spPr>
        <p:txBody>
          <a:bodyPr wrap="square" lIns="9144" rIns="9144" tIns="22860" bIns="22860" anchor="t">
            <a:spAutoFit/>
          </a:bodyPr>
          <a:lstStyle/>
          <a:p>
            <a:pPr>
              <a:lnSpc>
                <a:spcPct val="106000"/>
              </a:lnSpc>
              <a:spcBef>
                <a:spcPts val="0"/>
              </a:spcBef>
              <a:spcAft>
                <a:spcPts val="500"/>
              </a:spcAft>
            </a:pPr>
            <a:r>
              <a:rPr sz="1400" b="1">
                <a:solidFill>
                  <a:srgbClr val="20243A"/>
                </a:solidFill>
                <a:latin typeface="Segoe UI"/>
              </a:rPr>
              <a:t>NDCG@10 · Async / Express</a:t>
            </a:r>
          </a:p>
        </p:txBody>
      </p:sp>
      <p:sp>
        <p:nvSpPr>
          <p:cNvPr id="154" name="TextBox 153"/>
          <p:cNvSpPr txBox="1"/>
          <p:nvPr/>
        </p:nvSpPr>
        <p:spPr>
          <a:xfrm>
            <a:off x="4562856" y="4343400"/>
            <a:ext cx="3072384" cy="438912"/>
          </a:xfrm>
          <a:prstGeom prst="rect">
            <a:avLst/>
          </a:prstGeom>
          <a:noFill/>
        </p:spPr>
        <p:txBody>
          <a:bodyPr wrap="square" lIns="9144" rIns="9144" tIns="22860" bIns="22860" anchor="t">
            <a:spAutoFit/>
          </a:bodyPr>
          <a:lstStyle/>
          <a:p>
            <a:pPr>
              <a:lnSpc>
                <a:spcPct val="106000"/>
              </a:lnSpc>
              <a:spcBef>
                <a:spcPts val="0"/>
              </a:spcBef>
              <a:spcAft>
                <a:spcPts val="500"/>
              </a:spcAft>
            </a:pPr>
            <a:r>
              <a:rPr sz="1100" b="0">
                <a:solidFill>
                  <a:srgbClr val="646B80"/>
                </a:solidFill>
                <a:latin typeface="Segoe UI"/>
              </a:rPr>
              <a:t>BGE hybrid; 60 source-reviewed,</a:t>
            </a:r>
          </a:p>
          <a:p>
            <a:pPr>
              <a:lnSpc>
                <a:spcPct val="106000"/>
              </a:lnSpc>
              <a:spcBef>
                <a:spcPts val="0"/>
              </a:spcBef>
              <a:spcAft>
                <a:spcPts val="500"/>
              </a:spcAft>
            </a:pPr>
            <a:r>
              <a:rPr sz="1100" b="0">
                <a:solidFill>
                  <a:srgbClr val="646B80"/>
                </a:solidFill>
                <a:latin typeface="Segoe UI"/>
              </a:rPr>
              <a:t>AI-assisted labels.</a:t>
            </a:r>
          </a:p>
        </p:txBody>
      </p:sp>
      <p:sp>
        <p:nvSpPr>
          <p:cNvPr id="155" name="Rounded Rectangle 154"/>
          <p:cNvSpPr/>
          <p:nvPr/>
        </p:nvSpPr>
        <p:spPr>
          <a:xfrm>
            <a:off x="8202168" y="2432304"/>
            <a:ext cx="3438144" cy="2496312"/>
          </a:xfrm>
          <a:prstGeom prst="roundRect">
            <a:avLst>
              <a:gd name="adj" fmla="val 12000"/>
            </a:avLst>
          </a:prstGeom>
          <a:solidFill>
            <a:srgbClr val="FFF0E5"/>
          </a:solidFill>
          <a:ln w="10160">
            <a:solidFill>
              <a:srgbClr val="FFF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8385048" y="2633472"/>
            <a:ext cx="3072384" cy="237744"/>
          </a:xfrm>
          <a:prstGeom prst="rect">
            <a:avLst/>
          </a:prstGeom>
          <a:noFill/>
        </p:spPr>
        <p:txBody>
          <a:bodyPr wrap="square" lIns="9144" rIns="9144" tIns="22860" bIns="22860" anchor="t">
            <a:spAutoFit/>
          </a:bodyPr>
          <a:lstStyle/>
          <a:p>
            <a:pPr>
              <a:lnSpc>
                <a:spcPct val="106000"/>
              </a:lnSpc>
              <a:spcBef>
                <a:spcPts val="0"/>
              </a:spcBef>
              <a:spcAft>
                <a:spcPts val="500"/>
              </a:spcAft>
            </a:pPr>
            <a:r>
              <a:rPr sz="1000" b="1">
                <a:solidFill>
                  <a:srgbClr val="6547D8"/>
                </a:solidFill>
                <a:latin typeface="Segoe UI"/>
              </a:rPr>
              <a:t>FULL APPSRETRIEVAL</a:t>
            </a:r>
          </a:p>
        </p:txBody>
      </p:sp>
      <p:sp>
        <p:nvSpPr>
          <p:cNvPr id="157" name="TextBox 156"/>
          <p:cNvSpPr txBox="1"/>
          <p:nvPr/>
        </p:nvSpPr>
        <p:spPr>
          <a:xfrm>
            <a:off x="8385048" y="3099816"/>
            <a:ext cx="3072384" cy="676656"/>
          </a:xfrm>
          <a:prstGeom prst="rect">
            <a:avLst/>
          </a:prstGeom>
          <a:noFill/>
        </p:spPr>
        <p:txBody>
          <a:bodyPr wrap="square" lIns="9144" rIns="9144" tIns="22860" bIns="22860" anchor="t">
            <a:spAutoFit/>
          </a:bodyPr>
          <a:lstStyle/>
          <a:p>
            <a:pPr>
              <a:lnSpc>
                <a:spcPct val="106000"/>
              </a:lnSpc>
              <a:spcBef>
                <a:spcPts val="0"/>
              </a:spcBef>
              <a:spcAft>
                <a:spcPts val="500"/>
              </a:spcAft>
            </a:pPr>
            <a:r>
              <a:rPr sz="3500" b="1">
                <a:solidFill>
                  <a:srgbClr val="20243A"/>
                </a:solidFill>
                <a:latin typeface="Segoe UI"/>
              </a:rPr>
              <a:t>0.1571</a:t>
            </a:r>
          </a:p>
        </p:txBody>
      </p:sp>
      <p:sp>
        <p:nvSpPr>
          <p:cNvPr id="158" name="TextBox 157"/>
          <p:cNvSpPr txBox="1"/>
          <p:nvPr/>
        </p:nvSpPr>
        <p:spPr>
          <a:xfrm>
            <a:off x="8385048" y="3895344"/>
            <a:ext cx="3072384" cy="292608"/>
          </a:xfrm>
          <a:prstGeom prst="rect">
            <a:avLst/>
          </a:prstGeom>
          <a:noFill/>
        </p:spPr>
        <p:txBody>
          <a:bodyPr wrap="square" lIns="9144" rIns="9144" tIns="22860" bIns="22860" anchor="t">
            <a:spAutoFit/>
          </a:bodyPr>
          <a:lstStyle/>
          <a:p>
            <a:pPr>
              <a:lnSpc>
                <a:spcPct val="106000"/>
              </a:lnSpc>
              <a:spcBef>
                <a:spcPts val="0"/>
              </a:spcBef>
              <a:spcAft>
                <a:spcPts val="500"/>
              </a:spcAft>
            </a:pPr>
            <a:r>
              <a:rPr sz="1400" b="1">
                <a:solidFill>
                  <a:srgbClr val="20243A"/>
                </a:solidFill>
                <a:latin typeface="Segoe UI"/>
              </a:rPr>
              <a:t>NDCG@10 · Jina Code q8</a:t>
            </a:r>
          </a:p>
        </p:txBody>
      </p:sp>
      <p:sp>
        <p:nvSpPr>
          <p:cNvPr id="159" name="TextBox 158"/>
          <p:cNvSpPr txBox="1"/>
          <p:nvPr/>
        </p:nvSpPr>
        <p:spPr>
          <a:xfrm>
            <a:off x="8385048" y="4343400"/>
            <a:ext cx="3072384" cy="438912"/>
          </a:xfrm>
          <a:prstGeom prst="rect">
            <a:avLst/>
          </a:prstGeom>
          <a:noFill/>
        </p:spPr>
        <p:txBody>
          <a:bodyPr wrap="square" lIns="9144" rIns="9144" tIns="22860" bIns="22860" anchor="t">
            <a:spAutoFit/>
          </a:bodyPr>
          <a:lstStyle/>
          <a:p>
            <a:pPr>
              <a:lnSpc>
                <a:spcPct val="106000"/>
              </a:lnSpc>
              <a:spcBef>
                <a:spcPts val="0"/>
              </a:spcBef>
              <a:spcAft>
                <a:spcPts val="500"/>
              </a:spcAft>
            </a:pPr>
            <a:r>
              <a:rPr sz="1100" b="0">
                <a:solidFill>
                  <a:srgbClr val="646B80"/>
                </a:solidFill>
                <a:latin typeface="Segoe UI"/>
              </a:rPr>
              <a:t>3,765 queries / 8,765 Python items.</a:t>
            </a:r>
          </a:p>
          <a:p>
            <a:pPr>
              <a:lnSpc>
                <a:spcPct val="106000"/>
              </a:lnSpc>
              <a:spcBef>
                <a:spcPts val="0"/>
              </a:spcBef>
              <a:spcAft>
                <a:spcPts val="500"/>
              </a:spcAft>
            </a:pPr>
            <a:r>
              <a:rPr sz="1100" b="0">
                <a:solidFill>
                  <a:srgbClr val="646B80"/>
                </a:solidFill>
                <a:latin typeface="Segoe UI"/>
              </a:rPr>
              <a:t>Independent encoder evaluation.</a:t>
            </a:r>
          </a:p>
        </p:txBody>
      </p:sp>
      <p:sp>
        <p:nvSpPr>
          <p:cNvPr id="160" name="TextBox 159"/>
          <p:cNvSpPr txBox="1"/>
          <p:nvPr/>
        </p:nvSpPr>
        <p:spPr>
          <a:xfrm>
            <a:off x="612648" y="5212080"/>
            <a:ext cx="10972800" cy="329184"/>
          </a:xfrm>
          <a:prstGeom prst="rect">
            <a:avLst/>
          </a:prstGeom>
          <a:noFill/>
        </p:spPr>
        <p:txBody>
          <a:bodyPr wrap="square" lIns="9144" rIns="9144" tIns="22860" bIns="22860" anchor="t">
            <a:spAutoFit/>
          </a:bodyPr>
          <a:lstStyle/>
          <a:p>
            <a:pPr>
              <a:lnSpc>
                <a:spcPct val="106000"/>
              </a:lnSpc>
              <a:spcBef>
                <a:spcPts val="0"/>
              </a:spcBef>
              <a:spcAft>
                <a:spcPts val="500"/>
              </a:spcAft>
            </a:pPr>
            <a:r>
              <a:rPr sz="1700" b="1">
                <a:solidFill>
                  <a:srgbClr val="6547D8"/>
                </a:solidFill>
                <a:latin typeface="Segoe UI"/>
              </a:rPr>
              <a:t>Full-test BGE baseline: 0.0505 NDCG@10  |  Jina MRR@10: 0.1337</a:t>
            </a:r>
          </a:p>
        </p:txBody>
      </p:sp>
      <p:sp>
        <p:nvSpPr>
          <p:cNvPr id="161" name="TextBox 160"/>
          <p:cNvSpPr txBox="1"/>
          <p:nvPr/>
        </p:nvSpPr>
        <p:spPr>
          <a:xfrm>
            <a:off x="612648" y="5669280"/>
            <a:ext cx="10972800" cy="475488"/>
          </a:xfrm>
          <a:prstGeom prst="rect">
            <a:avLst/>
          </a:prstGeom>
          <a:noFill/>
        </p:spPr>
        <p:txBody>
          <a:bodyPr wrap="square" lIns="9144" rIns="9144" tIns="22860" bIns="22860" anchor="t">
            <a:spAutoFit/>
          </a:bodyPr>
          <a:lstStyle/>
          <a:p>
            <a:pPr>
              <a:lnSpc>
                <a:spcPct val="106000"/>
              </a:lnSpc>
              <a:spcBef>
                <a:spcPts val="0"/>
              </a:spcBef>
              <a:spcAft>
                <a:spcPts val="500"/>
              </a:spcAft>
            </a:pPr>
            <a:r>
              <a:rPr sz="1200" b="0">
                <a:solidFill>
                  <a:srgbClr val="646B80"/>
                </a:solidFill>
                <a:latin typeface="Segoe UI"/>
              </a:rPr>
              <a:t>Limits: JS/JSX analysis • restricted query phrasing • heuristic lineage • no runtime proof.</a:t>
            </a:r>
          </a:p>
          <a:p>
            <a:pPr>
              <a:lnSpc>
                <a:spcPct val="106000"/>
              </a:lnSpc>
              <a:spcBef>
                <a:spcPts val="0"/>
              </a:spcBef>
              <a:spcAft>
                <a:spcPts val="500"/>
              </a:spcAft>
            </a:pPr>
            <a:r>
              <a:rPr sz="1200" b="0">
                <a:solidFill>
                  <a:srgbClr val="646B80"/>
                </a:solidFill>
                <a:latin typeface="Segoe UI"/>
              </a:rPr>
              <a:t>AppsRetrieval does not evaluate version reranking. Scores across these sets are not comparable.</a:t>
            </a:r>
          </a:p>
        </p:txBody>
      </p:sp>
    </p:spTree>
  </p:cSld>
  <p:clrMapOvr>
    <a:masterClrMapping/>
  </p:clrMapOvr>
  <p:transition spd="fast">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8F9FD"/>
        </a:solidFill>
        <a:effectLst/>
      </p:bgPr>
    </p:bg>
    <p:spTree>
      <p:nvGrpSpPr>
        <p:cNvPr id="142" name="Shape 142"/>
        <p:cNvGrpSpPr/>
        <p:nvPr/>
      </p:nvGrpSpPr>
      <p:grpSpPr>
        <a:xfrm>
          <a:off x="0" y="0"/>
          <a:ext cx="0" cy="0"/>
          <a:chOff x="0" y="0"/>
          <a:chExt cx="0" cy="0"/>
        </a:xfrm>
      </p:grpSpPr>
      <p:sp>
        <p:nvSpPr>
          <p:cNvPr id="143" name="Rectangle 142"/>
          <p:cNvSpPr/>
          <p:nvPr/>
        </p:nvSpPr>
        <p:spPr>
          <a:xfrm>
            <a:off x="502920" y="393192"/>
            <a:ext cx="100584" cy="210312"/>
          </a:xfrm>
          <a:prstGeom prst="rect">
            <a:avLst/>
          </a:prstGeom>
          <a:solidFill>
            <a:srgbClr val="6547D8"/>
          </a:solidFill>
          <a:ln w="10160">
            <a:solidFill>
              <a:srgbClr val="6547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713232" y="365760"/>
            <a:ext cx="1920240" cy="274320"/>
          </a:xfrm>
          <a:prstGeom prst="rect">
            <a:avLst/>
          </a:prstGeom>
          <a:noFill/>
        </p:spPr>
        <p:txBody>
          <a:bodyPr wrap="square" lIns="9144" rIns="9144" tIns="22860" bIns="22860" anchor="t">
            <a:spAutoFit/>
          </a:bodyPr>
          <a:lstStyle/>
          <a:p>
            <a:pPr>
              <a:lnSpc>
                <a:spcPct val="106000"/>
              </a:lnSpc>
              <a:spcBef>
                <a:spcPts val="0"/>
              </a:spcBef>
              <a:spcAft>
                <a:spcPts val="500"/>
              </a:spcAft>
            </a:pPr>
            <a:r>
              <a:rPr sz="1100" b="1">
                <a:solidFill>
                  <a:srgbClr val="6547D8"/>
                </a:solidFill>
                <a:latin typeface="Segoe UI"/>
              </a:rPr>
              <a:t>CODESTRATA</a:t>
            </a:r>
          </a:p>
        </p:txBody>
      </p:sp>
      <p:sp>
        <p:nvSpPr>
          <p:cNvPr id="145" name="TextBox 144"/>
          <p:cNvSpPr txBox="1"/>
          <p:nvPr/>
        </p:nvSpPr>
        <p:spPr>
          <a:xfrm>
            <a:off x="3657600" y="374904"/>
            <a:ext cx="8001000" cy="292608"/>
          </a:xfrm>
          <a:prstGeom prst="rect">
            <a:avLst/>
          </a:prstGeom>
          <a:noFill/>
        </p:spPr>
        <p:txBody>
          <a:bodyPr wrap="square" lIns="9144" rIns="9144" tIns="22860" bIns="22860" anchor="t">
            <a:spAutoFit/>
          </a:bodyPr>
          <a:lstStyle/>
          <a:p>
            <a:pPr algn="r">
              <a:lnSpc>
                <a:spcPct val="106000"/>
              </a:lnSpc>
              <a:spcBef>
                <a:spcPts val="0"/>
              </a:spcBef>
              <a:spcAft>
                <a:spcPts val="500"/>
              </a:spcAft>
            </a:pPr>
            <a:r>
              <a:rPr sz="1000" b="0">
                <a:solidFill>
                  <a:srgbClr val="646B80"/>
                </a:solidFill>
                <a:latin typeface="Segoe UI"/>
              </a:rPr>
              <a:t>WHAT’S NEXT</a:t>
            </a:r>
          </a:p>
        </p:txBody>
      </p:sp>
      <p:sp>
        <p:nvSpPr>
          <p:cNvPr id="146" name="TextBox 145"/>
          <p:cNvSpPr txBox="1"/>
          <p:nvPr/>
        </p:nvSpPr>
        <p:spPr>
          <a:xfrm>
            <a:off x="502920" y="896112"/>
            <a:ext cx="11109960" cy="868680"/>
          </a:xfrm>
          <a:prstGeom prst="rect">
            <a:avLst/>
          </a:prstGeom>
          <a:noFill/>
        </p:spPr>
        <p:txBody>
          <a:bodyPr wrap="square" lIns="9144" rIns="9144" tIns="22860" bIns="22860" anchor="t">
            <a:spAutoFit/>
          </a:bodyPr>
          <a:lstStyle/>
          <a:p>
            <a:pPr>
              <a:lnSpc>
                <a:spcPct val="106000"/>
              </a:lnSpc>
              <a:spcBef>
                <a:spcPts val="0"/>
              </a:spcBef>
              <a:spcAft>
                <a:spcPts val="500"/>
              </a:spcAft>
            </a:pPr>
            <a:r>
              <a:rPr sz="3400" b="1">
                <a:solidFill>
                  <a:srgbClr val="20243A"/>
                </a:solidFill>
                <a:latin typeface="Segoe UI"/>
              </a:rPr>
              <a:t>The next evidence to earn.</a:t>
            </a:r>
          </a:p>
        </p:txBody>
      </p:sp>
      <p:sp>
        <p:nvSpPr>
          <p:cNvPr id="147" name="TextBox 146"/>
          <p:cNvSpPr txBox="1"/>
          <p:nvPr/>
        </p:nvSpPr>
        <p:spPr>
          <a:xfrm>
            <a:off x="530352" y="1746504"/>
            <a:ext cx="10972800" cy="411480"/>
          </a:xfrm>
          <a:prstGeom prst="rect">
            <a:avLst/>
          </a:prstGeom>
          <a:noFill/>
        </p:spPr>
        <p:txBody>
          <a:bodyPr wrap="square" lIns="9144" rIns="9144" tIns="22860" bIns="22860" anchor="t">
            <a:spAutoFit/>
          </a:bodyPr>
          <a:lstStyle/>
          <a:p>
            <a:pPr>
              <a:lnSpc>
                <a:spcPct val="106000"/>
              </a:lnSpc>
              <a:spcBef>
                <a:spcPts val="0"/>
              </a:spcBef>
              <a:spcAft>
                <a:spcPts val="500"/>
              </a:spcAft>
            </a:pPr>
            <a:r>
              <a:rPr sz="1500" b="0">
                <a:solidFill>
                  <a:srgbClr val="646B80"/>
                </a:solidFill>
                <a:latin typeface="Segoe UI"/>
              </a:rPr>
              <a:t>A focused roadmap from the current prototype to broader use.</a:t>
            </a:r>
          </a:p>
        </p:txBody>
      </p:sp>
      <p:cxnSp>
        <p:nvCxnSpPr>
          <p:cNvPr id="148" name="Connector 147"/>
          <p:cNvCxnSpPr/>
          <p:nvPr/>
        </p:nvCxnSpPr>
        <p:spPr>
          <a:xfrm>
            <a:off x="502920" y="6428232"/>
            <a:ext cx="11183112" cy="0"/>
          </a:xfrm>
          <a:prstGeom prst="line">
            <a:avLst/>
          </a:prstGeom>
          <a:ln w="10160">
            <a:solidFill>
              <a:srgbClr val="DFE3EF"/>
            </a:solidFill>
          </a:ln>
          <a:effectLst/>
        </p:spPr>
        <p:style>
          <a:lnRef idx="2">
            <a:schemeClr val="accent1"/>
          </a:lnRef>
          <a:fillRef idx="0">
            <a:schemeClr val="accent1"/>
          </a:fillRef>
          <a:effectRef idx="1">
            <a:schemeClr val="accent1"/>
          </a:effectRef>
          <a:fontRef idx="minor">
            <a:schemeClr val="tx1"/>
          </a:fontRef>
        </p:style>
      </p:cxnSp>
      <p:sp>
        <p:nvSpPr>
          <p:cNvPr id="149" name="TextBox 148"/>
          <p:cNvSpPr txBox="1"/>
          <p:nvPr/>
        </p:nvSpPr>
        <p:spPr>
          <a:xfrm>
            <a:off x="521207" y="6519672"/>
            <a:ext cx="8961120" cy="201168"/>
          </a:xfrm>
          <a:prstGeom prst="rect">
            <a:avLst/>
          </a:prstGeom>
          <a:noFill/>
        </p:spPr>
        <p:txBody>
          <a:bodyPr wrap="square" lIns="9144" rIns="9144" tIns="22860" bIns="22860" anchor="t">
            <a:spAutoFit/>
          </a:bodyPr>
          <a:lstStyle/>
          <a:p>
            <a:pPr>
              <a:lnSpc>
                <a:spcPct val="106000"/>
              </a:lnSpc>
              <a:spcBef>
                <a:spcPts val="0"/>
              </a:spcBef>
              <a:spcAft>
                <a:spcPts val="500"/>
              </a:spcAft>
            </a:pPr>
            <a:r>
              <a:rPr sz="900" b="0">
                <a:solidFill>
                  <a:srgbClr val="646B80"/>
                </a:solidFill>
                <a:latin typeface="Segoe UI"/>
              </a:rPr>
              <a:t>CODESTRATA  /  AGENTIC CODE INTELLIGENCE</a:t>
            </a:r>
          </a:p>
        </p:txBody>
      </p:sp>
      <p:sp>
        <p:nvSpPr>
          <p:cNvPr id="150" name="TextBox 149"/>
          <p:cNvSpPr txBox="1"/>
          <p:nvPr/>
        </p:nvSpPr>
        <p:spPr>
          <a:xfrm>
            <a:off x="10698480" y="6492240"/>
            <a:ext cx="987552" cy="228600"/>
          </a:xfrm>
          <a:prstGeom prst="rect">
            <a:avLst/>
          </a:prstGeom>
          <a:noFill/>
        </p:spPr>
        <p:txBody>
          <a:bodyPr wrap="square" lIns="9144" rIns="9144" tIns="22860" bIns="22860" anchor="t">
            <a:spAutoFit/>
          </a:bodyPr>
          <a:lstStyle/>
          <a:p>
            <a:r>
              <a:rPr sz="1000" b="1">
                <a:solidFill>
                  <a:srgbClr val="6547D8"/>
                </a:solidFill>
                <a:latin typeface="Segoe UI"/>
              </a:rPr>
              <a:t>16 / 18</a:t>
            </a:r>
          </a:p>
        </p:txBody>
      </p:sp>
      <p:sp>
        <p:nvSpPr>
          <p:cNvPr id="151" name="Rounded Rectangle 150"/>
          <p:cNvSpPr/>
          <p:nvPr/>
        </p:nvSpPr>
        <p:spPr>
          <a:xfrm>
            <a:off x="557784" y="2459736"/>
            <a:ext cx="3438144" cy="3154680"/>
          </a:xfrm>
          <a:prstGeom prst="roundRect">
            <a:avLst>
              <a:gd name="adj" fmla="val 12000"/>
            </a:avLst>
          </a:prstGeom>
          <a:solidFill>
            <a:srgbClr val="FFFFFF"/>
          </a:solidFill>
          <a:ln w="10160">
            <a:solidFill>
              <a:srgbClr val="DF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758952" y="2624328"/>
            <a:ext cx="3035808" cy="365760"/>
          </a:xfrm>
          <a:prstGeom prst="rect">
            <a:avLst/>
          </a:prstGeom>
          <a:noFill/>
        </p:spPr>
        <p:txBody>
          <a:bodyPr wrap="square" lIns="9144" rIns="9144" tIns="22860" bIns="22860" anchor="t">
            <a:spAutoFit/>
          </a:bodyPr>
          <a:lstStyle/>
          <a:p>
            <a:pPr>
              <a:lnSpc>
                <a:spcPct val="106000"/>
              </a:lnSpc>
              <a:spcBef>
                <a:spcPts val="0"/>
              </a:spcBef>
              <a:spcAft>
                <a:spcPts val="500"/>
              </a:spcAft>
            </a:pPr>
            <a:r>
              <a:rPr sz="2300" b="1">
                <a:solidFill>
                  <a:srgbClr val="6547D8"/>
                </a:solidFill>
                <a:latin typeface="Segoe UI"/>
              </a:rPr>
              <a:t>01</a:t>
            </a:r>
          </a:p>
        </p:txBody>
      </p:sp>
      <p:sp>
        <p:nvSpPr>
          <p:cNvPr id="153" name="TextBox 152"/>
          <p:cNvSpPr txBox="1"/>
          <p:nvPr/>
        </p:nvSpPr>
        <p:spPr>
          <a:xfrm>
            <a:off x="758952" y="3127248"/>
            <a:ext cx="3035808" cy="749808"/>
          </a:xfrm>
          <a:prstGeom prst="rect">
            <a:avLst/>
          </a:prstGeom>
          <a:noFill/>
        </p:spPr>
        <p:txBody>
          <a:bodyPr wrap="square" lIns="9144" rIns="9144" tIns="22860" bIns="22860" anchor="t">
            <a:spAutoFit/>
          </a:bodyPr>
          <a:lstStyle/>
          <a:p>
            <a:pPr>
              <a:lnSpc>
                <a:spcPct val="106000"/>
              </a:lnSpc>
              <a:spcBef>
                <a:spcPts val="0"/>
              </a:spcBef>
              <a:spcAft>
                <a:spcPts val="500"/>
              </a:spcAft>
            </a:pPr>
            <a:r>
              <a:rPr sz="2200" b="1">
                <a:solidFill>
                  <a:srgbClr val="20243A"/>
                </a:solidFill>
                <a:latin typeface="Segoe UI"/>
              </a:rPr>
              <a:t>Independent evaluation</a:t>
            </a:r>
          </a:p>
        </p:txBody>
      </p:sp>
      <p:sp>
        <p:nvSpPr>
          <p:cNvPr id="154" name="TextBox 153"/>
          <p:cNvSpPr txBox="1"/>
          <p:nvPr/>
        </p:nvSpPr>
        <p:spPr>
          <a:xfrm>
            <a:off x="758952" y="3968496"/>
            <a:ext cx="3035808" cy="1536192"/>
          </a:xfrm>
          <a:prstGeom prst="rect">
            <a:avLst/>
          </a:prstGeom>
          <a:noFill/>
        </p:spPr>
        <p:txBody>
          <a:bodyPr wrap="square" lIns="9144" rIns="9144" tIns="22860" bIns="22860" anchor="t">
            <a:spAutoFit/>
          </a:bodyPr>
          <a:lstStyle/>
          <a:p>
            <a:pPr>
              <a:lnSpc>
                <a:spcPct val="106000"/>
              </a:lnSpc>
              <a:spcBef>
                <a:spcPts val="0"/>
              </a:spcBef>
              <a:spcAft>
                <a:spcPts val="500"/>
              </a:spcAft>
            </a:pPr>
            <a:r>
              <a:rPr sz="1600" b="0">
                <a:solidFill>
                  <a:srgbClr val="646B80"/>
                </a:solidFill>
                <a:latin typeface="Segoe UI"/>
              </a:rPr>
              <a:t>Human-labelled questions across real multi-commit histories.</a:t>
            </a:r>
          </a:p>
          <a:p>
            <a:pPr>
              <a:lnSpc>
                <a:spcPct val="106000"/>
              </a:lnSpc>
              <a:spcBef>
                <a:spcPts val="0"/>
              </a:spcBef>
              <a:spcAft>
                <a:spcPts val="500"/>
              </a:spcAft>
            </a:pPr>
            <a:r>
              <a:rPr sz="1600" b="0">
                <a:solidFill>
                  <a:srgbClr val="646B80"/>
                </a:solidFill>
                <a:latin typeface="Segoe UI"/>
              </a:rPr>
              <a:t>Test rename ambiguity and missed links.</a:t>
            </a:r>
          </a:p>
        </p:txBody>
      </p:sp>
      <p:sp>
        <p:nvSpPr>
          <p:cNvPr id="155" name="Rounded Rectangle 154"/>
          <p:cNvSpPr/>
          <p:nvPr/>
        </p:nvSpPr>
        <p:spPr>
          <a:xfrm>
            <a:off x="4379976" y="2459736"/>
            <a:ext cx="3438144" cy="3154680"/>
          </a:xfrm>
          <a:prstGeom prst="roundRect">
            <a:avLst>
              <a:gd name="adj" fmla="val 12000"/>
            </a:avLst>
          </a:prstGeom>
          <a:solidFill>
            <a:srgbClr val="FFFFFF"/>
          </a:solidFill>
          <a:ln w="10160">
            <a:solidFill>
              <a:srgbClr val="DF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4581144" y="2624328"/>
            <a:ext cx="3035808" cy="365760"/>
          </a:xfrm>
          <a:prstGeom prst="rect">
            <a:avLst/>
          </a:prstGeom>
          <a:noFill/>
        </p:spPr>
        <p:txBody>
          <a:bodyPr wrap="square" lIns="9144" rIns="9144" tIns="22860" bIns="22860" anchor="t">
            <a:spAutoFit/>
          </a:bodyPr>
          <a:lstStyle/>
          <a:p>
            <a:pPr>
              <a:lnSpc>
                <a:spcPct val="106000"/>
              </a:lnSpc>
              <a:spcBef>
                <a:spcPts val="0"/>
              </a:spcBef>
              <a:spcAft>
                <a:spcPts val="500"/>
              </a:spcAft>
            </a:pPr>
            <a:r>
              <a:rPr sz="2300" b="1">
                <a:solidFill>
                  <a:srgbClr val="6547D8"/>
                </a:solidFill>
                <a:latin typeface="Segoe UI"/>
              </a:rPr>
              <a:t>02</a:t>
            </a:r>
          </a:p>
        </p:txBody>
      </p:sp>
      <p:sp>
        <p:nvSpPr>
          <p:cNvPr id="157" name="TextBox 156"/>
          <p:cNvSpPr txBox="1"/>
          <p:nvPr/>
        </p:nvSpPr>
        <p:spPr>
          <a:xfrm>
            <a:off x="4581144" y="3127248"/>
            <a:ext cx="3035808" cy="749808"/>
          </a:xfrm>
          <a:prstGeom prst="rect">
            <a:avLst/>
          </a:prstGeom>
          <a:noFill/>
        </p:spPr>
        <p:txBody>
          <a:bodyPr wrap="square" lIns="9144" rIns="9144" tIns="22860" bIns="22860" anchor="t">
            <a:spAutoFit/>
          </a:bodyPr>
          <a:lstStyle/>
          <a:p>
            <a:pPr>
              <a:lnSpc>
                <a:spcPct val="106000"/>
              </a:lnSpc>
              <a:spcBef>
                <a:spcPts val="0"/>
              </a:spcBef>
              <a:spcAft>
                <a:spcPts val="500"/>
              </a:spcAft>
            </a:pPr>
            <a:r>
              <a:rPr sz="2200" b="1">
                <a:solidFill>
                  <a:srgbClr val="20243A"/>
                </a:solidFill>
                <a:latin typeface="Segoe UI"/>
              </a:rPr>
              <a:t>Broader code coverage</a:t>
            </a:r>
          </a:p>
        </p:txBody>
      </p:sp>
      <p:sp>
        <p:nvSpPr>
          <p:cNvPr id="158" name="TextBox 157"/>
          <p:cNvSpPr txBox="1"/>
          <p:nvPr/>
        </p:nvSpPr>
        <p:spPr>
          <a:xfrm>
            <a:off x="4581144" y="3968496"/>
            <a:ext cx="3035808" cy="1536192"/>
          </a:xfrm>
          <a:prstGeom prst="rect">
            <a:avLst/>
          </a:prstGeom>
          <a:noFill/>
        </p:spPr>
        <p:txBody>
          <a:bodyPr wrap="square" lIns="9144" rIns="9144" tIns="22860" bIns="22860" anchor="t">
            <a:spAutoFit/>
          </a:bodyPr>
          <a:lstStyle/>
          <a:p>
            <a:pPr>
              <a:lnSpc>
                <a:spcPct val="106000"/>
              </a:lnSpc>
              <a:spcBef>
                <a:spcPts val="0"/>
              </a:spcBef>
              <a:spcAft>
                <a:spcPts val="500"/>
              </a:spcAft>
            </a:pPr>
            <a:r>
              <a:rPr sz="1600" b="0">
                <a:solidFill>
                  <a:srgbClr val="646B80"/>
                </a:solidFill>
                <a:latin typeface="Segoe UI"/>
              </a:rPr>
              <a:t>Extend parsing beyond JavaScript / JSX.</a:t>
            </a:r>
          </a:p>
          <a:p>
            <a:pPr>
              <a:lnSpc>
                <a:spcPct val="106000"/>
              </a:lnSpc>
              <a:spcBef>
                <a:spcPts val="0"/>
              </a:spcBef>
              <a:spcAft>
                <a:spcPts val="500"/>
              </a:spcAft>
            </a:pPr>
            <a:r>
              <a:rPr sz="1600" b="0">
                <a:solidFill>
                  <a:srgbClr val="646B80"/>
                </a:solidFill>
                <a:latin typeface="Segoe UI"/>
              </a:rPr>
              <a:t>Improve paraphrase matching and supported static patterns.</a:t>
            </a:r>
          </a:p>
        </p:txBody>
      </p:sp>
      <p:sp>
        <p:nvSpPr>
          <p:cNvPr id="159" name="Rounded Rectangle 158"/>
          <p:cNvSpPr/>
          <p:nvPr/>
        </p:nvSpPr>
        <p:spPr>
          <a:xfrm>
            <a:off x="8202168" y="2459736"/>
            <a:ext cx="3438144" cy="3154680"/>
          </a:xfrm>
          <a:prstGeom prst="roundRect">
            <a:avLst>
              <a:gd name="adj" fmla="val 12000"/>
            </a:avLst>
          </a:prstGeom>
          <a:solidFill>
            <a:srgbClr val="FFFFFF"/>
          </a:solidFill>
          <a:ln w="10160">
            <a:solidFill>
              <a:srgbClr val="DF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8403336" y="2624328"/>
            <a:ext cx="3035808" cy="365760"/>
          </a:xfrm>
          <a:prstGeom prst="rect">
            <a:avLst/>
          </a:prstGeom>
          <a:noFill/>
        </p:spPr>
        <p:txBody>
          <a:bodyPr wrap="square" lIns="9144" rIns="9144" tIns="22860" bIns="22860" anchor="t">
            <a:spAutoFit/>
          </a:bodyPr>
          <a:lstStyle/>
          <a:p>
            <a:pPr>
              <a:lnSpc>
                <a:spcPct val="106000"/>
              </a:lnSpc>
              <a:spcBef>
                <a:spcPts val="0"/>
              </a:spcBef>
              <a:spcAft>
                <a:spcPts val="500"/>
              </a:spcAft>
            </a:pPr>
            <a:r>
              <a:rPr sz="2300" b="1">
                <a:solidFill>
                  <a:srgbClr val="6547D8"/>
                </a:solidFill>
                <a:latin typeface="Segoe UI"/>
              </a:rPr>
              <a:t>03</a:t>
            </a:r>
          </a:p>
        </p:txBody>
      </p:sp>
      <p:sp>
        <p:nvSpPr>
          <p:cNvPr id="161" name="TextBox 160"/>
          <p:cNvSpPr txBox="1"/>
          <p:nvPr/>
        </p:nvSpPr>
        <p:spPr>
          <a:xfrm>
            <a:off x="8403336" y="3127248"/>
            <a:ext cx="3035808" cy="749808"/>
          </a:xfrm>
          <a:prstGeom prst="rect">
            <a:avLst/>
          </a:prstGeom>
          <a:noFill/>
        </p:spPr>
        <p:txBody>
          <a:bodyPr wrap="square" lIns="9144" rIns="9144" tIns="22860" bIns="22860" anchor="t">
            <a:spAutoFit/>
          </a:bodyPr>
          <a:lstStyle/>
          <a:p>
            <a:pPr>
              <a:lnSpc>
                <a:spcPct val="106000"/>
              </a:lnSpc>
              <a:spcBef>
                <a:spcPts val="0"/>
              </a:spcBef>
              <a:spcAft>
                <a:spcPts val="500"/>
              </a:spcAft>
            </a:pPr>
            <a:r>
              <a:rPr sz="2200" b="1">
                <a:solidFill>
                  <a:srgbClr val="20243A"/>
                </a:solidFill>
                <a:latin typeface="Segoe UI"/>
              </a:rPr>
              <a:t>Measured scale</a:t>
            </a:r>
          </a:p>
        </p:txBody>
      </p:sp>
      <p:sp>
        <p:nvSpPr>
          <p:cNvPr id="162" name="TextBox 161"/>
          <p:cNvSpPr txBox="1"/>
          <p:nvPr/>
        </p:nvSpPr>
        <p:spPr>
          <a:xfrm>
            <a:off x="8403336" y="3968496"/>
            <a:ext cx="3035808" cy="1536192"/>
          </a:xfrm>
          <a:prstGeom prst="rect">
            <a:avLst/>
          </a:prstGeom>
          <a:noFill/>
        </p:spPr>
        <p:txBody>
          <a:bodyPr wrap="square" lIns="9144" rIns="9144" tIns="22860" bIns="22860" anchor="t">
            <a:spAutoFit/>
          </a:bodyPr>
          <a:lstStyle/>
          <a:p>
            <a:pPr>
              <a:lnSpc>
                <a:spcPct val="106000"/>
              </a:lnSpc>
              <a:spcBef>
                <a:spcPts val="0"/>
              </a:spcBef>
              <a:spcAft>
                <a:spcPts val="500"/>
              </a:spcAft>
            </a:pPr>
            <a:r>
              <a:rPr sz="1600" b="0">
                <a:solidFill>
                  <a:srgbClr val="646B80"/>
                </a:solidFill>
                <a:latin typeface="Segoe UI"/>
              </a:rPr>
              <a:t>Benchmark larger histories and repositories.</a:t>
            </a:r>
          </a:p>
          <a:p>
            <a:pPr>
              <a:lnSpc>
                <a:spcPct val="106000"/>
              </a:lnSpc>
              <a:spcBef>
                <a:spcPts val="0"/>
              </a:spcBef>
              <a:spcAft>
                <a:spcPts val="500"/>
              </a:spcAft>
            </a:pPr>
            <a:r>
              <a:rPr sz="1600" b="0">
                <a:solidFill>
                  <a:srgbClr val="646B80"/>
                </a:solidFill>
                <a:latin typeface="Segoe UI"/>
              </a:rPr>
              <a:t>Add approximate retrieval only when justified.</a:t>
            </a:r>
          </a:p>
        </p:txBody>
      </p:sp>
      <p:sp>
        <p:nvSpPr>
          <p:cNvPr id="163" name="TextBox 162"/>
          <p:cNvSpPr txBox="1"/>
          <p:nvPr/>
        </p:nvSpPr>
        <p:spPr>
          <a:xfrm>
            <a:off x="612648" y="5897880"/>
            <a:ext cx="10972800" cy="292608"/>
          </a:xfrm>
          <a:prstGeom prst="rect">
            <a:avLst/>
          </a:prstGeom>
          <a:noFill/>
        </p:spPr>
        <p:txBody>
          <a:bodyPr wrap="square" lIns="9144" rIns="9144" tIns="22860" bIns="22860" anchor="t">
            <a:spAutoFit/>
          </a:bodyPr>
          <a:lstStyle/>
          <a:p>
            <a:pPr>
              <a:lnSpc>
                <a:spcPct val="106000"/>
              </a:lnSpc>
              <a:spcBef>
                <a:spcPts val="0"/>
              </a:spcBef>
              <a:spcAft>
                <a:spcPts val="500"/>
              </a:spcAft>
            </a:pPr>
            <a:r>
              <a:rPr sz="1600" b="1">
                <a:solidFill>
                  <a:srgbClr val="6547D8"/>
                </a:solidFill>
                <a:latin typeface="Segoe UI"/>
              </a:rPr>
              <a:t>Current boundary: bounded static analysis, local indexes, and explicit uncertainty.</a:t>
            </a:r>
          </a:p>
        </p:txBody>
      </p:sp>
    </p:spTree>
  </p:cSld>
  <p:clrMapOvr>
    <a:masterClrMapping/>
  </p:clrMapOvr>
  <p:transition spd="fast">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8F9FD"/>
        </a:solidFill>
        <a:effectLst/>
      </p:bgPr>
    </p:bg>
    <p:spTree>
      <p:nvGrpSpPr>
        <p:cNvPr id="148" name="Shape 148"/>
        <p:cNvGrpSpPr/>
        <p:nvPr/>
      </p:nvGrpSpPr>
      <p:grpSpPr>
        <a:xfrm>
          <a:off x="0" y="0"/>
          <a:ext cx="0" cy="0"/>
          <a:chOff x="0" y="0"/>
          <a:chExt cx="0" cy="0"/>
        </a:xfrm>
      </p:grpSpPr>
      <p:sp>
        <p:nvSpPr>
          <p:cNvPr id="149" name="Rectangle 148"/>
          <p:cNvSpPr/>
          <p:nvPr/>
        </p:nvSpPr>
        <p:spPr>
          <a:xfrm>
            <a:off x="502920" y="393192"/>
            <a:ext cx="100584" cy="210312"/>
          </a:xfrm>
          <a:prstGeom prst="rect">
            <a:avLst/>
          </a:prstGeom>
          <a:solidFill>
            <a:srgbClr val="6547D8"/>
          </a:solidFill>
          <a:ln w="10160">
            <a:solidFill>
              <a:srgbClr val="6547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713232" y="365760"/>
            <a:ext cx="1920240" cy="274320"/>
          </a:xfrm>
          <a:prstGeom prst="rect">
            <a:avLst/>
          </a:prstGeom>
          <a:noFill/>
        </p:spPr>
        <p:txBody>
          <a:bodyPr wrap="square" lIns="9144" rIns="9144" tIns="22860" bIns="22860" anchor="t">
            <a:spAutoFit/>
          </a:bodyPr>
          <a:lstStyle/>
          <a:p>
            <a:pPr>
              <a:lnSpc>
                <a:spcPct val="106000"/>
              </a:lnSpc>
              <a:spcBef>
                <a:spcPts val="0"/>
              </a:spcBef>
              <a:spcAft>
                <a:spcPts val="500"/>
              </a:spcAft>
            </a:pPr>
            <a:r>
              <a:rPr sz="1100" b="1">
                <a:solidFill>
                  <a:srgbClr val="6547D8"/>
                </a:solidFill>
                <a:latin typeface="Segoe UI"/>
              </a:rPr>
              <a:t>CODESTRATA</a:t>
            </a:r>
          </a:p>
        </p:txBody>
      </p:sp>
      <p:sp>
        <p:nvSpPr>
          <p:cNvPr id="151" name="TextBox 150"/>
          <p:cNvSpPr txBox="1"/>
          <p:nvPr/>
        </p:nvSpPr>
        <p:spPr>
          <a:xfrm>
            <a:off x="3657600" y="374904"/>
            <a:ext cx="8001000" cy="292608"/>
          </a:xfrm>
          <a:prstGeom prst="rect">
            <a:avLst/>
          </a:prstGeom>
          <a:noFill/>
        </p:spPr>
        <p:txBody>
          <a:bodyPr wrap="square" lIns="9144" rIns="9144" tIns="22860" bIns="22860" anchor="t">
            <a:spAutoFit/>
          </a:bodyPr>
          <a:lstStyle/>
          <a:p>
            <a:pPr algn="r">
              <a:lnSpc>
                <a:spcPct val="106000"/>
              </a:lnSpc>
              <a:spcBef>
                <a:spcPts val="0"/>
              </a:spcBef>
              <a:spcAft>
                <a:spcPts val="500"/>
              </a:spcAft>
            </a:pPr>
            <a:r>
              <a:rPr sz="1000" b="0">
                <a:solidFill>
                  <a:srgbClr val="646B80"/>
                </a:solidFill>
                <a:latin typeface="Segoe UI"/>
              </a:rPr>
              <a:t>DIFFERENTIATION • BEHAVIOR WATCH</a:t>
            </a:r>
          </a:p>
        </p:txBody>
      </p:sp>
      <p:sp>
        <p:nvSpPr>
          <p:cNvPr id="152" name="TextBox 151"/>
          <p:cNvSpPr txBox="1"/>
          <p:nvPr/>
        </p:nvSpPr>
        <p:spPr>
          <a:xfrm>
            <a:off x="502920" y="896112"/>
            <a:ext cx="11109960" cy="868680"/>
          </a:xfrm>
          <a:prstGeom prst="rect">
            <a:avLst/>
          </a:prstGeom>
          <a:noFill/>
        </p:spPr>
        <p:txBody>
          <a:bodyPr wrap="square" lIns="9144" rIns="9144" tIns="22860" bIns="22860" anchor="t">
            <a:spAutoFit/>
          </a:bodyPr>
          <a:lstStyle/>
          <a:p>
            <a:pPr>
              <a:lnSpc>
                <a:spcPct val="106000"/>
              </a:lnSpc>
              <a:spcBef>
                <a:spcPts val="0"/>
              </a:spcBef>
              <a:spcAft>
                <a:spcPts val="500"/>
              </a:spcAft>
            </a:pPr>
            <a:r>
              <a:rPr sz="3400" b="1">
                <a:solidFill>
                  <a:srgbClr val="20243A"/>
                </a:solidFill>
                <a:latin typeface="Segoe UI"/>
              </a:rPr>
              <a:t>A discovery becomes a saved rule.</a:t>
            </a:r>
          </a:p>
        </p:txBody>
      </p:sp>
      <p:sp>
        <p:nvSpPr>
          <p:cNvPr id="153" name="TextBox 152"/>
          <p:cNvSpPr txBox="1"/>
          <p:nvPr/>
        </p:nvSpPr>
        <p:spPr>
          <a:xfrm>
            <a:off x="530352" y="1746504"/>
            <a:ext cx="10972800" cy="411480"/>
          </a:xfrm>
          <a:prstGeom prst="rect">
            <a:avLst/>
          </a:prstGeom>
          <a:noFill/>
        </p:spPr>
        <p:txBody>
          <a:bodyPr wrap="square" lIns="9144" rIns="9144" tIns="22860" bIns="22860" anchor="t">
            <a:spAutoFit/>
          </a:bodyPr>
          <a:lstStyle/>
          <a:p>
            <a:pPr>
              <a:lnSpc>
                <a:spcPct val="106000"/>
              </a:lnSpc>
              <a:spcBef>
                <a:spcPts val="0"/>
              </a:spcBef>
              <a:spcAft>
                <a:spcPts val="500"/>
              </a:spcAft>
            </a:pPr>
            <a:r>
              <a:rPr sz="1500" b="0">
                <a:solidFill>
                  <a:srgbClr val="646B80"/>
                </a:solidFill>
                <a:latin typeface="Segoe UI"/>
              </a:rPr>
              <a:t>Pin “awaits policyCheck” and follow the same function through its linked history.</a:t>
            </a:r>
          </a:p>
        </p:txBody>
      </p:sp>
      <p:cxnSp>
        <p:nvCxnSpPr>
          <p:cNvPr id="154" name="Connector 153"/>
          <p:cNvCxnSpPr/>
          <p:nvPr/>
        </p:nvCxnSpPr>
        <p:spPr>
          <a:xfrm>
            <a:off x="502920" y="6428232"/>
            <a:ext cx="11183112" cy="0"/>
          </a:xfrm>
          <a:prstGeom prst="line">
            <a:avLst/>
          </a:prstGeom>
          <a:ln w="10160">
            <a:solidFill>
              <a:srgbClr val="DFE3EF"/>
            </a:solidFill>
          </a:ln>
          <a:effectLst/>
        </p:spPr>
        <p:style>
          <a:lnRef idx="2">
            <a:schemeClr val="accent1"/>
          </a:lnRef>
          <a:fillRef idx="0">
            <a:schemeClr val="accent1"/>
          </a:fillRef>
          <a:effectRef idx="1">
            <a:schemeClr val="accent1"/>
          </a:effectRef>
          <a:fontRef idx="minor">
            <a:schemeClr val="tx1"/>
          </a:fontRef>
        </p:style>
      </p:cxnSp>
      <p:sp>
        <p:nvSpPr>
          <p:cNvPr id="155" name="TextBox 154"/>
          <p:cNvSpPr txBox="1"/>
          <p:nvPr/>
        </p:nvSpPr>
        <p:spPr>
          <a:xfrm>
            <a:off x="521207" y="6519672"/>
            <a:ext cx="8961120" cy="201168"/>
          </a:xfrm>
          <a:prstGeom prst="rect">
            <a:avLst/>
          </a:prstGeom>
          <a:noFill/>
        </p:spPr>
        <p:txBody>
          <a:bodyPr wrap="square" lIns="9144" rIns="9144" tIns="22860" bIns="22860" anchor="t">
            <a:spAutoFit/>
          </a:bodyPr>
          <a:lstStyle/>
          <a:p>
            <a:pPr>
              <a:lnSpc>
                <a:spcPct val="106000"/>
              </a:lnSpc>
              <a:spcBef>
                <a:spcPts val="0"/>
              </a:spcBef>
              <a:spcAft>
                <a:spcPts val="500"/>
              </a:spcAft>
            </a:pPr>
            <a:r>
              <a:rPr sz="900" b="0">
                <a:solidFill>
                  <a:srgbClr val="646B80"/>
                </a:solidFill>
                <a:latin typeface="Segoe UI"/>
              </a:rPr>
              <a:t>CODESTRATA  /  AGENTIC CODE INTELLIGENCE</a:t>
            </a:r>
          </a:p>
        </p:txBody>
      </p:sp>
      <p:sp>
        <p:nvSpPr>
          <p:cNvPr id="156" name="TextBox 155"/>
          <p:cNvSpPr txBox="1"/>
          <p:nvPr/>
        </p:nvSpPr>
        <p:spPr>
          <a:xfrm>
            <a:off x="10698480" y="6492240"/>
            <a:ext cx="987552" cy="228600"/>
          </a:xfrm>
          <a:prstGeom prst="rect">
            <a:avLst/>
          </a:prstGeom>
          <a:noFill/>
        </p:spPr>
        <p:txBody>
          <a:bodyPr wrap="square" lIns="9144" rIns="9144" tIns="22860" bIns="22860" anchor="t">
            <a:spAutoFit/>
          </a:bodyPr>
          <a:lstStyle/>
          <a:p>
            <a:r>
              <a:rPr sz="1000" b="1">
                <a:solidFill>
                  <a:srgbClr val="6547D8"/>
                </a:solidFill>
                <a:latin typeface="Segoe UI"/>
              </a:rPr>
              <a:t>11 / 18</a:t>
            </a:r>
          </a:p>
        </p:txBody>
      </p:sp>
      <p:sp>
        <p:nvSpPr>
          <p:cNvPr id="157" name="Rounded Rectangle 156"/>
          <p:cNvSpPr/>
          <p:nvPr/>
        </p:nvSpPr>
        <p:spPr>
          <a:xfrm>
            <a:off x="544068" y="2327148"/>
            <a:ext cx="6922008" cy="3803904"/>
          </a:xfrm>
          <a:prstGeom prst="roundRect">
            <a:avLst>
              <a:gd name="adj" fmla="val 12000"/>
            </a:avLst>
          </a:prstGeom>
          <a:solidFill>
            <a:srgbClr val="FFFFFF"/>
          </a:solidFill>
          <a:ln w="10160">
            <a:solidFill>
              <a:srgbClr val="DF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8" name="Picture 157" descr="watch.png"/>
          <p:cNvPicPr>
            <a:picLocks noChangeAspect="1"/>
          </p:cNvPicPr>
          <p:nvPr/>
        </p:nvPicPr>
        <p:blipFill>
          <a:blip r:embed="rId3"/>
          <a:stretch>
            <a:fillRect/>
          </a:stretch>
        </p:blipFill>
        <p:spPr>
          <a:xfrm>
            <a:off x="1155034" y="2359152"/>
            <a:ext cx="5700074" cy="3739896"/>
          </a:xfrm>
          <a:prstGeom prst="rect">
            <a:avLst/>
          </a:prstGeom>
        </p:spPr>
      </p:pic>
      <p:sp>
        <p:nvSpPr>
          <p:cNvPr id="159" name="TextBox 158"/>
          <p:cNvSpPr txBox="1"/>
          <p:nvPr/>
        </p:nvSpPr>
        <p:spPr>
          <a:xfrm>
            <a:off x="7818120" y="2487168"/>
            <a:ext cx="3803904" cy="411480"/>
          </a:xfrm>
          <a:prstGeom prst="rect">
            <a:avLst/>
          </a:prstGeom>
          <a:noFill/>
        </p:spPr>
        <p:txBody>
          <a:bodyPr wrap="square" lIns="9144" rIns="9144" tIns="22860" bIns="22860" anchor="t">
            <a:spAutoFit/>
          </a:bodyPr>
          <a:lstStyle/>
          <a:p>
            <a:pPr>
              <a:lnSpc>
                <a:spcPct val="106000"/>
              </a:lnSpc>
              <a:spcBef>
                <a:spcPts val="0"/>
              </a:spcBef>
              <a:spcAft>
                <a:spcPts val="500"/>
              </a:spcAft>
            </a:pPr>
            <a:r>
              <a:rPr sz="2100" b="1">
                <a:solidFill>
                  <a:srgbClr val="6547D8"/>
                </a:solidFill>
                <a:latin typeface="Segoe UI"/>
              </a:rPr>
              <a:t>One pinned lineage</a:t>
            </a:r>
          </a:p>
        </p:txBody>
      </p:sp>
      <p:sp>
        <p:nvSpPr>
          <p:cNvPr id="160" name="TextBox 159"/>
          <p:cNvSpPr txBox="1"/>
          <p:nvPr/>
        </p:nvSpPr>
        <p:spPr>
          <a:xfrm>
            <a:off x="7818120" y="2971800"/>
            <a:ext cx="3803904" cy="630936"/>
          </a:xfrm>
          <a:prstGeom prst="rect">
            <a:avLst/>
          </a:prstGeom>
          <a:noFill/>
        </p:spPr>
        <p:txBody>
          <a:bodyPr wrap="square" lIns="9144" rIns="9144" tIns="22860" bIns="22860" anchor="t">
            <a:spAutoFit/>
          </a:bodyPr>
          <a:lstStyle/>
          <a:p>
            <a:pPr>
              <a:lnSpc>
                <a:spcPct val="106000"/>
              </a:lnSpc>
              <a:spcBef>
                <a:spcPts val="0"/>
              </a:spcBef>
              <a:spcAft>
                <a:spcPts val="500"/>
              </a:spcAft>
            </a:pPr>
            <a:r>
              <a:rPr sz="1500" b="0">
                <a:solidFill>
                  <a:srgbClr val="646B80"/>
                </a:solidFill>
                <a:latin typeface="Segoe UI"/>
              </a:rPr>
              <a:t>The check stays attached to the function through supported links.</a:t>
            </a:r>
          </a:p>
        </p:txBody>
      </p:sp>
      <p:sp>
        <p:nvSpPr>
          <p:cNvPr id="161" name="TextBox 160"/>
          <p:cNvSpPr txBox="1"/>
          <p:nvPr/>
        </p:nvSpPr>
        <p:spPr>
          <a:xfrm>
            <a:off x="7818120" y="3685032"/>
            <a:ext cx="3803904" cy="411480"/>
          </a:xfrm>
          <a:prstGeom prst="rect">
            <a:avLst/>
          </a:prstGeom>
          <a:noFill/>
        </p:spPr>
        <p:txBody>
          <a:bodyPr wrap="square" lIns="9144" rIns="9144" tIns="22860" bIns="22860" anchor="t">
            <a:spAutoFit/>
          </a:bodyPr>
          <a:lstStyle/>
          <a:p>
            <a:pPr>
              <a:lnSpc>
                <a:spcPct val="106000"/>
              </a:lnSpc>
              <a:spcBef>
                <a:spcPts val="0"/>
              </a:spcBef>
              <a:spcAft>
                <a:spcPts val="500"/>
              </a:spcAft>
            </a:pPr>
            <a:r>
              <a:rPr sz="2100" b="1">
                <a:solidFill>
                  <a:srgbClr val="6547D8"/>
                </a:solidFill>
                <a:latin typeface="Segoe UI"/>
              </a:rPr>
              <a:t>Uncertainty stays visible</a:t>
            </a:r>
          </a:p>
        </p:txBody>
      </p:sp>
      <p:sp>
        <p:nvSpPr>
          <p:cNvPr id="162" name="TextBox 161"/>
          <p:cNvSpPr txBox="1"/>
          <p:nvPr/>
        </p:nvSpPr>
        <p:spPr>
          <a:xfrm>
            <a:off x="7818120" y="4169664"/>
            <a:ext cx="3803904" cy="630936"/>
          </a:xfrm>
          <a:prstGeom prst="rect">
            <a:avLst/>
          </a:prstGeom>
          <a:noFill/>
        </p:spPr>
        <p:txBody>
          <a:bodyPr wrap="square" lIns="9144" rIns="9144" tIns="22860" bIns="22860" anchor="t">
            <a:spAutoFit/>
          </a:bodyPr>
          <a:lstStyle/>
          <a:p>
            <a:pPr>
              <a:lnSpc>
                <a:spcPct val="106000"/>
              </a:lnSpc>
              <a:spcBef>
                <a:spcPts val="0"/>
              </a:spcBef>
              <a:spcAft>
                <a:spcPts val="500"/>
              </a:spcAft>
            </a:pPr>
            <a:r>
              <a:rPr sz="1500" b="0">
                <a:solidFill>
                  <a:srgbClr val="646B80"/>
                </a:solidFill>
                <a:latin typeface="Segoe UI"/>
              </a:rPr>
              <a:t>Ambiguous history and unsupported syntax remain unverified.</a:t>
            </a:r>
          </a:p>
        </p:txBody>
      </p:sp>
      <p:sp>
        <p:nvSpPr>
          <p:cNvPr id="163" name="TextBox 162"/>
          <p:cNvSpPr txBox="1"/>
          <p:nvPr/>
        </p:nvSpPr>
        <p:spPr>
          <a:xfrm>
            <a:off x="7818120" y="4882896"/>
            <a:ext cx="3803904" cy="411480"/>
          </a:xfrm>
          <a:prstGeom prst="rect">
            <a:avLst/>
          </a:prstGeom>
          <a:noFill/>
        </p:spPr>
        <p:txBody>
          <a:bodyPr wrap="square" lIns="9144" rIns="9144" tIns="22860" bIns="22860" anchor="t">
            <a:spAutoFit/>
          </a:bodyPr>
          <a:lstStyle/>
          <a:p>
            <a:pPr>
              <a:lnSpc>
                <a:spcPct val="106000"/>
              </a:lnSpc>
              <a:spcBef>
                <a:spcPts val="0"/>
              </a:spcBef>
              <a:spcAft>
                <a:spcPts val="500"/>
              </a:spcAft>
            </a:pPr>
            <a:r>
              <a:rPr sz="2100" b="1">
                <a:solidFill>
                  <a:srgbClr val="6547D8"/>
                </a:solidFill>
                <a:latin typeface="Segoe UI"/>
              </a:rPr>
              <a:t>Evidence you can export</a:t>
            </a:r>
          </a:p>
        </p:txBody>
      </p:sp>
      <p:sp>
        <p:nvSpPr>
          <p:cNvPr id="164" name="TextBox 163"/>
          <p:cNvSpPr txBox="1"/>
          <p:nvPr/>
        </p:nvSpPr>
        <p:spPr>
          <a:xfrm>
            <a:off x="7818120" y="5367528"/>
            <a:ext cx="3803904" cy="630936"/>
          </a:xfrm>
          <a:prstGeom prst="rect">
            <a:avLst/>
          </a:prstGeom>
          <a:noFill/>
        </p:spPr>
        <p:txBody>
          <a:bodyPr wrap="square" lIns="9144" rIns="9144" tIns="22860" bIns="22860" anchor="t">
            <a:spAutoFit/>
          </a:bodyPr>
          <a:lstStyle/>
          <a:p>
            <a:pPr>
              <a:lnSpc>
                <a:spcPct val="106000"/>
              </a:lnSpc>
              <a:spcBef>
                <a:spcPts val="0"/>
              </a:spcBef>
              <a:spcAft>
                <a:spcPts val="500"/>
              </a:spcAft>
            </a:pPr>
            <a:r>
              <a:rPr sz="1500" b="0">
                <a:solidFill>
                  <a:srgbClr val="646B80"/>
                </a:solidFill>
                <a:latin typeface="Segoe UI"/>
              </a:rPr>
              <a:t>Save source, versions, parsed checks, and lineage confidence as JSON.</a:t>
            </a:r>
          </a:p>
        </p:txBody>
      </p:sp>
    </p:spTree>
  </p:cSld>
  <p:clrMapOvr>
    <a:masterClrMapping/>
  </p:clrMapOvr>
  <p:transition spd="fast">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8F9FD"/>
        </a:solidFill>
        <a:effectLst/>
      </p:bgPr>
    </p:bg>
    <p:spTree>
      <p:nvGrpSpPr>
        <p:cNvPr id="154" name="Shape 154"/>
        <p:cNvGrpSpPr/>
        <p:nvPr/>
      </p:nvGrpSpPr>
      <p:grpSpPr>
        <a:xfrm>
          <a:off x="0" y="0"/>
          <a:ext cx="0" cy="0"/>
          <a:chOff x="0" y="0"/>
          <a:chExt cx="0" cy="0"/>
        </a:xfrm>
      </p:grpSpPr>
      <p:sp>
        <p:nvSpPr>
          <p:cNvPr id="155" name="Rectangle 154"/>
          <p:cNvSpPr/>
          <p:nvPr/>
        </p:nvSpPr>
        <p:spPr>
          <a:xfrm>
            <a:off x="502920" y="393192"/>
            <a:ext cx="100584" cy="210312"/>
          </a:xfrm>
          <a:prstGeom prst="rect">
            <a:avLst/>
          </a:prstGeom>
          <a:solidFill>
            <a:srgbClr val="6547D8"/>
          </a:solidFill>
          <a:ln w="10160">
            <a:solidFill>
              <a:srgbClr val="6547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713232" y="365760"/>
            <a:ext cx="1920240" cy="274320"/>
          </a:xfrm>
          <a:prstGeom prst="rect">
            <a:avLst/>
          </a:prstGeom>
          <a:noFill/>
        </p:spPr>
        <p:txBody>
          <a:bodyPr wrap="square" lIns="9144" rIns="9144" tIns="22860" bIns="22860" anchor="t">
            <a:spAutoFit/>
          </a:bodyPr>
          <a:lstStyle/>
          <a:p>
            <a:pPr>
              <a:lnSpc>
                <a:spcPct val="106000"/>
              </a:lnSpc>
              <a:spcBef>
                <a:spcPts val="0"/>
              </a:spcBef>
              <a:spcAft>
                <a:spcPts val="500"/>
              </a:spcAft>
            </a:pPr>
            <a:r>
              <a:rPr sz="1100" b="1">
                <a:solidFill>
                  <a:srgbClr val="6547D8"/>
                </a:solidFill>
                <a:latin typeface="Segoe UI"/>
              </a:rPr>
              <a:t>CODESTRATA</a:t>
            </a:r>
          </a:p>
        </p:txBody>
      </p:sp>
      <p:sp>
        <p:nvSpPr>
          <p:cNvPr id="157" name="TextBox 156"/>
          <p:cNvSpPr txBox="1"/>
          <p:nvPr/>
        </p:nvSpPr>
        <p:spPr>
          <a:xfrm>
            <a:off x="3657600" y="374904"/>
            <a:ext cx="8001000" cy="292608"/>
          </a:xfrm>
          <a:prstGeom prst="rect">
            <a:avLst/>
          </a:prstGeom>
          <a:noFill/>
        </p:spPr>
        <p:txBody>
          <a:bodyPr wrap="square" lIns="9144" rIns="9144" tIns="22860" bIns="22860" anchor="t">
            <a:spAutoFit/>
          </a:bodyPr>
          <a:lstStyle/>
          <a:p>
            <a:pPr algn="r">
              <a:lnSpc>
                <a:spcPct val="106000"/>
              </a:lnSpc>
              <a:spcBef>
                <a:spcPts val="0"/>
              </a:spcBef>
              <a:spcAft>
                <a:spcPts val="500"/>
              </a:spcAft>
            </a:pPr>
            <a:r>
              <a:rPr sz="1000" b="0">
                <a:solidFill>
                  <a:srgbClr val="646B80"/>
                </a:solidFill>
                <a:latin typeface="Segoe UI"/>
              </a:rPr>
              <a:t>CHECKLIST • VERIFIED IMPLEMENTATION</a:t>
            </a:r>
          </a:p>
        </p:txBody>
      </p:sp>
      <p:sp>
        <p:nvSpPr>
          <p:cNvPr id="158" name="TextBox 157"/>
          <p:cNvSpPr txBox="1"/>
          <p:nvPr/>
        </p:nvSpPr>
        <p:spPr>
          <a:xfrm>
            <a:off x="502920" y="896112"/>
            <a:ext cx="11109960" cy="868680"/>
          </a:xfrm>
          <a:prstGeom prst="rect">
            <a:avLst/>
          </a:prstGeom>
          <a:noFill/>
        </p:spPr>
        <p:txBody>
          <a:bodyPr wrap="square" lIns="9144" rIns="9144" tIns="22860" bIns="22860" anchor="t">
            <a:spAutoFit/>
          </a:bodyPr>
          <a:lstStyle/>
          <a:p>
            <a:pPr>
              <a:lnSpc>
                <a:spcPct val="106000"/>
              </a:lnSpc>
              <a:spcBef>
                <a:spcPts val="0"/>
              </a:spcBef>
              <a:spcAft>
                <a:spcPts val="500"/>
              </a:spcAft>
            </a:pPr>
            <a:r>
              <a:rPr sz="3400" b="1">
                <a:solidFill>
                  <a:srgbClr val="20243A"/>
                </a:solidFill>
                <a:latin typeface="Segoe UI"/>
              </a:rPr>
              <a:t>Built, tested, and ready to demonstrate.</a:t>
            </a:r>
          </a:p>
        </p:txBody>
      </p:sp>
      <p:sp>
        <p:nvSpPr>
          <p:cNvPr id="159" name="TextBox 158"/>
          <p:cNvSpPr txBox="1"/>
          <p:nvPr/>
        </p:nvSpPr>
        <p:spPr>
          <a:xfrm>
            <a:off x="530352" y="1746504"/>
            <a:ext cx="10972800" cy="411480"/>
          </a:xfrm>
          <a:prstGeom prst="rect">
            <a:avLst/>
          </a:prstGeom>
          <a:noFill/>
        </p:spPr>
        <p:txBody>
          <a:bodyPr wrap="square" lIns="9144" rIns="9144" tIns="22860" bIns="22860" anchor="t">
            <a:spAutoFit/>
          </a:bodyPr>
          <a:lstStyle/>
          <a:p>
            <a:pPr>
              <a:lnSpc>
                <a:spcPct val="106000"/>
              </a:lnSpc>
              <a:spcBef>
                <a:spcPts val="0"/>
              </a:spcBef>
              <a:spcAft>
                <a:spcPts val="500"/>
              </a:spcAft>
            </a:pPr>
            <a:r>
              <a:rPr sz="1500" b="0">
                <a:solidFill>
                  <a:srgbClr val="646B80"/>
                </a:solidFill>
                <a:latin typeface="Segoe UI"/>
              </a:rPr>
              <a:t>Published commit 0d23fdc • verification completed 29 September 2026</a:t>
            </a:r>
          </a:p>
        </p:txBody>
      </p:sp>
      <p:cxnSp>
        <p:nvCxnSpPr>
          <p:cNvPr id="160" name="Connector 159"/>
          <p:cNvCxnSpPr/>
          <p:nvPr/>
        </p:nvCxnSpPr>
        <p:spPr>
          <a:xfrm>
            <a:off x="502920" y="6428232"/>
            <a:ext cx="11183112" cy="0"/>
          </a:xfrm>
          <a:prstGeom prst="line">
            <a:avLst/>
          </a:prstGeom>
          <a:ln w="10160">
            <a:solidFill>
              <a:srgbClr val="DFE3EF"/>
            </a:solidFill>
          </a:ln>
          <a:effectLst/>
        </p:spPr>
        <p:style>
          <a:lnRef idx="2">
            <a:schemeClr val="accent1"/>
          </a:lnRef>
          <a:fillRef idx="0">
            <a:schemeClr val="accent1"/>
          </a:fillRef>
          <a:effectRef idx="1">
            <a:schemeClr val="accent1"/>
          </a:effectRef>
          <a:fontRef idx="minor">
            <a:schemeClr val="tx1"/>
          </a:fontRef>
        </p:style>
      </p:cxnSp>
      <p:sp>
        <p:nvSpPr>
          <p:cNvPr id="161" name="TextBox 160"/>
          <p:cNvSpPr txBox="1"/>
          <p:nvPr/>
        </p:nvSpPr>
        <p:spPr>
          <a:xfrm>
            <a:off x="521207" y="6519672"/>
            <a:ext cx="8961120" cy="201168"/>
          </a:xfrm>
          <a:prstGeom prst="rect">
            <a:avLst/>
          </a:prstGeom>
          <a:noFill/>
        </p:spPr>
        <p:txBody>
          <a:bodyPr wrap="square" lIns="9144" rIns="9144" tIns="22860" bIns="22860" anchor="t">
            <a:spAutoFit/>
          </a:bodyPr>
          <a:lstStyle/>
          <a:p>
            <a:pPr>
              <a:lnSpc>
                <a:spcPct val="106000"/>
              </a:lnSpc>
              <a:spcBef>
                <a:spcPts val="0"/>
              </a:spcBef>
              <a:spcAft>
                <a:spcPts val="500"/>
              </a:spcAft>
            </a:pPr>
            <a:r>
              <a:rPr sz="900" b="0">
                <a:solidFill>
                  <a:srgbClr val="646B80"/>
                </a:solidFill>
                <a:latin typeface="Segoe UI"/>
              </a:rPr>
              <a:t>CODESTRATA  /  AGENTIC CODE INTELLIGENCE</a:t>
            </a:r>
          </a:p>
        </p:txBody>
      </p:sp>
      <p:sp>
        <p:nvSpPr>
          <p:cNvPr id="162" name="TextBox 161"/>
          <p:cNvSpPr txBox="1"/>
          <p:nvPr/>
        </p:nvSpPr>
        <p:spPr>
          <a:xfrm>
            <a:off x="10698480" y="6492240"/>
            <a:ext cx="987552" cy="228600"/>
          </a:xfrm>
          <a:prstGeom prst="rect">
            <a:avLst/>
          </a:prstGeom>
          <a:noFill/>
        </p:spPr>
        <p:txBody>
          <a:bodyPr wrap="square" lIns="9144" rIns="9144" tIns="22860" bIns="22860" anchor="t">
            <a:spAutoFit/>
          </a:bodyPr>
          <a:lstStyle/>
          <a:p>
            <a:r>
              <a:rPr sz="1000" b="1">
                <a:solidFill>
                  <a:srgbClr val="6547D8"/>
                </a:solidFill>
                <a:latin typeface="Segoe UI"/>
              </a:rPr>
              <a:t>17 / 18</a:t>
            </a:r>
          </a:p>
        </p:txBody>
      </p:sp>
      <p:sp>
        <p:nvSpPr>
          <p:cNvPr id="163" name="Rounded Rectangle 162"/>
          <p:cNvSpPr/>
          <p:nvPr/>
        </p:nvSpPr>
        <p:spPr>
          <a:xfrm>
            <a:off x="594360" y="2423160"/>
            <a:ext cx="2660904" cy="1920240"/>
          </a:xfrm>
          <a:prstGeom prst="roundRect">
            <a:avLst>
              <a:gd name="adj" fmla="val 12000"/>
            </a:avLst>
          </a:prstGeom>
          <a:solidFill>
            <a:srgbClr val="E9F7F1"/>
          </a:solidFill>
          <a:ln w="10160">
            <a:solidFill>
              <a:srgbClr val="E9F7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804672" y="2679192"/>
            <a:ext cx="2221992" cy="749808"/>
          </a:xfrm>
          <a:prstGeom prst="rect">
            <a:avLst/>
          </a:prstGeom>
          <a:noFill/>
        </p:spPr>
        <p:txBody>
          <a:bodyPr wrap="square" lIns="9144" rIns="9144" tIns="22860" bIns="22860" anchor="t">
            <a:spAutoFit/>
          </a:bodyPr>
          <a:lstStyle/>
          <a:p>
            <a:pPr>
              <a:lnSpc>
                <a:spcPct val="106000"/>
              </a:lnSpc>
              <a:spcBef>
                <a:spcPts val="0"/>
              </a:spcBef>
              <a:spcAft>
                <a:spcPts val="500"/>
              </a:spcAft>
            </a:pPr>
            <a:r>
              <a:rPr sz="4900" b="1">
                <a:solidFill>
                  <a:srgbClr val="087A60"/>
                </a:solidFill>
                <a:latin typeface="Segoe UI"/>
              </a:rPr>
              <a:t>92</a:t>
            </a:r>
          </a:p>
        </p:txBody>
      </p:sp>
      <p:sp>
        <p:nvSpPr>
          <p:cNvPr id="165" name="TextBox 164"/>
          <p:cNvSpPr txBox="1"/>
          <p:nvPr/>
        </p:nvSpPr>
        <p:spPr>
          <a:xfrm>
            <a:off x="804672" y="3675887"/>
            <a:ext cx="2221992" cy="384048"/>
          </a:xfrm>
          <a:prstGeom prst="rect">
            <a:avLst/>
          </a:prstGeom>
          <a:noFill/>
        </p:spPr>
        <p:txBody>
          <a:bodyPr wrap="square" lIns="9144" rIns="9144" tIns="22860" bIns="22860" anchor="t">
            <a:spAutoFit/>
          </a:bodyPr>
          <a:lstStyle/>
          <a:p>
            <a:pPr>
              <a:lnSpc>
                <a:spcPct val="106000"/>
              </a:lnSpc>
              <a:spcBef>
                <a:spcPts val="0"/>
              </a:spcBef>
              <a:spcAft>
                <a:spcPts val="500"/>
              </a:spcAft>
            </a:pPr>
            <a:r>
              <a:rPr sz="1500" b="1">
                <a:solidFill>
                  <a:srgbClr val="20243A"/>
                </a:solidFill>
                <a:latin typeface="Segoe UI"/>
              </a:rPr>
              <a:t>Node tests passed</a:t>
            </a:r>
          </a:p>
        </p:txBody>
      </p:sp>
      <p:sp>
        <p:nvSpPr>
          <p:cNvPr id="166" name="Rounded Rectangle 165"/>
          <p:cNvSpPr/>
          <p:nvPr/>
        </p:nvSpPr>
        <p:spPr>
          <a:xfrm>
            <a:off x="3520440" y="2423160"/>
            <a:ext cx="2660904" cy="1920240"/>
          </a:xfrm>
          <a:prstGeom prst="roundRect">
            <a:avLst>
              <a:gd name="adj" fmla="val 12000"/>
            </a:avLst>
          </a:prstGeom>
          <a:solidFill>
            <a:srgbClr val="E9F7F1"/>
          </a:solidFill>
          <a:ln w="10160">
            <a:solidFill>
              <a:srgbClr val="E9F7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3730752" y="2679192"/>
            <a:ext cx="2221992" cy="749808"/>
          </a:xfrm>
          <a:prstGeom prst="rect">
            <a:avLst/>
          </a:prstGeom>
          <a:noFill/>
        </p:spPr>
        <p:txBody>
          <a:bodyPr wrap="square" lIns="9144" rIns="9144" tIns="22860" bIns="22860" anchor="t">
            <a:spAutoFit/>
          </a:bodyPr>
          <a:lstStyle/>
          <a:p>
            <a:pPr>
              <a:lnSpc>
                <a:spcPct val="106000"/>
              </a:lnSpc>
              <a:spcBef>
                <a:spcPts val="0"/>
              </a:spcBef>
              <a:spcAft>
                <a:spcPts val="500"/>
              </a:spcAft>
            </a:pPr>
            <a:r>
              <a:rPr sz="4900" b="1">
                <a:solidFill>
                  <a:srgbClr val="087A60"/>
                </a:solidFill>
                <a:latin typeface="Segoe UI"/>
              </a:rPr>
              <a:t>9</a:t>
            </a:r>
          </a:p>
        </p:txBody>
      </p:sp>
      <p:sp>
        <p:nvSpPr>
          <p:cNvPr id="168" name="TextBox 167"/>
          <p:cNvSpPr txBox="1"/>
          <p:nvPr/>
        </p:nvSpPr>
        <p:spPr>
          <a:xfrm>
            <a:off x="3730752" y="3675887"/>
            <a:ext cx="2221992" cy="384048"/>
          </a:xfrm>
          <a:prstGeom prst="rect">
            <a:avLst/>
          </a:prstGeom>
          <a:noFill/>
        </p:spPr>
        <p:txBody>
          <a:bodyPr wrap="square" lIns="9144" rIns="9144" tIns="22860" bIns="22860" anchor="t">
            <a:spAutoFit/>
          </a:bodyPr>
          <a:lstStyle/>
          <a:p>
            <a:pPr>
              <a:lnSpc>
                <a:spcPct val="106000"/>
              </a:lnSpc>
              <a:spcBef>
                <a:spcPts val="0"/>
              </a:spcBef>
              <a:spcAft>
                <a:spcPts val="500"/>
              </a:spcAft>
            </a:pPr>
            <a:r>
              <a:rPr sz="1500" b="1">
                <a:solidFill>
                  <a:srgbClr val="20243A"/>
                </a:solidFill>
                <a:latin typeface="Segoe UI"/>
              </a:rPr>
              <a:t>Browser checks passed</a:t>
            </a:r>
          </a:p>
        </p:txBody>
      </p:sp>
      <p:sp>
        <p:nvSpPr>
          <p:cNvPr id="169" name="TextBox 168"/>
          <p:cNvSpPr txBox="1"/>
          <p:nvPr/>
        </p:nvSpPr>
        <p:spPr>
          <a:xfrm>
            <a:off x="640080" y="4718304"/>
            <a:ext cx="5349240" cy="1088136"/>
          </a:xfrm>
          <a:prstGeom prst="rect">
            <a:avLst/>
          </a:prstGeom>
          <a:noFill/>
        </p:spPr>
        <p:txBody>
          <a:bodyPr wrap="square" lIns="9144" rIns="9144" tIns="22860" bIns="22860" anchor="t">
            <a:spAutoFit/>
          </a:bodyPr>
          <a:lstStyle/>
          <a:p>
            <a:pPr>
              <a:lnSpc>
                <a:spcPct val="106000"/>
              </a:lnSpc>
              <a:spcBef>
                <a:spcPts val="0"/>
              </a:spcBef>
              <a:spcAft>
                <a:spcPts val="500"/>
              </a:spcAft>
            </a:pPr>
            <a:r>
              <a:rPr sz="1700" b="0">
                <a:solidFill>
                  <a:srgbClr val="646B80"/>
                </a:solidFill>
                <a:latin typeface="Segoe UI"/>
              </a:rPr>
              <a:t>CI: Linux + Windows + Docker</a:t>
            </a:r>
          </a:p>
          <a:p>
            <a:pPr>
              <a:lnSpc>
                <a:spcPct val="106000"/>
              </a:lnSpc>
              <a:spcBef>
                <a:spcPts val="0"/>
              </a:spcBef>
              <a:spcAft>
                <a:spcPts val="500"/>
              </a:spcAft>
            </a:pPr>
            <a:r>
              <a:rPr sz="1700" b="0">
                <a:solidFill>
                  <a:srgbClr val="646B80"/>
                </a:solidFill>
                <a:latin typeface="Segoe UI"/>
              </a:rPr>
              <a:t>Chromium + Firefox + mobile</a:t>
            </a:r>
          </a:p>
          <a:p>
            <a:pPr>
              <a:lnSpc>
                <a:spcPct val="106000"/>
              </a:lnSpc>
              <a:spcBef>
                <a:spcPts val="0"/>
              </a:spcBef>
              <a:spcAft>
                <a:spcPts val="500"/>
              </a:spcAft>
            </a:pPr>
            <a:r>
              <a:rPr sz="1700" b="0">
                <a:solidFill>
                  <a:srgbClr val="646B80"/>
                </a:solidFill>
                <a:latin typeface="Segoe UI"/>
              </a:rPr>
              <a:t>Python / Node encoder bridge</a:t>
            </a:r>
          </a:p>
        </p:txBody>
      </p:sp>
      <p:sp>
        <p:nvSpPr>
          <p:cNvPr id="170" name="Rounded Rectangle 169"/>
          <p:cNvSpPr/>
          <p:nvPr/>
        </p:nvSpPr>
        <p:spPr>
          <a:xfrm>
            <a:off x="6492240" y="2423160"/>
            <a:ext cx="5148072" cy="3621024"/>
          </a:xfrm>
          <a:prstGeom prst="roundRect">
            <a:avLst>
              <a:gd name="adj" fmla="val 12000"/>
            </a:avLst>
          </a:prstGeom>
          <a:solidFill>
            <a:srgbClr val="FFFFFF"/>
          </a:solidFill>
          <a:ln w="10160">
            <a:solidFill>
              <a:srgbClr val="DF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6739128" y="2697480"/>
            <a:ext cx="4553712" cy="283464"/>
          </a:xfrm>
          <a:prstGeom prst="rect">
            <a:avLst/>
          </a:prstGeom>
          <a:noFill/>
        </p:spPr>
        <p:txBody>
          <a:bodyPr wrap="square" lIns="9144" rIns="9144" tIns="22860" bIns="22860" anchor="t">
            <a:spAutoFit/>
          </a:bodyPr>
          <a:lstStyle/>
          <a:p>
            <a:pPr>
              <a:lnSpc>
                <a:spcPct val="106000"/>
              </a:lnSpc>
              <a:spcBef>
                <a:spcPts val="0"/>
              </a:spcBef>
              <a:spcAft>
                <a:spcPts val="500"/>
              </a:spcAft>
            </a:pPr>
            <a:r>
              <a:rPr sz="1400" b="1">
                <a:solidFill>
                  <a:srgbClr val="20243A"/>
                </a:solidFill>
                <a:latin typeface="Segoe UI"/>
              </a:rPr>
              <a:t>Working prototype + public repository</a:t>
            </a:r>
          </a:p>
        </p:txBody>
      </p:sp>
      <p:sp>
        <p:nvSpPr>
          <p:cNvPr id="172" name="TextBox 171"/>
          <p:cNvSpPr txBox="1"/>
          <p:nvPr/>
        </p:nvSpPr>
        <p:spPr>
          <a:xfrm>
            <a:off x="6739128" y="3035808"/>
            <a:ext cx="4553712" cy="246888"/>
          </a:xfrm>
          <a:prstGeom prst="rect">
            <a:avLst/>
          </a:prstGeom>
          <a:noFill/>
        </p:spPr>
        <p:txBody>
          <a:bodyPr wrap="square" lIns="9144" rIns="9144" tIns="22860" bIns="22860" anchor="t">
            <a:spAutoFit/>
          </a:bodyPr>
          <a:lstStyle/>
          <a:p>
            <a:pPr>
              <a:lnSpc>
                <a:spcPct val="106000"/>
              </a:lnSpc>
              <a:spcBef>
                <a:spcPts val="0"/>
              </a:spcBef>
              <a:spcAft>
                <a:spcPts val="500"/>
              </a:spcAft>
            </a:pPr>
            <a:r>
              <a:rPr sz="1000" b="1">
                <a:solidFill>
                  <a:srgbClr val="087A60"/>
                </a:solidFill>
                <a:latin typeface="Segoe UI"/>
              </a:rPr>
              <a:t>READY</a:t>
            </a:r>
          </a:p>
        </p:txBody>
      </p:sp>
      <p:sp>
        <p:nvSpPr>
          <p:cNvPr id="173" name="TextBox 172"/>
          <p:cNvSpPr txBox="1"/>
          <p:nvPr/>
        </p:nvSpPr>
        <p:spPr>
          <a:xfrm>
            <a:off x="6739128" y="3429000"/>
            <a:ext cx="4553712" cy="283464"/>
          </a:xfrm>
          <a:prstGeom prst="rect">
            <a:avLst/>
          </a:prstGeom>
          <a:noFill/>
        </p:spPr>
        <p:txBody>
          <a:bodyPr wrap="square" lIns="9144" rIns="9144" tIns="22860" bIns="22860" anchor="t">
            <a:spAutoFit/>
          </a:bodyPr>
          <a:lstStyle/>
          <a:p>
            <a:pPr>
              <a:lnSpc>
                <a:spcPct val="106000"/>
              </a:lnSpc>
              <a:spcBef>
                <a:spcPts val="0"/>
              </a:spcBef>
              <a:spcAft>
                <a:spcPts val="500"/>
              </a:spcAft>
            </a:pPr>
            <a:r>
              <a:rPr sz="1400" b="1">
                <a:solidFill>
                  <a:srgbClr val="20243A"/>
                </a:solidFill>
                <a:latin typeface="Segoe UI"/>
              </a:rPr>
              <a:t>README + reproducible setup</a:t>
            </a:r>
          </a:p>
        </p:txBody>
      </p:sp>
      <p:sp>
        <p:nvSpPr>
          <p:cNvPr id="174" name="TextBox 173"/>
          <p:cNvSpPr txBox="1"/>
          <p:nvPr/>
        </p:nvSpPr>
        <p:spPr>
          <a:xfrm>
            <a:off x="6739128" y="3767328"/>
            <a:ext cx="4553712" cy="246888"/>
          </a:xfrm>
          <a:prstGeom prst="rect">
            <a:avLst/>
          </a:prstGeom>
          <a:noFill/>
        </p:spPr>
        <p:txBody>
          <a:bodyPr wrap="square" lIns="9144" rIns="9144" tIns="22860" bIns="22860" anchor="t">
            <a:spAutoFit/>
          </a:bodyPr>
          <a:lstStyle/>
          <a:p>
            <a:pPr>
              <a:lnSpc>
                <a:spcPct val="106000"/>
              </a:lnSpc>
              <a:spcBef>
                <a:spcPts val="0"/>
              </a:spcBef>
              <a:spcAft>
                <a:spcPts val="500"/>
              </a:spcAft>
            </a:pPr>
            <a:r>
              <a:rPr sz="1000" b="1">
                <a:solidFill>
                  <a:srgbClr val="087A60"/>
                </a:solidFill>
                <a:latin typeface="Segoe UI"/>
              </a:rPr>
              <a:t>READY</a:t>
            </a:r>
          </a:p>
        </p:txBody>
      </p:sp>
      <p:sp>
        <p:nvSpPr>
          <p:cNvPr id="175" name="TextBox 174"/>
          <p:cNvSpPr txBox="1"/>
          <p:nvPr/>
        </p:nvSpPr>
        <p:spPr>
          <a:xfrm>
            <a:off x="6739128" y="4160520"/>
            <a:ext cx="4553712" cy="283464"/>
          </a:xfrm>
          <a:prstGeom prst="rect">
            <a:avLst/>
          </a:prstGeom>
          <a:noFill/>
        </p:spPr>
        <p:txBody>
          <a:bodyPr wrap="square" lIns="9144" rIns="9144" tIns="22860" bIns="22860" anchor="t">
            <a:spAutoFit/>
          </a:bodyPr>
          <a:lstStyle/>
          <a:p>
            <a:pPr>
              <a:lnSpc>
                <a:spcPct val="106000"/>
              </a:lnSpc>
              <a:spcBef>
                <a:spcPts val="0"/>
              </a:spcBef>
              <a:spcAft>
                <a:spcPts val="500"/>
              </a:spcAft>
            </a:pPr>
            <a:r>
              <a:rPr sz="1400" b="1">
                <a:solidFill>
                  <a:srgbClr val="20243A"/>
                </a:solidFill>
                <a:latin typeface="Segoe UI"/>
              </a:rPr>
              <a:t>Presentation + measured results</a:t>
            </a:r>
          </a:p>
        </p:txBody>
      </p:sp>
      <p:sp>
        <p:nvSpPr>
          <p:cNvPr id="176" name="TextBox 175"/>
          <p:cNvSpPr txBox="1"/>
          <p:nvPr/>
        </p:nvSpPr>
        <p:spPr>
          <a:xfrm>
            <a:off x="6739128" y="4498848"/>
            <a:ext cx="4553712" cy="246888"/>
          </a:xfrm>
          <a:prstGeom prst="rect">
            <a:avLst/>
          </a:prstGeom>
          <a:noFill/>
        </p:spPr>
        <p:txBody>
          <a:bodyPr wrap="square" lIns="9144" rIns="9144" tIns="22860" bIns="22860" anchor="t">
            <a:spAutoFit/>
          </a:bodyPr>
          <a:lstStyle/>
          <a:p>
            <a:pPr>
              <a:lnSpc>
                <a:spcPct val="106000"/>
              </a:lnSpc>
              <a:spcBef>
                <a:spcPts val="0"/>
              </a:spcBef>
              <a:spcAft>
                <a:spcPts val="500"/>
              </a:spcAft>
            </a:pPr>
            <a:r>
              <a:rPr sz="1000" b="1">
                <a:solidFill>
                  <a:srgbClr val="087A60"/>
                </a:solidFill>
                <a:latin typeface="Segoe UI"/>
              </a:rPr>
              <a:t>READY</a:t>
            </a:r>
          </a:p>
        </p:txBody>
      </p:sp>
      <p:sp>
        <p:nvSpPr>
          <p:cNvPr id="177" name="TextBox 176"/>
          <p:cNvSpPr txBox="1"/>
          <p:nvPr/>
        </p:nvSpPr>
        <p:spPr>
          <a:xfrm>
            <a:off x="6739128" y="4892040"/>
            <a:ext cx="4553712" cy="283464"/>
          </a:xfrm>
          <a:prstGeom prst="rect">
            <a:avLst/>
          </a:prstGeom>
          <a:noFill/>
        </p:spPr>
        <p:txBody>
          <a:bodyPr wrap="square" lIns="9144" rIns="9144" tIns="22860" bIns="22860" anchor="t">
            <a:spAutoFit/>
          </a:bodyPr>
          <a:lstStyle/>
          <a:p>
            <a:pPr>
              <a:lnSpc>
                <a:spcPct val="106000"/>
              </a:lnSpc>
              <a:spcBef>
                <a:spcPts val="0"/>
              </a:spcBef>
              <a:spcAft>
                <a:spcPts val="500"/>
              </a:spcAft>
            </a:pPr>
            <a:r>
              <a:rPr sz="1400" b="1">
                <a:solidFill>
                  <a:srgbClr val="20243A"/>
                </a:solidFill>
                <a:latin typeface="Segoe UI"/>
              </a:rPr>
              <a:t>Demo video, maximum 5 minutes</a:t>
            </a:r>
          </a:p>
        </p:txBody>
      </p:sp>
      <p:sp>
        <p:nvSpPr>
          <p:cNvPr id="178" name="TextBox 177"/>
          <p:cNvSpPr txBox="1"/>
          <p:nvPr/>
        </p:nvSpPr>
        <p:spPr>
          <a:xfrm>
            <a:off x="6739128" y="5230368"/>
            <a:ext cx="4553712" cy="246888"/>
          </a:xfrm>
          <a:prstGeom prst="rect">
            <a:avLst/>
          </a:prstGeom>
          <a:noFill/>
        </p:spPr>
        <p:txBody>
          <a:bodyPr wrap="square" lIns="9144" rIns="9144" tIns="22860" bIns="22860" anchor="t">
            <a:spAutoFit/>
          </a:bodyPr>
          <a:lstStyle/>
          <a:p>
            <a:pPr>
              <a:lnSpc>
                <a:spcPct val="106000"/>
              </a:lnSpc>
              <a:spcBef>
                <a:spcPts val="0"/>
              </a:spcBef>
              <a:spcAft>
                <a:spcPts val="500"/>
              </a:spcAft>
            </a:pPr>
            <a:r>
              <a:rPr sz="1000" b="1">
                <a:solidFill>
                  <a:srgbClr val="AE5427"/>
                </a:solidFill>
                <a:latin typeface="Segoe UI"/>
              </a:rPr>
              <a:t>LINK PENDING</a:t>
            </a:r>
          </a:p>
        </p:txBody>
      </p:sp>
      <p:sp>
        <p:nvSpPr>
          <p:cNvPr id="179" name="TextBox 178"/>
          <p:cNvSpPr txBox="1"/>
          <p:nvPr/>
        </p:nvSpPr>
        <p:spPr>
          <a:xfrm>
            <a:off x="640080" y="5925312"/>
            <a:ext cx="5577840" cy="292608"/>
          </a:xfrm>
          <a:prstGeom prst="rect">
            <a:avLst/>
          </a:prstGeom>
          <a:noFill/>
        </p:spPr>
        <p:txBody>
          <a:bodyPr wrap="square" lIns="9144" rIns="9144" tIns="22860" bIns="22860" anchor="t">
            <a:spAutoFit/>
          </a:bodyPr>
          <a:lstStyle/>
          <a:p>
            <a:pPr>
              <a:lnSpc>
                <a:spcPct val="106000"/>
              </a:lnSpc>
              <a:spcBef>
                <a:spcPts val="0"/>
              </a:spcBef>
              <a:spcAft>
                <a:spcPts val="500"/>
              </a:spcAft>
            </a:pPr>
            <a:r>
              <a:rPr sz="1400" b="1">
                <a:solidFill>
                  <a:srgbClr val="6547D8"/>
                </a:solidFill>
                <a:latin typeface="Segoe UI"/>
                <a:hlinkClick r:id="rId3"/>
              </a:rPr>
              <a:t>github.com/AdvayV/AgenticIntelligence</a:t>
            </a:r>
          </a:p>
        </p:txBody>
      </p:sp>
    </p:spTree>
  </p:cSld>
  <p:clrMapOvr>
    <a:masterClrMapping/>
  </p:clrMapOvr>
  <p:transition spd="fast">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8F9FD"/>
        </a:solidFill>
        <a:effectLst/>
      </p:bgPr>
    </p:bg>
    <p:spTree>
      <p:nvGrpSpPr>
        <p:cNvPr id="161" name="Shape 161"/>
        <p:cNvGrpSpPr/>
        <p:nvPr/>
      </p:nvGrpSpPr>
      <p:grpSpPr>
        <a:xfrm>
          <a:off x="0" y="0"/>
          <a:ext cx="0" cy="0"/>
          <a:chOff x="0" y="0"/>
          <a:chExt cx="0" cy="0"/>
        </a:xfrm>
      </p:grpSpPr>
      <p:sp>
        <p:nvSpPr>
          <p:cNvPr id="162" name="Rectangle 161"/>
          <p:cNvSpPr/>
          <p:nvPr/>
        </p:nvSpPr>
        <p:spPr>
          <a:xfrm>
            <a:off x="502920" y="393192"/>
            <a:ext cx="100584" cy="210312"/>
          </a:xfrm>
          <a:prstGeom prst="rect">
            <a:avLst/>
          </a:prstGeom>
          <a:solidFill>
            <a:srgbClr val="6547D8"/>
          </a:solidFill>
          <a:ln w="10160">
            <a:solidFill>
              <a:srgbClr val="6547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713232" y="365760"/>
            <a:ext cx="1920240" cy="274320"/>
          </a:xfrm>
          <a:prstGeom prst="rect">
            <a:avLst/>
          </a:prstGeom>
          <a:noFill/>
        </p:spPr>
        <p:txBody>
          <a:bodyPr wrap="square" lIns="9144" rIns="9144" tIns="22860" bIns="22860" anchor="t">
            <a:spAutoFit/>
          </a:bodyPr>
          <a:lstStyle/>
          <a:p>
            <a:pPr>
              <a:lnSpc>
                <a:spcPct val="106000"/>
              </a:lnSpc>
              <a:spcBef>
                <a:spcPts val="0"/>
              </a:spcBef>
              <a:spcAft>
                <a:spcPts val="500"/>
              </a:spcAft>
            </a:pPr>
            <a:r>
              <a:rPr sz="1100" b="1">
                <a:solidFill>
                  <a:srgbClr val="6547D8"/>
                </a:solidFill>
                <a:latin typeface="Segoe UI"/>
              </a:rPr>
              <a:t>CODESTRATA</a:t>
            </a:r>
          </a:p>
        </p:txBody>
      </p:sp>
      <p:sp>
        <p:nvSpPr>
          <p:cNvPr id="164" name="TextBox 163"/>
          <p:cNvSpPr txBox="1"/>
          <p:nvPr/>
        </p:nvSpPr>
        <p:spPr>
          <a:xfrm>
            <a:off x="3657600" y="374904"/>
            <a:ext cx="8001000" cy="292608"/>
          </a:xfrm>
          <a:prstGeom prst="rect">
            <a:avLst/>
          </a:prstGeom>
          <a:noFill/>
        </p:spPr>
        <p:txBody>
          <a:bodyPr wrap="square" lIns="9144" rIns="9144" tIns="22860" bIns="22860" anchor="t">
            <a:spAutoFit/>
          </a:bodyPr>
          <a:lstStyle/>
          <a:p>
            <a:pPr algn="r">
              <a:lnSpc>
                <a:spcPct val="106000"/>
              </a:lnSpc>
              <a:spcBef>
                <a:spcPts val="0"/>
              </a:spcBef>
              <a:spcAft>
                <a:spcPts val="500"/>
              </a:spcAft>
            </a:pPr>
            <a:r>
              <a:rPr sz="1000" b="0">
                <a:solidFill>
                  <a:srgbClr val="646B80"/>
                </a:solidFill>
                <a:latin typeface="Segoe UI"/>
              </a:rPr>
              <a:t>THANK YOU</a:t>
            </a:r>
          </a:p>
        </p:txBody>
      </p:sp>
      <p:sp>
        <p:nvSpPr>
          <p:cNvPr id="165" name="TextBox 164"/>
          <p:cNvSpPr txBox="1"/>
          <p:nvPr/>
        </p:nvSpPr>
        <p:spPr>
          <a:xfrm>
            <a:off x="502920" y="896112"/>
            <a:ext cx="11109960" cy="868680"/>
          </a:xfrm>
          <a:prstGeom prst="rect">
            <a:avLst/>
          </a:prstGeom>
          <a:noFill/>
        </p:spPr>
        <p:txBody>
          <a:bodyPr wrap="square" lIns="9144" rIns="9144" tIns="22860" bIns="22860" anchor="t">
            <a:spAutoFit/>
          </a:bodyPr>
          <a:lstStyle/>
          <a:p>
            <a:pPr>
              <a:lnSpc>
                <a:spcPct val="106000"/>
              </a:lnSpc>
              <a:spcBef>
                <a:spcPts val="0"/>
              </a:spcBef>
              <a:spcAft>
                <a:spcPts val="500"/>
              </a:spcAft>
            </a:pPr>
            <a:r>
              <a:rPr sz="3400" b="1">
                <a:solidFill>
                  <a:srgbClr val="20243A"/>
                </a:solidFill>
                <a:latin typeface="Segoe UI"/>
              </a:rPr>
              <a:t/>
            </a:r>
          </a:p>
        </p:txBody>
      </p:sp>
      <p:cxnSp>
        <p:nvCxnSpPr>
          <p:cNvPr id="166" name="Connector 165"/>
          <p:cNvCxnSpPr/>
          <p:nvPr/>
        </p:nvCxnSpPr>
        <p:spPr>
          <a:xfrm>
            <a:off x="502920" y="6428232"/>
            <a:ext cx="11183112" cy="0"/>
          </a:xfrm>
          <a:prstGeom prst="line">
            <a:avLst/>
          </a:prstGeom>
          <a:ln w="10160">
            <a:solidFill>
              <a:srgbClr val="DFE3EF"/>
            </a:solidFill>
          </a:ln>
          <a:effectLst/>
        </p:spPr>
        <p:style>
          <a:lnRef idx="2">
            <a:schemeClr val="accent1"/>
          </a:lnRef>
          <a:fillRef idx="0">
            <a:schemeClr val="accent1"/>
          </a:fillRef>
          <a:effectRef idx="1">
            <a:schemeClr val="accent1"/>
          </a:effectRef>
          <a:fontRef idx="minor">
            <a:schemeClr val="tx1"/>
          </a:fontRef>
        </p:style>
      </p:cxnSp>
      <p:sp>
        <p:nvSpPr>
          <p:cNvPr id="167" name="TextBox 166"/>
          <p:cNvSpPr txBox="1"/>
          <p:nvPr/>
        </p:nvSpPr>
        <p:spPr>
          <a:xfrm>
            <a:off x="521207" y="6519672"/>
            <a:ext cx="8961120" cy="201168"/>
          </a:xfrm>
          <a:prstGeom prst="rect">
            <a:avLst/>
          </a:prstGeom>
          <a:noFill/>
        </p:spPr>
        <p:txBody>
          <a:bodyPr wrap="square" lIns="9144" rIns="9144" tIns="22860" bIns="22860" anchor="t">
            <a:spAutoFit/>
          </a:bodyPr>
          <a:lstStyle/>
          <a:p>
            <a:pPr>
              <a:lnSpc>
                <a:spcPct val="106000"/>
              </a:lnSpc>
              <a:spcBef>
                <a:spcPts val="0"/>
              </a:spcBef>
              <a:spcAft>
                <a:spcPts val="500"/>
              </a:spcAft>
            </a:pPr>
            <a:r>
              <a:rPr sz="900" b="0">
                <a:solidFill>
                  <a:srgbClr val="646B80"/>
                </a:solidFill>
                <a:latin typeface="Segoe UI"/>
              </a:rPr>
              <a:t>CODESTRATA  /  AGENTIC CODE INTELLIGENCE</a:t>
            </a:r>
          </a:p>
        </p:txBody>
      </p:sp>
      <p:sp>
        <p:nvSpPr>
          <p:cNvPr id="168" name="TextBox 167"/>
          <p:cNvSpPr txBox="1"/>
          <p:nvPr/>
        </p:nvSpPr>
        <p:spPr>
          <a:xfrm>
            <a:off x="10698480" y="6492240"/>
            <a:ext cx="987552" cy="228600"/>
          </a:xfrm>
          <a:prstGeom prst="rect">
            <a:avLst/>
          </a:prstGeom>
          <a:noFill/>
        </p:spPr>
        <p:txBody>
          <a:bodyPr wrap="square" lIns="9144" rIns="9144" tIns="22860" bIns="22860" anchor="t">
            <a:spAutoFit/>
          </a:bodyPr>
          <a:lstStyle/>
          <a:p>
            <a:r>
              <a:rPr sz="1000" b="1">
                <a:solidFill>
                  <a:srgbClr val="6547D8"/>
                </a:solidFill>
                <a:latin typeface="Segoe UI"/>
              </a:rPr>
              <a:t>18 / 18</a:t>
            </a:r>
          </a:p>
        </p:txBody>
      </p:sp>
      <p:sp>
        <p:nvSpPr>
          <p:cNvPr id="169" name="TextBox 168"/>
          <p:cNvSpPr txBox="1"/>
          <p:nvPr/>
        </p:nvSpPr>
        <p:spPr>
          <a:xfrm>
            <a:off x="557784" y="1207008"/>
            <a:ext cx="8046720" cy="2596896"/>
          </a:xfrm>
          <a:prstGeom prst="rect">
            <a:avLst/>
          </a:prstGeom>
          <a:noFill/>
        </p:spPr>
        <p:txBody>
          <a:bodyPr wrap="square" lIns="9144" rIns="9144" tIns="22860" bIns="22860" anchor="t">
            <a:spAutoFit/>
          </a:bodyPr>
          <a:lstStyle/>
          <a:p>
            <a:pPr>
              <a:lnSpc>
                <a:spcPct val="106000"/>
              </a:lnSpc>
              <a:spcBef>
                <a:spcPts val="0"/>
              </a:spcBef>
              <a:spcAft>
                <a:spcPts val="500"/>
              </a:spcAft>
            </a:pPr>
            <a:r>
              <a:rPr sz="4900" b="1">
                <a:solidFill>
                  <a:srgbClr val="20243A"/>
                </a:solidFill>
                <a:latin typeface="Segoe UI"/>
              </a:rPr>
              <a:t>Find the change.</a:t>
            </a:r>
          </a:p>
          <a:p>
            <a:pPr>
              <a:lnSpc>
                <a:spcPct val="106000"/>
              </a:lnSpc>
              <a:spcBef>
                <a:spcPts val="0"/>
              </a:spcBef>
              <a:spcAft>
                <a:spcPts val="500"/>
              </a:spcAft>
            </a:pPr>
            <a:r>
              <a:rPr sz="4900" b="1">
                <a:solidFill>
                  <a:srgbClr val="20243A"/>
                </a:solidFill>
                <a:latin typeface="Segoe UI"/>
              </a:rPr>
              <a:t>Explain why.</a:t>
            </a:r>
          </a:p>
          <a:p>
            <a:pPr>
              <a:lnSpc>
                <a:spcPct val="106000"/>
              </a:lnSpc>
              <a:spcBef>
                <a:spcPts val="0"/>
              </a:spcBef>
              <a:spcAft>
                <a:spcPts val="500"/>
              </a:spcAft>
            </a:pPr>
            <a:r>
              <a:rPr sz="4900" b="1">
                <a:solidFill>
                  <a:srgbClr val="20243A"/>
                </a:solidFill>
                <a:latin typeface="Segoe UI"/>
              </a:rPr>
              <a:t>Keep watch.</a:t>
            </a:r>
          </a:p>
        </p:txBody>
      </p:sp>
      <p:sp>
        <p:nvSpPr>
          <p:cNvPr id="170" name="TextBox 169"/>
          <p:cNvSpPr txBox="1"/>
          <p:nvPr/>
        </p:nvSpPr>
        <p:spPr>
          <a:xfrm>
            <a:off x="612648" y="4288536"/>
            <a:ext cx="8458200" cy="905256"/>
          </a:xfrm>
          <a:prstGeom prst="rect">
            <a:avLst/>
          </a:prstGeom>
          <a:noFill/>
        </p:spPr>
        <p:txBody>
          <a:bodyPr wrap="square" lIns="9144" rIns="9144" tIns="22860" bIns="22860" anchor="t">
            <a:spAutoFit/>
          </a:bodyPr>
          <a:lstStyle/>
          <a:p>
            <a:pPr>
              <a:lnSpc>
                <a:spcPct val="106000"/>
              </a:lnSpc>
              <a:spcBef>
                <a:spcPts val="0"/>
              </a:spcBef>
              <a:spcAft>
                <a:spcPts val="500"/>
              </a:spcAft>
            </a:pPr>
            <a:r>
              <a:rPr sz="2400" b="0">
                <a:solidFill>
                  <a:srgbClr val="646B80"/>
                </a:solidFill>
                <a:latin typeface="Segoe UI"/>
              </a:rPr>
              <a:t>CodeStrata makes code behavior</a:t>
            </a:r>
          </a:p>
          <a:p>
            <a:pPr>
              <a:lnSpc>
                <a:spcPct val="106000"/>
              </a:lnSpc>
              <a:spcBef>
                <a:spcPts val="0"/>
              </a:spcBef>
              <a:spcAft>
                <a:spcPts val="500"/>
              </a:spcAft>
            </a:pPr>
            <a:r>
              <a:rPr sz="2400" b="0">
                <a:solidFill>
                  <a:srgbClr val="646B80"/>
                </a:solidFill>
                <a:latin typeface="Segoe UI"/>
              </a:rPr>
              <a:t>reviewable across versions.</a:t>
            </a:r>
          </a:p>
        </p:txBody>
      </p:sp>
      <p:sp>
        <p:nvSpPr>
          <p:cNvPr id="171" name="Rounded Rectangle 170"/>
          <p:cNvSpPr/>
          <p:nvPr/>
        </p:nvSpPr>
        <p:spPr>
          <a:xfrm>
            <a:off x="8942832" y="1453896"/>
            <a:ext cx="2596896" cy="2971800"/>
          </a:xfrm>
          <a:prstGeom prst="roundRect">
            <a:avLst>
              <a:gd name="adj" fmla="val 12000"/>
            </a:avLst>
          </a:prstGeom>
          <a:solidFill>
            <a:srgbClr val="EFEAFF"/>
          </a:solidFill>
          <a:ln w="10160">
            <a:solidFill>
              <a:srgbClr val="EFE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9189720" y="1792224"/>
            <a:ext cx="2093976" cy="347472"/>
          </a:xfrm>
          <a:prstGeom prst="rect">
            <a:avLst/>
          </a:prstGeom>
          <a:noFill/>
        </p:spPr>
        <p:txBody>
          <a:bodyPr wrap="square" lIns="9144" rIns="9144" tIns="22860" bIns="22860" anchor="t">
            <a:spAutoFit/>
          </a:bodyPr>
          <a:lstStyle/>
          <a:p>
            <a:pPr algn="ctr">
              <a:lnSpc>
                <a:spcPct val="106000"/>
              </a:lnSpc>
              <a:spcBef>
                <a:spcPts val="0"/>
              </a:spcBef>
              <a:spcAft>
                <a:spcPts val="500"/>
              </a:spcAft>
            </a:pPr>
            <a:r>
              <a:rPr sz="1800" b="1">
                <a:solidFill>
                  <a:srgbClr val="6547D8"/>
                </a:solidFill>
                <a:latin typeface="Segoe UI"/>
              </a:rPr>
              <a:t>QUESTION</a:t>
            </a:r>
          </a:p>
        </p:txBody>
      </p:sp>
      <p:sp>
        <p:nvSpPr>
          <p:cNvPr id="173" name="TextBox 172"/>
          <p:cNvSpPr txBox="1"/>
          <p:nvPr/>
        </p:nvSpPr>
        <p:spPr>
          <a:xfrm>
            <a:off x="9189720" y="2157984"/>
            <a:ext cx="2093976" cy="283464"/>
          </a:xfrm>
          <a:prstGeom prst="rect">
            <a:avLst/>
          </a:prstGeom>
          <a:noFill/>
        </p:spPr>
        <p:txBody>
          <a:bodyPr wrap="square" lIns="9144" rIns="9144" tIns="22860" bIns="22860" anchor="t">
            <a:spAutoFit/>
          </a:bodyPr>
          <a:lstStyle/>
          <a:p>
            <a:pPr algn="ctr">
              <a:lnSpc>
                <a:spcPct val="106000"/>
              </a:lnSpc>
              <a:spcBef>
                <a:spcPts val="0"/>
              </a:spcBef>
              <a:spcAft>
                <a:spcPts val="500"/>
              </a:spcAft>
            </a:pPr>
            <a:r>
              <a:rPr sz="1800" b="0">
                <a:solidFill>
                  <a:srgbClr val="6547D8"/>
                </a:solidFill>
                <a:latin typeface="Segoe UI"/>
              </a:rPr>
              <a:t>↓</a:t>
            </a:r>
          </a:p>
        </p:txBody>
      </p:sp>
      <p:sp>
        <p:nvSpPr>
          <p:cNvPr id="174" name="TextBox 173"/>
          <p:cNvSpPr txBox="1"/>
          <p:nvPr/>
        </p:nvSpPr>
        <p:spPr>
          <a:xfrm>
            <a:off x="9189720" y="2642616"/>
            <a:ext cx="2093976" cy="347472"/>
          </a:xfrm>
          <a:prstGeom prst="rect">
            <a:avLst/>
          </a:prstGeom>
          <a:noFill/>
        </p:spPr>
        <p:txBody>
          <a:bodyPr wrap="square" lIns="9144" rIns="9144" tIns="22860" bIns="22860" anchor="t">
            <a:spAutoFit/>
          </a:bodyPr>
          <a:lstStyle/>
          <a:p>
            <a:pPr algn="ctr">
              <a:lnSpc>
                <a:spcPct val="106000"/>
              </a:lnSpc>
              <a:spcBef>
                <a:spcPts val="0"/>
              </a:spcBef>
              <a:spcAft>
                <a:spcPts val="500"/>
              </a:spcAft>
            </a:pPr>
            <a:r>
              <a:rPr sz="1800" b="1">
                <a:solidFill>
                  <a:srgbClr val="6547D8"/>
                </a:solidFill>
                <a:latin typeface="Segoe UI"/>
              </a:rPr>
              <a:t>EVIDENCE</a:t>
            </a:r>
          </a:p>
        </p:txBody>
      </p:sp>
      <p:sp>
        <p:nvSpPr>
          <p:cNvPr id="175" name="TextBox 174"/>
          <p:cNvSpPr txBox="1"/>
          <p:nvPr/>
        </p:nvSpPr>
        <p:spPr>
          <a:xfrm>
            <a:off x="9189720" y="3008376"/>
            <a:ext cx="2093976" cy="283464"/>
          </a:xfrm>
          <a:prstGeom prst="rect">
            <a:avLst/>
          </a:prstGeom>
          <a:noFill/>
        </p:spPr>
        <p:txBody>
          <a:bodyPr wrap="square" lIns="9144" rIns="9144" tIns="22860" bIns="22860" anchor="t">
            <a:spAutoFit/>
          </a:bodyPr>
          <a:lstStyle/>
          <a:p>
            <a:pPr algn="ctr">
              <a:lnSpc>
                <a:spcPct val="106000"/>
              </a:lnSpc>
              <a:spcBef>
                <a:spcPts val="0"/>
              </a:spcBef>
              <a:spcAft>
                <a:spcPts val="500"/>
              </a:spcAft>
            </a:pPr>
            <a:r>
              <a:rPr sz="1800" b="0">
                <a:solidFill>
                  <a:srgbClr val="6547D8"/>
                </a:solidFill>
                <a:latin typeface="Segoe UI"/>
              </a:rPr>
              <a:t>↓</a:t>
            </a:r>
          </a:p>
        </p:txBody>
      </p:sp>
      <p:sp>
        <p:nvSpPr>
          <p:cNvPr id="176" name="TextBox 175"/>
          <p:cNvSpPr txBox="1"/>
          <p:nvPr/>
        </p:nvSpPr>
        <p:spPr>
          <a:xfrm>
            <a:off x="9189720" y="3493008"/>
            <a:ext cx="2093976" cy="347472"/>
          </a:xfrm>
          <a:prstGeom prst="rect">
            <a:avLst/>
          </a:prstGeom>
          <a:noFill/>
        </p:spPr>
        <p:txBody>
          <a:bodyPr wrap="square" lIns="9144" rIns="9144" tIns="22860" bIns="22860" anchor="t">
            <a:spAutoFit/>
          </a:bodyPr>
          <a:lstStyle/>
          <a:p>
            <a:pPr algn="ctr">
              <a:lnSpc>
                <a:spcPct val="106000"/>
              </a:lnSpc>
              <a:spcBef>
                <a:spcPts val="0"/>
              </a:spcBef>
              <a:spcAft>
                <a:spcPts val="500"/>
              </a:spcAft>
            </a:pPr>
            <a:r>
              <a:rPr sz="1800" b="1">
                <a:solidFill>
                  <a:srgbClr val="6547D8"/>
                </a:solidFill>
                <a:latin typeface="Segoe UI"/>
              </a:rPr>
              <a:t>WATCH</a:t>
            </a:r>
          </a:p>
        </p:txBody>
      </p:sp>
      <p:sp>
        <p:nvSpPr>
          <p:cNvPr id="177" name="TextBox 176"/>
          <p:cNvSpPr txBox="1"/>
          <p:nvPr/>
        </p:nvSpPr>
        <p:spPr>
          <a:xfrm>
            <a:off x="612648" y="5614416"/>
            <a:ext cx="10881360" cy="365760"/>
          </a:xfrm>
          <a:prstGeom prst="rect">
            <a:avLst/>
          </a:prstGeom>
          <a:noFill/>
        </p:spPr>
        <p:txBody>
          <a:bodyPr wrap="square" lIns="9144" rIns="9144" tIns="22860" bIns="22860" anchor="t">
            <a:spAutoFit/>
          </a:bodyPr>
          <a:lstStyle/>
          <a:p>
            <a:pPr>
              <a:lnSpc>
                <a:spcPct val="106000"/>
              </a:lnSpc>
              <a:spcBef>
                <a:spcPts val="0"/>
              </a:spcBef>
              <a:spcAft>
                <a:spcPts val="500"/>
              </a:spcAft>
            </a:pPr>
            <a:r>
              <a:rPr sz="2100" b="1">
                <a:solidFill>
                  <a:srgbClr val="6547D8"/>
                </a:solidFill>
                <a:latin typeface="Segoe UI"/>
                <a:hlinkClick r:id="rId3"/>
              </a:rPr>
              <a:t>github.com/AdvayV/AgenticIntelligence</a:t>
            </a:r>
          </a:p>
        </p:txBody>
      </p:sp>
      <p:sp>
        <p:nvSpPr>
          <p:cNvPr id="178" name="TextBox 177"/>
          <p:cNvSpPr txBox="1"/>
          <p:nvPr/>
        </p:nvSpPr>
        <p:spPr>
          <a:xfrm>
            <a:off x="612648" y="6108192"/>
            <a:ext cx="10881360" cy="246888"/>
          </a:xfrm>
          <a:prstGeom prst="rect">
            <a:avLst/>
          </a:prstGeom>
          <a:noFill/>
        </p:spPr>
        <p:txBody>
          <a:bodyPr wrap="square" lIns="9144" rIns="9144" tIns="22860" bIns="22860" anchor="t">
            <a:spAutoFit/>
          </a:bodyPr>
          <a:lstStyle/>
          <a:p>
            <a:pPr>
              <a:lnSpc>
                <a:spcPct val="106000"/>
              </a:lnSpc>
              <a:spcBef>
                <a:spcPts val="0"/>
              </a:spcBef>
              <a:spcAft>
                <a:spcPts val="500"/>
              </a:spcAft>
            </a:pPr>
            <a:r>
              <a:rPr sz="1200" b="0">
                <a:solidFill>
                  <a:srgbClr val="646B80"/>
                </a:solidFill>
                <a:latin typeface="Segoe UI"/>
              </a:rPr>
              <a:t>Advay Vivek + Kaavish Gogia  /  Team CodeStrata</a:t>
            </a:r>
          </a:p>
        </p:txBody>
      </p:sp>
    </p:spTree>
  </p:cSld>
  <p:clrMapOvr>
    <a:masterClrMapping/>
  </p:clrMapOvr>
  <p:transition spd="fast">
    <p:fade/>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9FD"/>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502920" y="393192"/>
            <a:ext cx="100584" cy="210312"/>
          </a:xfrm>
          <a:prstGeom prst="rect">
            <a:avLst/>
          </a:prstGeom>
          <a:solidFill>
            <a:srgbClr val="6547D8"/>
          </a:solidFill>
          <a:ln w="10160">
            <a:solidFill>
              <a:srgbClr val="6547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65760"/>
            <a:ext cx="1920240" cy="274320"/>
          </a:xfrm>
          <a:prstGeom prst="rect">
            <a:avLst/>
          </a:prstGeom>
          <a:noFill/>
        </p:spPr>
        <p:txBody>
          <a:bodyPr wrap="square" lIns="9144" rIns="9144" tIns="22860" bIns="22860" anchor="t">
            <a:spAutoFit/>
          </a:bodyPr>
          <a:lstStyle/>
          <a:p>
            <a:pPr>
              <a:lnSpc>
                <a:spcPct val="106000"/>
              </a:lnSpc>
              <a:spcBef>
                <a:spcPts val="0"/>
              </a:spcBef>
              <a:spcAft>
                <a:spcPts val="500"/>
              </a:spcAft>
            </a:pPr>
            <a:r>
              <a:rPr sz="1100" b="1">
                <a:solidFill>
                  <a:srgbClr val="6547D8"/>
                </a:solidFill>
                <a:latin typeface="Segoe UI"/>
              </a:rPr>
              <a:t>CODESTRATA</a:t>
            </a:r>
          </a:p>
        </p:txBody>
      </p:sp>
      <p:sp>
        <p:nvSpPr>
          <p:cNvPr id="5" name="TextBox 4"/>
          <p:cNvSpPr txBox="1"/>
          <p:nvPr/>
        </p:nvSpPr>
        <p:spPr>
          <a:xfrm>
            <a:off x="3657600" y="374904"/>
            <a:ext cx="8001000" cy="292608"/>
          </a:xfrm>
          <a:prstGeom prst="rect">
            <a:avLst/>
          </a:prstGeom>
          <a:noFill/>
        </p:spPr>
        <p:txBody>
          <a:bodyPr wrap="square" lIns="9144" rIns="9144" tIns="22860" bIns="22860" anchor="t">
            <a:spAutoFit/>
          </a:bodyPr>
          <a:lstStyle/>
          <a:p>
            <a:pPr algn="r">
              <a:lnSpc>
                <a:spcPct val="106000"/>
              </a:lnSpc>
              <a:spcBef>
                <a:spcPts val="0"/>
              </a:spcBef>
              <a:spcAft>
                <a:spcPts val="500"/>
              </a:spcAft>
            </a:pPr>
            <a:r>
              <a:rPr sz="1000" b="0">
                <a:solidFill>
                  <a:srgbClr val="646B80"/>
                </a:solidFill>
                <a:latin typeface="Segoe UI"/>
              </a:rPr>
              <a:t>OUR ANSWER</a:t>
            </a:r>
          </a:p>
        </p:txBody>
      </p:sp>
      <p:sp>
        <p:nvSpPr>
          <p:cNvPr id="6" name="TextBox 5"/>
          <p:cNvSpPr txBox="1"/>
          <p:nvPr/>
        </p:nvSpPr>
        <p:spPr>
          <a:xfrm>
            <a:off x="502920" y="896112"/>
            <a:ext cx="11109960" cy="868680"/>
          </a:xfrm>
          <a:prstGeom prst="rect">
            <a:avLst/>
          </a:prstGeom>
          <a:noFill/>
        </p:spPr>
        <p:txBody>
          <a:bodyPr wrap="square" lIns="9144" rIns="9144" tIns="22860" bIns="22860" anchor="t">
            <a:spAutoFit/>
          </a:bodyPr>
          <a:lstStyle/>
          <a:p>
            <a:pPr>
              <a:lnSpc>
                <a:spcPct val="106000"/>
              </a:lnSpc>
              <a:spcBef>
                <a:spcPts val="0"/>
              </a:spcBef>
              <a:spcAft>
                <a:spcPts val="500"/>
              </a:spcAft>
            </a:pPr>
            <a:r>
              <a:rPr sz="3400" b="1">
                <a:solidFill>
                  <a:srgbClr val="20243A"/>
                </a:solidFill>
                <a:latin typeface="Segoe UI"/>
              </a:rPr>
              <a:t>A complete evidence loop for code history.</a:t>
            </a:r>
          </a:p>
        </p:txBody>
      </p:sp>
      <p:sp>
        <p:nvSpPr>
          <p:cNvPr id="7" name="TextBox 6"/>
          <p:cNvSpPr txBox="1"/>
          <p:nvPr/>
        </p:nvSpPr>
        <p:spPr>
          <a:xfrm>
            <a:off x="530352" y="1746504"/>
            <a:ext cx="10972800" cy="411480"/>
          </a:xfrm>
          <a:prstGeom prst="rect">
            <a:avLst/>
          </a:prstGeom>
          <a:noFill/>
        </p:spPr>
        <p:txBody>
          <a:bodyPr wrap="square" lIns="9144" rIns="9144" tIns="22860" bIns="22860" anchor="t">
            <a:spAutoFit/>
          </a:bodyPr>
          <a:lstStyle/>
          <a:p>
            <a:pPr>
              <a:lnSpc>
                <a:spcPct val="106000"/>
              </a:lnSpc>
              <a:spcBef>
                <a:spcPts val="0"/>
              </a:spcBef>
              <a:spcAft>
                <a:spcPts val="500"/>
              </a:spcAft>
            </a:pPr>
            <a:r>
              <a:rPr sz="1500" b="0">
                <a:solidFill>
                  <a:srgbClr val="646B80"/>
                </a:solidFill>
                <a:latin typeface="Segoe UI"/>
              </a:rPr>
              <a:t>A question becomes an inspectable finding, then a rule the reviewer can run again.</a:t>
            </a:r>
          </a:p>
        </p:txBody>
      </p:sp>
      <p:cxnSp>
        <p:nvCxnSpPr>
          <p:cNvPr id="8" name="Connector 7"/>
          <p:cNvCxnSpPr/>
          <p:nvPr/>
        </p:nvCxnSpPr>
        <p:spPr>
          <a:xfrm>
            <a:off x="502920" y="6428232"/>
            <a:ext cx="11183112" cy="0"/>
          </a:xfrm>
          <a:prstGeom prst="line">
            <a:avLst/>
          </a:prstGeom>
          <a:ln w="10160">
            <a:solidFill>
              <a:srgbClr val="DFE3EF"/>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519672"/>
            <a:ext cx="8961120" cy="201168"/>
          </a:xfrm>
          <a:prstGeom prst="rect">
            <a:avLst/>
          </a:prstGeom>
          <a:noFill/>
        </p:spPr>
        <p:txBody>
          <a:bodyPr wrap="square" lIns="9144" rIns="9144" tIns="22860" bIns="22860" anchor="t">
            <a:spAutoFit/>
          </a:bodyPr>
          <a:lstStyle/>
          <a:p>
            <a:pPr>
              <a:lnSpc>
                <a:spcPct val="106000"/>
              </a:lnSpc>
              <a:spcBef>
                <a:spcPts val="0"/>
              </a:spcBef>
              <a:spcAft>
                <a:spcPts val="500"/>
              </a:spcAft>
            </a:pPr>
            <a:r>
              <a:rPr sz="900" b="0">
                <a:solidFill>
                  <a:srgbClr val="646B80"/>
                </a:solidFill>
                <a:latin typeface="Segoe UI"/>
              </a:rPr>
              <a:t>CODESTRATA  /  AGENTIC CODE INTELLIGENCE</a:t>
            </a:r>
          </a:p>
        </p:txBody>
      </p:sp>
      <p:sp>
        <p:nvSpPr>
          <p:cNvPr id="10" name="TextBox 9"/>
          <p:cNvSpPr txBox="1"/>
          <p:nvPr/>
        </p:nvSpPr>
        <p:spPr>
          <a:xfrm>
            <a:off x="10698480" y="6492240"/>
            <a:ext cx="987552" cy="228600"/>
          </a:xfrm>
          <a:prstGeom prst="rect">
            <a:avLst/>
          </a:prstGeom>
          <a:noFill/>
        </p:spPr>
        <p:txBody>
          <a:bodyPr wrap="square" lIns="9144" rIns="9144" tIns="22860" bIns="22860" anchor="t">
            <a:spAutoFit/>
          </a:bodyPr>
          <a:lstStyle/>
          <a:p>
            <a:r>
              <a:rPr sz="1000" b="1">
                <a:solidFill>
                  <a:srgbClr val="6547D8"/>
                </a:solidFill>
                <a:latin typeface="Segoe UI"/>
              </a:rPr>
              <a:t>04 / 18</a:t>
            </a:r>
          </a:p>
        </p:txBody>
      </p:sp>
      <p:sp>
        <p:nvSpPr>
          <p:cNvPr id="11" name="Rounded Rectangle 10"/>
          <p:cNvSpPr/>
          <p:nvPr/>
        </p:nvSpPr>
        <p:spPr>
          <a:xfrm>
            <a:off x="566928" y="2377440"/>
            <a:ext cx="3438144" cy="2898648"/>
          </a:xfrm>
          <a:prstGeom prst="roundRect">
            <a:avLst>
              <a:gd name="adj" fmla="val 12000"/>
            </a:avLst>
          </a:prstGeom>
          <a:solidFill>
            <a:srgbClr val="EFEAFF"/>
          </a:solidFill>
          <a:ln w="10160">
            <a:solidFill>
              <a:srgbClr val="DF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2542032"/>
            <a:ext cx="3035808" cy="365760"/>
          </a:xfrm>
          <a:prstGeom prst="rect">
            <a:avLst/>
          </a:prstGeom>
          <a:noFill/>
        </p:spPr>
        <p:txBody>
          <a:bodyPr wrap="square" lIns="9144" rIns="9144" tIns="22860" bIns="22860" anchor="t">
            <a:spAutoFit/>
          </a:bodyPr>
          <a:lstStyle/>
          <a:p>
            <a:pPr>
              <a:lnSpc>
                <a:spcPct val="106000"/>
              </a:lnSpc>
              <a:spcBef>
                <a:spcPts val="0"/>
              </a:spcBef>
              <a:spcAft>
                <a:spcPts val="500"/>
              </a:spcAft>
            </a:pPr>
            <a:r>
              <a:rPr sz="2300" b="1">
                <a:solidFill>
                  <a:srgbClr val="6547D8"/>
                </a:solidFill>
                <a:latin typeface="Segoe UI"/>
              </a:rPr>
              <a:t>01</a:t>
            </a:r>
          </a:p>
        </p:txBody>
      </p:sp>
      <p:sp>
        <p:nvSpPr>
          <p:cNvPr id="13" name="TextBox 12"/>
          <p:cNvSpPr txBox="1"/>
          <p:nvPr/>
        </p:nvSpPr>
        <p:spPr>
          <a:xfrm>
            <a:off x="768096" y="3044952"/>
            <a:ext cx="3035808" cy="749808"/>
          </a:xfrm>
          <a:prstGeom prst="rect">
            <a:avLst/>
          </a:prstGeom>
          <a:noFill/>
        </p:spPr>
        <p:txBody>
          <a:bodyPr wrap="square" lIns="9144" rIns="9144" tIns="22860" bIns="22860" anchor="t">
            <a:spAutoFit/>
          </a:bodyPr>
          <a:lstStyle/>
          <a:p>
            <a:pPr>
              <a:lnSpc>
                <a:spcPct val="106000"/>
              </a:lnSpc>
              <a:spcBef>
                <a:spcPts val="0"/>
              </a:spcBef>
              <a:spcAft>
                <a:spcPts val="500"/>
              </a:spcAft>
            </a:pPr>
            <a:r>
              <a:rPr sz="2200" b="1">
                <a:solidFill>
                  <a:srgbClr val="20243A"/>
                </a:solidFill>
                <a:latin typeface="Segoe UI"/>
              </a:rPr>
              <a:t>Find the right snapshot</a:t>
            </a:r>
          </a:p>
        </p:txBody>
      </p:sp>
      <p:sp>
        <p:nvSpPr>
          <p:cNvPr id="14" name="TextBox 13"/>
          <p:cNvSpPr txBox="1"/>
          <p:nvPr/>
        </p:nvSpPr>
        <p:spPr>
          <a:xfrm>
            <a:off x="768096" y="3886200"/>
            <a:ext cx="3035808" cy="1280160"/>
          </a:xfrm>
          <a:prstGeom prst="rect">
            <a:avLst/>
          </a:prstGeom>
          <a:noFill/>
        </p:spPr>
        <p:txBody>
          <a:bodyPr wrap="square" lIns="9144" rIns="9144" tIns="22860" bIns="22860" anchor="t">
            <a:spAutoFit/>
          </a:bodyPr>
          <a:lstStyle/>
          <a:p>
            <a:pPr>
              <a:lnSpc>
                <a:spcPct val="106000"/>
              </a:lnSpc>
              <a:spcBef>
                <a:spcPts val="0"/>
              </a:spcBef>
              <a:spcAft>
                <a:spcPts val="500"/>
              </a:spcAft>
            </a:pPr>
            <a:r>
              <a:rPr sz="1600" b="0">
                <a:solidFill>
                  <a:srgbClr val="646B80"/>
                </a:solidFill>
                <a:latin typeface="Segoe UI"/>
              </a:rPr>
              <a:t>Search across indexed versions, even when a function moved or changed its name.</a:t>
            </a:r>
          </a:p>
        </p:txBody>
      </p:sp>
      <p:sp>
        <p:nvSpPr>
          <p:cNvPr id="15" name="Rounded Rectangle 14"/>
          <p:cNvSpPr/>
          <p:nvPr/>
        </p:nvSpPr>
        <p:spPr>
          <a:xfrm>
            <a:off x="4379976" y="2377440"/>
            <a:ext cx="3438144" cy="2898648"/>
          </a:xfrm>
          <a:prstGeom prst="roundRect">
            <a:avLst>
              <a:gd name="adj" fmla="val 12000"/>
            </a:avLst>
          </a:prstGeom>
          <a:solidFill>
            <a:srgbClr val="FFFFFF"/>
          </a:solidFill>
          <a:ln w="10160">
            <a:solidFill>
              <a:srgbClr val="DF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81144" y="2542032"/>
            <a:ext cx="3035808" cy="365760"/>
          </a:xfrm>
          <a:prstGeom prst="rect">
            <a:avLst/>
          </a:prstGeom>
          <a:noFill/>
        </p:spPr>
        <p:txBody>
          <a:bodyPr wrap="square" lIns="9144" rIns="9144" tIns="22860" bIns="22860" anchor="t">
            <a:spAutoFit/>
          </a:bodyPr>
          <a:lstStyle/>
          <a:p>
            <a:pPr>
              <a:lnSpc>
                <a:spcPct val="106000"/>
              </a:lnSpc>
              <a:spcBef>
                <a:spcPts val="0"/>
              </a:spcBef>
              <a:spcAft>
                <a:spcPts val="500"/>
              </a:spcAft>
            </a:pPr>
            <a:r>
              <a:rPr sz="2300" b="1">
                <a:solidFill>
                  <a:srgbClr val="6547D8"/>
                </a:solidFill>
                <a:latin typeface="Segoe UI"/>
              </a:rPr>
              <a:t>02</a:t>
            </a:r>
          </a:p>
        </p:txBody>
      </p:sp>
      <p:sp>
        <p:nvSpPr>
          <p:cNvPr id="17" name="TextBox 16"/>
          <p:cNvSpPr txBox="1"/>
          <p:nvPr/>
        </p:nvSpPr>
        <p:spPr>
          <a:xfrm>
            <a:off x="4581144" y="3044952"/>
            <a:ext cx="3035808" cy="749808"/>
          </a:xfrm>
          <a:prstGeom prst="rect">
            <a:avLst/>
          </a:prstGeom>
          <a:noFill/>
        </p:spPr>
        <p:txBody>
          <a:bodyPr wrap="square" lIns="9144" rIns="9144" tIns="22860" bIns="22860" anchor="t">
            <a:spAutoFit/>
          </a:bodyPr>
          <a:lstStyle/>
          <a:p>
            <a:pPr>
              <a:lnSpc>
                <a:spcPct val="106000"/>
              </a:lnSpc>
              <a:spcBef>
                <a:spcPts val="0"/>
              </a:spcBef>
              <a:spcAft>
                <a:spcPts val="500"/>
              </a:spcAft>
            </a:pPr>
            <a:r>
              <a:rPr sz="2200" b="1">
                <a:solidFill>
                  <a:srgbClr val="20243A"/>
                </a:solidFill>
                <a:latin typeface="Segoe UI"/>
              </a:rPr>
              <a:t>Explain the difference</a:t>
            </a:r>
          </a:p>
        </p:txBody>
      </p:sp>
      <p:sp>
        <p:nvSpPr>
          <p:cNvPr id="18" name="TextBox 17"/>
          <p:cNvSpPr txBox="1"/>
          <p:nvPr/>
        </p:nvSpPr>
        <p:spPr>
          <a:xfrm>
            <a:off x="4581144" y="3886200"/>
            <a:ext cx="3035808" cy="1280160"/>
          </a:xfrm>
          <a:prstGeom prst="rect">
            <a:avLst/>
          </a:prstGeom>
          <a:noFill/>
        </p:spPr>
        <p:txBody>
          <a:bodyPr wrap="square" lIns="9144" rIns="9144" tIns="22860" bIns="22860" anchor="t">
            <a:spAutoFit/>
          </a:bodyPr>
          <a:lstStyle/>
          <a:p>
            <a:pPr>
              <a:lnSpc>
                <a:spcPct val="106000"/>
              </a:lnSpc>
              <a:spcBef>
                <a:spcPts val="0"/>
              </a:spcBef>
              <a:spcAft>
                <a:spcPts val="500"/>
              </a:spcAft>
            </a:pPr>
            <a:r>
              <a:rPr sz="1600" b="0">
                <a:solidFill>
                  <a:srgbClr val="646B80"/>
                </a:solidFill>
                <a:latin typeface="Segoe UI"/>
              </a:rPr>
              <a:t>Show source lines, static evidence, the linked version, and a counterexample.</a:t>
            </a:r>
          </a:p>
        </p:txBody>
      </p:sp>
      <p:sp>
        <p:nvSpPr>
          <p:cNvPr id="19" name="Rounded Rectangle 18"/>
          <p:cNvSpPr/>
          <p:nvPr/>
        </p:nvSpPr>
        <p:spPr>
          <a:xfrm>
            <a:off x="8193024" y="2377440"/>
            <a:ext cx="3438144" cy="2898648"/>
          </a:xfrm>
          <a:prstGeom prst="roundRect">
            <a:avLst>
              <a:gd name="adj" fmla="val 12000"/>
            </a:avLst>
          </a:prstGeom>
          <a:solidFill>
            <a:srgbClr val="E9F7F1"/>
          </a:solidFill>
          <a:ln w="10160">
            <a:solidFill>
              <a:srgbClr val="DF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94192" y="2542032"/>
            <a:ext cx="3035808" cy="365760"/>
          </a:xfrm>
          <a:prstGeom prst="rect">
            <a:avLst/>
          </a:prstGeom>
          <a:noFill/>
        </p:spPr>
        <p:txBody>
          <a:bodyPr wrap="square" lIns="9144" rIns="9144" tIns="22860" bIns="22860" anchor="t">
            <a:spAutoFit/>
          </a:bodyPr>
          <a:lstStyle/>
          <a:p>
            <a:pPr>
              <a:lnSpc>
                <a:spcPct val="106000"/>
              </a:lnSpc>
              <a:spcBef>
                <a:spcPts val="0"/>
              </a:spcBef>
              <a:spcAft>
                <a:spcPts val="500"/>
              </a:spcAft>
            </a:pPr>
            <a:r>
              <a:rPr sz="2300" b="1">
                <a:solidFill>
                  <a:srgbClr val="6547D8"/>
                </a:solidFill>
                <a:latin typeface="Segoe UI"/>
              </a:rPr>
              <a:t>03</a:t>
            </a:r>
          </a:p>
        </p:txBody>
      </p:sp>
      <p:sp>
        <p:nvSpPr>
          <p:cNvPr id="21" name="TextBox 20"/>
          <p:cNvSpPr txBox="1"/>
          <p:nvPr/>
        </p:nvSpPr>
        <p:spPr>
          <a:xfrm>
            <a:off x="8394192" y="3044952"/>
            <a:ext cx="3035808" cy="749808"/>
          </a:xfrm>
          <a:prstGeom prst="rect">
            <a:avLst/>
          </a:prstGeom>
          <a:noFill/>
        </p:spPr>
        <p:txBody>
          <a:bodyPr wrap="square" lIns="9144" rIns="9144" tIns="22860" bIns="22860" anchor="t">
            <a:spAutoFit/>
          </a:bodyPr>
          <a:lstStyle/>
          <a:p>
            <a:pPr>
              <a:lnSpc>
                <a:spcPct val="106000"/>
              </a:lnSpc>
              <a:spcBef>
                <a:spcPts val="0"/>
              </a:spcBef>
              <a:spcAft>
                <a:spcPts val="500"/>
              </a:spcAft>
            </a:pPr>
            <a:r>
              <a:rPr sz="2200" b="1">
                <a:solidFill>
                  <a:srgbClr val="20243A"/>
                </a:solidFill>
                <a:latin typeface="Segoe UI"/>
              </a:rPr>
              <a:t>Keep the finding</a:t>
            </a:r>
          </a:p>
        </p:txBody>
      </p:sp>
      <p:sp>
        <p:nvSpPr>
          <p:cNvPr id="22" name="TextBox 21"/>
          <p:cNvSpPr txBox="1"/>
          <p:nvPr/>
        </p:nvSpPr>
        <p:spPr>
          <a:xfrm>
            <a:off x="8394192" y="3886200"/>
            <a:ext cx="3035808" cy="1280160"/>
          </a:xfrm>
          <a:prstGeom prst="rect">
            <a:avLst/>
          </a:prstGeom>
          <a:noFill/>
        </p:spPr>
        <p:txBody>
          <a:bodyPr wrap="square" lIns="9144" rIns="9144" tIns="22860" bIns="22860" anchor="t">
            <a:spAutoFit/>
          </a:bodyPr>
          <a:lstStyle/>
          <a:p>
            <a:pPr>
              <a:lnSpc>
                <a:spcPct val="106000"/>
              </a:lnSpc>
              <a:spcBef>
                <a:spcPts val="0"/>
              </a:spcBef>
              <a:spcAft>
                <a:spcPts val="500"/>
              </a:spcAft>
            </a:pPr>
            <a:r>
              <a:rPr sz="1600" b="0">
                <a:solidFill>
                  <a:srgbClr val="646B80"/>
                </a:solidFill>
                <a:latin typeface="Segoe UI"/>
              </a:rPr>
              <a:t>Pin a structural rule and recheck the same conservative lineage later.</a:t>
            </a:r>
          </a:p>
        </p:txBody>
      </p:sp>
      <p:sp>
        <p:nvSpPr>
          <p:cNvPr id="23" name="Rounded Rectangle 22"/>
          <p:cNvSpPr/>
          <p:nvPr/>
        </p:nvSpPr>
        <p:spPr>
          <a:xfrm>
            <a:off x="566928" y="5513832"/>
            <a:ext cx="11064240" cy="539496"/>
          </a:xfrm>
          <a:prstGeom prst="roundRect">
            <a:avLst>
              <a:gd name="adj" fmla="val 12000"/>
            </a:avLst>
          </a:prstGeom>
          <a:solidFill>
            <a:srgbClr val="EFEAFF"/>
          </a:solidFill>
          <a:ln w="10160">
            <a:solidFill>
              <a:srgbClr val="EFE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952" y="5650992"/>
            <a:ext cx="10680192" cy="283464"/>
          </a:xfrm>
          <a:prstGeom prst="rect">
            <a:avLst/>
          </a:prstGeom>
          <a:noFill/>
        </p:spPr>
        <p:txBody>
          <a:bodyPr wrap="square" lIns="9144" rIns="9144" tIns="22860" bIns="22860" anchor="t">
            <a:spAutoFit/>
          </a:bodyPr>
          <a:lstStyle/>
          <a:p>
            <a:pPr algn="ctr">
              <a:lnSpc>
                <a:spcPct val="106000"/>
              </a:lnSpc>
              <a:spcBef>
                <a:spcPts val="0"/>
              </a:spcBef>
              <a:spcAft>
                <a:spcPts val="500"/>
              </a:spcAft>
            </a:pPr>
            <a:r>
              <a:rPr sz="1600" b="1">
                <a:solidFill>
                  <a:srgbClr val="6547D8"/>
                </a:solidFill>
                <a:latin typeface="Segoe UI"/>
              </a:rPr>
              <a:t>QUESTION  →  VERSION-AWARE SEARCH  →  SOURCE-BACKED ANSWER  →  BEHAVIOR WATCH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9FD"/>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502920" y="393192"/>
            <a:ext cx="100584" cy="210312"/>
          </a:xfrm>
          <a:prstGeom prst="rect">
            <a:avLst/>
          </a:prstGeom>
          <a:solidFill>
            <a:srgbClr val="6547D8"/>
          </a:solidFill>
          <a:ln w="10160">
            <a:solidFill>
              <a:srgbClr val="6547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65760"/>
            <a:ext cx="1920240" cy="274320"/>
          </a:xfrm>
          <a:prstGeom prst="rect">
            <a:avLst/>
          </a:prstGeom>
          <a:noFill/>
        </p:spPr>
        <p:txBody>
          <a:bodyPr wrap="square" lIns="9144" rIns="9144" tIns="22860" bIns="22860" anchor="t">
            <a:spAutoFit/>
          </a:bodyPr>
          <a:lstStyle/>
          <a:p>
            <a:pPr>
              <a:lnSpc>
                <a:spcPct val="106000"/>
              </a:lnSpc>
              <a:spcBef>
                <a:spcPts val="0"/>
              </a:spcBef>
              <a:spcAft>
                <a:spcPts val="500"/>
              </a:spcAft>
            </a:pPr>
            <a:r>
              <a:rPr sz="1100" b="1">
                <a:solidFill>
                  <a:srgbClr val="6547D8"/>
                </a:solidFill>
                <a:latin typeface="Segoe UI"/>
              </a:rPr>
              <a:t>CODESTRATA</a:t>
            </a:r>
          </a:p>
        </p:txBody>
      </p:sp>
      <p:sp>
        <p:nvSpPr>
          <p:cNvPr id="5" name="TextBox 4"/>
          <p:cNvSpPr txBox="1"/>
          <p:nvPr/>
        </p:nvSpPr>
        <p:spPr>
          <a:xfrm>
            <a:off x="3657600" y="374904"/>
            <a:ext cx="8001000" cy="292608"/>
          </a:xfrm>
          <a:prstGeom prst="rect">
            <a:avLst/>
          </a:prstGeom>
          <a:noFill/>
        </p:spPr>
        <p:txBody>
          <a:bodyPr wrap="square" lIns="9144" rIns="9144" tIns="22860" bIns="22860" anchor="t">
            <a:spAutoFit/>
          </a:bodyPr>
          <a:lstStyle/>
          <a:p>
            <a:pPr algn="r">
              <a:lnSpc>
                <a:spcPct val="106000"/>
              </a:lnSpc>
              <a:spcBef>
                <a:spcPts val="0"/>
              </a:spcBef>
              <a:spcAft>
                <a:spcPts val="500"/>
              </a:spcAft>
            </a:pPr>
            <a:r>
              <a:rPr sz="1000" b="0">
                <a:solidFill>
                  <a:srgbClr val="646B80"/>
                </a:solidFill>
                <a:latin typeface="Segoe UI"/>
              </a:rPr>
              <a:t>METHOD • INDEXING</a:t>
            </a:r>
          </a:p>
        </p:txBody>
      </p:sp>
      <p:sp>
        <p:nvSpPr>
          <p:cNvPr id="6" name="TextBox 5"/>
          <p:cNvSpPr txBox="1"/>
          <p:nvPr/>
        </p:nvSpPr>
        <p:spPr>
          <a:xfrm>
            <a:off x="502920" y="896112"/>
            <a:ext cx="11109960" cy="868680"/>
          </a:xfrm>
          <a:prstGeom prst="rect">
            <a:avLst/>
          </a:prstGeom>
          <a:noFill/>
        </p:spPr>
        <p:txBody>
          <a:bodyPr wrap="square" lIns="9144" rIns="9144" tIns="22860" bIns="22860" anchor="t">
            <a:spAutoFit/>
          </a:bodyPr>
          <a:lstStyle/>
          <a:p>
            <a:pPr>
              <a:lnSpc>
                <a:spcPct val="106000"/>
              </a:lnSpc>
              <a:spcBef>
                <a:spcPts val="0"/>
              </a:spcBef>
              <a:spcAft>
                <a:spcPts val="500"/>
              </a:spcAft>
            </a:pPr>
            <a:r>
              <a:rPr sz="3400" b="1">
                <a:solidFill>
                  <a:srgbClr val="20243A"/>
                </a:solidFill>
                <a:latin typeface="Segoe UI"/>
              </a:rPr>
              <a:t>Read the source once. Reuse the evidence.</a:t>
            </a:r>
          </a:p>
        </p:txBody>
      </p:sp>
      <p:sp>
        <p:nvSpPr>
          <p:cNvPr id="7" name="TextBox 6"/>
          <p:cNvSpPr txBox="1"/>
          <p:nvPr/>
        </p:nvSpPr>
        <p:spPr>
          <a:xfrm>
            <a:off x="530352" y="1746504"/>
            <a:ext cx="10972800" cy="411480"/>
          </a:xfrm>
          <a:prstGeom prst="rect">
            <a:avLst/>
          </a:prstGeom>
          <a:noFill/>
        </p:spPr>
        <p:txBody>
          <a:bodyPr wrap="square" lIns="9144" rIns="9144" tIns="22860" bIns="22860" anchor="t">
            <a:spAutoFit/>
          </a:bodyPr>
          <a:lstStyle/>
          <a:p>
            <a:pPr>
              <a:lnSpc>
                <a:spcPct val="106000"/>
              </a:lnSpc>
              <a:spcBef>
                <a:spcPts val="0"/>
              </a:spcBef>
              <a:spcAft>
                <a:spcPts val="500"/>
              </a:spcAft>
            </a:pPr>
            <a:r>
              <a:rPr sz="1500" b="0">
                <a:solidFill>
                  <a:srgbClr val="646B80"/>
                </a:solidFill>
                <a:latin typeface="Segoe UI"/>
              </a:rPr>
              <a:t>The index preserves executable facts separately from the text used for retrieval.</a:t>
            </a:r>
          </a:p>
        </p:txBody>
      </p:sp>
      <p:cxnSp>
        <p:nvCxnSpPr>
          <p:cNvPr id="8" name="Connector 7"/>
          <p:cNvCxnSpPr/>
          <p:nvPr/>
        </p:nvCxnSpPr>
        <p:spPr>
          <a:xfrm>
            <a:off x="502920" y="6428232"/>
            <a:ext cx="11183112" cy="0"/>
          </a:xfrm>
          <a:prstGeom prst="line">
            <a:avLst/>
          </a:prstGeom>
          <a:ln w="10160">
            <a:solidFill>
              <a:srgbClr val="DFE3EF"/>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519672"/>
            <a:ext cx="8961120" cy="201168"/>
          </a:xfrm>
          <a:prstGeom prst="rect">
            <a:avLst/>
          </a:prstGeom>
          <a:noFill/>
        </p:spPr>
        <p:txBody>
          <a:bodyPr wrap="square" lIns="9144" rIns="9144" tIns="22860" bIns="22860" anchor="t">
            <a:spAutoFit/>
          </a:bodyPr>
          <a:lstStyle/>
          <a:p>
            <a:pPr>
              <a:lnSpc>
                <a:spcPct val="106000"/>
              </a:lnSpc>
              <a:spcBef>
                <a:spcPts val="0"/>
              </a:spcBef>
              <a:spcAft>
                <a:spcPts val="500"/>
              </a:spcAft>
            </a:pPr>
            <a:r>
              <a:rPr sz="900" b="0">
                <a:solidFill>
                  <a:srgbClr val="646B80"/>
                </a:solidFill>
                <a:latin typeface="Segoe UI"/>
              </a:rPr>
              <a:t>CODESTRATA  /  AGENTIC CODE INTELLIGENCE</a:t>
            </a:r>
          </a:p>
        </p:txBody>
      </p:sp>
      <p:sp>
        <p:nvSpPr>
          <p:cNvPr id="10" name="TextBox 9"/>
          <p:cNvSpPr txBox="1"/>
          <p:nvPr/>
        </p:nvSpPr>
        <p:spPr>
          <a:xfrm>
            <a:off x="10698480" y="6492240"/>
            <a:ext cx="987552" cy="228600"/>
          </a:xfrm>
          <a:prstGeom prst="rect">
            <a:avLst/>
          </a:prstGeom>
          <a:noFill/>
        </p:spPr>
        <p:txBody>
          <a:bodyPr wrap="square" lIns="9144" rIns="9144" tIns="22860" bIns="22860" anchor="t">
            <a:spAutoFit/>
          </a:bodyPr>
          <a:lstStyle/>
          <a:p>
            <a:r>
              <a:rPr sz="1000" b="1">
                <a:solidFill>
                  <a:srgbClr val="6547D8"/>
                </a:solidFill>
                <a:latin typeface="Segoe UI"/>
              </a:rPr>
              <a:t>06 / 18</a:t>
            </a:r>
          </a:p>
        </p:txBody>
      </p:sp>
      <p:sp>
        <p:nvSpPr>
          <p:cNvPr id="11" name="Rounded Rectangle 10"/>
          <p:cNvSpPr/>
          <p:nvPr/>
        </p:nvSpPr>
        <p:spPr>
          <a:xfrm>
            <a:off x="594360" y="2368296"/>
            <a:ext cx="3465576" cy="2898648"/>
          </a:xfrm>
          <a:prstGeom prst="roundRect">
            <a:avLst>
              <a:gd name="adj" fmla="val 12000"/>
            </a:avLst>
          </a:prstGeom>
          <a:solidFill>
            <a:srgbClr val="EFEAFF"/>
          </a:solidFill>
          <a:ln w="10160">
            <a:solidFill>
              <a:srgbClr val="DF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2532888"/>
            <a:ext cx="3063240" cy="365760"/>
          </a:xfrm>
          <a:prstGeom prst="rect">
            <a:avLst/>
          </a:prstGeom>
          <a:noFill/>
        </p:spPr>
        <p:txBody>
          <a:bodyPr wrap="square" lIns="9144" rIns="9144" tIns="22860" bIns="22860" anchor="t">
            <a:spAutoFit/>
          </a:bodyPr>
          <a:lstStyle/>
          <a:p>
            <a:pPr>
              <a:lnSpc>
                <a:spcPct val="106000"/>
              </a:lnSpc>
              <a:spcBef>
                <a:spcPts val="0"/>
              </a:spcBef>
              <a:spcAft>
                <a:spcPts val="500"/>
              </a:spcAft>
            </a:pPr>
            <a:r>
              <a:rPr sz="2300" b="1">
                <a:solidFill>
                  <a:srgbClr val="6547D8"/>
                </a:solidFill>
                <a:latin typeface="Segoe UI"/>
              </a:rPr>
              <a:t>1</a:t>
            </a:r>
          </a:p>
        </p:txBody>
      </p:sp>
      <p:sp>
        <p:nvSpPr>
          <p:cNvPr id="13" name="TextBox 12"/>
          <p:cNvSpPr txBox="1"/>
          <p:nvPr/>
        </p:nvSpPr>
        <p:spPr>
          <a:xfrm>
            <a:off x="795528" y="3035808"/>
            <a:ext cx="3063240" cy="749808"/>
          </a:xfrm>
          <a:prstGeom prst="rect">
            <a:avLst/>
          </a:prstGeom>
          <a:noFill/>
        </p:spPr>
        <p:txBody>
          <a:bodyPr wrap="square" lIns="9144" rIns="9144" tIns="22860" bIns="22860" anchor="t">
            <a:spAutoFit/>
          </a:bodyPr>
          <a:lstStyle/>
          <a:p>
            <a:pPr>
              <a:lnSpc>
                <a:spcPct val="106000"/>
              </a:lnSpc>
              <a:spcBef>
                <a:spcPts val="0"/>
              </a:spcBef>
              <a:spcAft>
                <a:spcPts val="500"/>
              </a:spcAft>
            </a:pPr>
            <a:r>
              <a:rPr sz="2200" b="1">
                <a:solidFill>
                  <a:srgbClr val="20243A"/>
                </a:solidFill>
                <a:latin typeface="Segoe UI"/>
              </a:rPr>
              <a:t>Load snapshots</a:t>
            </a:r>
          </a:p>
        </p:txBody>
      </p:sp>
      <p:sp>
        <p:nvSpPr>
          <p:cNvPr id="14" name="TextBox 13"/>
          <p:cNvSpPr txBox="1"/>
          <p:nvPr/>
        </p:nvSpPr>
        <p:spPr>
          <a:xfrm>
            <a:off x="795528" y="3877056"/>
            <a:ext cx="3063240" cy="1280160"/>
          </a:xfrm>
          <a:prstGeom prst="rect">
            <a:avLst/>
          </a:prstGeom>
          <a:noFill/>
        </p:spPr>
        <p:txBody>
          <a:bodyPr wrap="square" lIns="9144" rIns="9144" tIns="22860" bIns="22860" anchor="t">
            <a:spAutoFit/>
          </a:bodyPr>
          <a:lstStyle/>
          <a:p>
            <a:pPr>
              <a:lnSpc>
                <a:spcPct val="106000"/>
              </a:lnSpc>
              <a:spcBef>
                <a:spcPts val="0"/>
              </a:spcBef>
              <a:spcAft>
                <a:spcPts val="500"/>
              </a:spcAft>
            </a:pPr>
            <a:r>
              <a:rPr sz="1600" b="0">
                <a:solidFill>
                  <a:srgbClr val="646B80"/>
                </a:solidFill>
                <a:latin typeface="Segoe UI"/>
              </a:rPr>
              <a:t>Read the working tree or selected Git history and retain version, path, and exact source.</a:t>
            </a:r>
          </a:p>
        </p:txBody>
      </p:sp>
      <p:sp>
        <p:nvSpPr>
          <p:cNvPr id="15" name="Rounded Rectangle 14"/>
          <p:cNvSpPr/>
          <p:nvPr/>
        </p:nvSpPr>
        <p:spPr>
          <a:xfrm>
            <a:off x="4379976" y="2368296"/>
            <a:ext cx="3465576" cy="2898648"/>
          </a:xfrm>
          <a:prstGeom prst="roundRect">
            <a:avLst>
              <a:gd name="adj" fmla="val 12000"/>
            </a:avLst>
          </a:prstGeom>
          <a:solidFill>
            <a:srgbClr val="FFFFFF"/>
          </a:solidFill>
          <a:ln w="10160">
            <a:solidFill>
              <a:srgbClr val="DF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81144" y="2532888"/>
            <a:ext cx="3063240" cy="365760"/>
          </a:xfrm>
          <a:prstGeom prst="rect">
            <a:avLst/>
          </a:prstGeom>
          <a:noFill/>
        </p:spPr>
        <p:txBody>
          <a:bodyPr wrap="square" lIns="9144" rIns="9144" tIns="22860" bIns="22860" anchor="t">
            <a:spAutoFit/>
          </a:bodyPr>
          <a:lstStyle/>
          <a:p>
            <a:pPr>
              <a:lnSpc>
                <a:spcPct val="106000"/>
              </a:lnSpc>
              <a:spcBef>
                <a:spcPts val="0"/>
              </a:spcBef>
              <a:spcAft>
                <a:spcPts val="500"/>
              </a:spcAft>
            </a:pPr>
            <a:r>
              <a:rPr sz="2300" b="1">
                <a:solidFill>
                  <a:srgbClr val="6547D8"/>
                </a:solidFill>
                <a:latin typeface="Segoe UI"/>
              </a:rPr>
              <a:t>2</a:t>
            </a:r>
          </a:p>
        </p:txBody>
      </p:sp>
      <p:sp>
        <p:nvSpPr>
          <p:cNvPr id="17" name="TextBox 16"/>
          <p:cNvSpPr txBox="1"/>
          <p:nvPr/>
        </p:nvSpPr>
        <p:spPr>
          <a:xfrm>
            <a:off x="4581144" y="3035808"/>
            <a:ext cx="3063240" cy="749808"/>
          </a:xfrm>
          <a:prstGeom prst="rect">
            <a:avLst/>
          </a:prstGeom>
          <a:noFill/>
        </p:spPr>
        <p:txBody>
          <a:bodyPr wrap="square" lIns="9144" rIns="9144" tIns="22860" bIns="22860" anchor="t">
            <a:spAutoFit/>
          </a:bodyPr>
          <a:lstStyle/>
          <a:p>
            <a:pPr>
              <a:lnSpc>
                <a:spcPct val="106000"/>
              </a:lnSpc>
              <a:spcBef>
                <a:spcPts val="0"/>
              </a:spcBef>
              <a:spcAft>
                <a:spcPts val="500"/>
              </a:spcAft>
            </a:pPr>
            <a:r>
              <a:rPr sz="2200" b="1">
                <a:solidFill>
                  <a:srgbClr val="20243A"/>
                </a:solidFill>
                <a:latin typeface="Segoe UI"/>
              </a:rPr>
              <a:t>Parse functions</a:t>
            </a:r>
          </a:p>
        </p:txBody>
      </p:sp>
      <p:sp>
        <p:nvSpPr>
          <p:cNvPr id="18" name="TextBox 17"/>
          <p:cNvSpPr txBox="1"/>
          <p:nvPr/>
        </p:nvSpPr>
        <p:spPr>
          <a:xfrm>
            <a:off x="4581144" y="3877056"/>
            <a:ext cx="3063240" cy="1280160"/>
          </a:xfrm>
          <a:prstGeom prst="rect">
            <a:avLst/>
          </a:prstGeom>
          <a:noFill/>
        </p:spPr>
        <p:txBody>
          <a:bodyPr wrap="square" lIns="9144" rIns="9144" tIns="22860" bIns="22860" anchor="t">
            <a:spAutoFit/>
          </a:bodyPr>
          <a:lstStyle/>
          <a:p>
            <a:pPr>
              <a:lnSpc>
                <a:spcPct val="106000"/>
              </a:lnSpc>
              <a:spcBef>
                <a:spcPts val="0"/>
              </a:spcBef>
              <a:spcAft>
                <a:spcPts val="500"/>
              </a:spcAft>
            </a:pPr>
            <a:r>
              <a:rPr sz="1600" b="0">
                <a:solidFill>
                  <a:srgbClr val="646B80"/>
                </a:solidFill>
                <a:latin typeface="Segoe UI"/>
              </a:rPr>
              <a:t>Babel records calls, direct awaits, guards, literals, imports, and source locations.</a:t>
            </a:r>
          </a:p>
        </p:txBody>
      </p:sp>
      <p:sp>
        <p:nvSpPr>
          <p:cNvPr id="19" name="Rounded Rectangle 18"/>
          <p:cNvSpPr/>
          <p:nvPr/>
        </p:nvSpPr>
        <p:spPr>
          <a:xfrm>
            <a:off x="8165592" y="2368296"/>
            <a:ext cx="3465576" cy="2898648"/>
          </a:xfrm>
          <a:prstGeom prst="roundRect">
            <a:avLst>
              <a:gd name="adj" fmla="val 12000"/>
            </a:avLst>
          </a:prstGeom>
          <a:solidFill>
            <a:srgbClr val="E9F7F1"/>
          </a:solidFill>
          <a:ln w="10160">
            <a:solidFill>
              <a:srgbClr val="DF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66760" y="2532888"/>
            <a:ext cx="3063240" cy="365760"/>
          </a:xfrm>
          <a:prstGeom prst="rect">
            <a:avLst/>
          </a:prstGeom>
          <a:noFill/>
        </p:spPr>
        <p:txBody>
          <a:bodyPr wrap="square" lIns="9144" rIns="9144" tIns="22860" bIns="22860" anchor="t">
            <a:spAutoFit/>
          </a:bodyPr>
          <a:lstStyle/>
          <a:p>
            <a:pPr>
              <a:lnSpc>
                <a:spcPct val="106000"/>
              </a:lnSpc>
              <a:spcBef>
                <a:spcPts val="0"/>
              </a:spcBef>
              <a:spcAft>
                <a:spcPts val="500"/>
              </a:spcAft>
            </a:pPr>
            <a:r>
              <a:rPr sz="2300" b="1">
                <a:solidFill>
                  <a:srgbClr val="6547D8"/>
                </a:solidFill>
                <a:latin typeface="Segoe UI"/>
              </a:rPr>
              <a:t>3</a:t>
            </a:r>
          </a:p>
        </p:txBody>
      </p:sp>
      <p:sp>
        <p:nvSpPr>
          <p:cNvPr id="21" name="TextBox 20"/>
          <p:cNvSpPr txBox="1"/>
          <p:nvPr/>
        </p:nvSpPr>
        <p:spPr>
          <a:xfrm>
            <a:off x="8366760" y="3035808"/>
            <a:ext cx="3063240" cy="749808"/>
          </a:xfrm>
          <a:prstGeom prst="rect">
            <a:avLst/>
          </a:prstGeom>
          <a:noFill/>
        </p:spPr>
        <p:txBody>
          <a:bodyPr wrap="square" lIns="9144" rIns="9144" tIns="22860" bIns="22860" anchor="t">
            <a:spAutoFit/>
          </a:bodyPr>
          <a:lstStyle/>
          <a:p>
            <a:pPr>
              <a:lnSpc>
                <a:spcPct val="106000"/>
              </a:lnSpc>
              <a:spcBef>
                <a:spcPts val="0"/>
              </a:spcBef>
              <a:spcAft>
                <a:spcPts val="500"/>
              </a:spcAft>
            </a:pPr>
            <a:r>
              <a:rPr sz="2200" b="1">
                <a:solidFill>
                  <a:srgbClr val="20243A"/>
                </a:solidFill>
                <a:latin typeface="Segoe UI"/>
              </a:rPr>
              <a:t>Build candidates</a:t>
            </a:r>
          </a:p>
        </p:txBody>
      </p:sp>
      <p:sp>
        <p:nvSpPr>
          <p:cNvPr id="22" name="TextBox 21"/>
          <p:cNvSpPr txBox="1"/>
          <p:nvPr/>
        </p:nvSpPr>
        <p:spPr>
          <a:xfrm>
            <a:off x="8366760" y="3877056"/>
            <a:ext cx="3063240" cy="1280160"/>
          </a:xfrm>
          <a:prstGeom prst="rect">
            <a:avLst/>
          </a:prstGeom>
          <a:noFill/>
        </p:spPr>
        <p:txBody>
          <a:bodyPr wrap="square" lIns="9144" rIns="9144" tIns="22860" bIns="22860" anchor="t">
            <a:spAutoFit/>
          </a:bodyPr>
          <a:lstStyle/>
          <a:p>
            <a:pPr>
              <a:lnSpc>
                <a:spcPct val="106000"/>
              </a:lnSpc>
              <a:spcBef>
                <a:spcPts val="0"/>
              </a:spcBef>
              <a:spcAft>
                <a:spcPts val="500"/>
              </a:spcAft>
            </a:pPr>
            <a:r>
              <a:rPr sz="1600" b="0">
                <a:solidFill>
                  <a:srgbClr val="646B80"/>
                </a:solidFill>
                <a:latin typeface="Segoe UI"/>
              </a:rPr>
              <a:t>Cache lexical postings, CPU vectors, import links, and conservative lineage.</a:t>
            </a:r>
          </a:p>
        </p:txBody>
      </p:sp>
      <p:sp>
        <p:nvSpPr>
          <p:cNvPr id="23" name="Rounded Rectangle 22"/>
          <p:cNvSpPr/>
          <p:nvPr/>
        </p:nvSpPr>
        <p:spPr>
          <a:xfrm>
            <a:off x="594360" y="5513832"/>
            <a:ext cx="11036808" cy="530352"/>
          </a:xfrm>
          <a:prstGeom prst="roundRect">
            <a:avLst>
              <a:gd name="adj" fmla="val 12000"/>
            </a:avLst>
          </a:prstGeom>
          <a:solidFill>
            <a:srgbClr val="FFFFFF"/>
          </a:solidFill>
          <a:ln w="10160">
            <a:solidFill>
              <a:srgbClr val="DF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4" y="5623560"/>
            <a:ext cx="10533888" cy="310896"/>
          </a:xfrm>
          <a:prstGeom prst="rect">
            <a:avLst/>
          </a:prstGeom>
          <a:noFill/>
        </p:spPr>
        <p:txBody>
          <a:bodyPr wrap="square" lIns="9144" rIns="9144" tIns="22860" bIns="22860" anchor="t">
            <a:spAutoFit/>
          </a:bodyPr>
          <a:lstStyle/>
          <a:p>
            <a:pPr>
              <a:lnSpc>
                <a:spcPct val="106000"/>
              </a:lnSpc>
              <a:spcBef>
                <a:spcPts val="0"/>
              </a:spcBef>
              <a:spcAft>
                <a:spcPts val="500"/>
              </a:spcAft>
            </a:pPr>
            <a:r>
              <a:rPr sz="1600" b="1">
                <a:solidFill>
                  <a:srgbClr val="6547D8"/>
                </a:solidFill>
                <a:latin typeface="Segoe UI"/>
              </a:rPr>
              <a:t>Trust boundary: repository code is read and analyzed; it is never executed during indexing.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9FD"/>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502920" y="393192"/>
            <a:ext cx="100584" cy="210312"/>
          </a:xfrm>
          <a:prstGeom prst="rect">
            <a:avLst/>
          </a:prstGeom>
          <a:solidFill>
            <a:srgbClr val="6547D8"/>
          </a:solidFill>
          <a:ln w="10160">
            <a:solidFill>
              <a:srgbClr val="6547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65760"/>
            <a:ext cx="1920240" cy="274320"/>
          </a:xfrm>
          <a:prstGeom prst="rect">
            <a:avLst/>
          </a:prstGeom>
          <a:noFill/>
        </p:spPr>
        <p:txBody>
          <a:bodyPr wrap="square" lIns="9144" rIns="9144" tIns="22860" bIns="22860" anchor="t">
            <a:spAutoFit/>
          </a:bodyPr>
          <a:lstStyle/>
          <a:p>
            <a:pPr>
              <a:lnSpc>
                <a:spcPct val="106000"/>
              </a:lnSpc>
              <a:spcBef>
                <a:spcPts val="0"/>
              </a:spcBef>
              <a:spcAft>
                <a:spcPts val="500"/>
              </a:spcAft>
            </a:pPr>
            <a:r>
              <a:rPr sz="1100" b="1">
                <a:solidFill>
                  <a:srgbClr val="6547D8"/>
                </a:solidFill>
                <a:latin typeface="Segoe UI"/>
              </a:rPr>
              <a:t>CODESTRATA</a:t>
            </a:r>
          </a:p>
        </p:txBody>
      </p:sp>
      <p:sp>
        <p:nvSpPr>
          <p:cNvPr id="5" name="TextBox 4"/>
          <p:cNvSpPr txBox="1"/>
          <p:nvPr/>
        </p:nvSpPr>
        <p:spPr>
          <a:xfrm>
            <a:off x="3657600" y="374904"/>
            <a:ext cx="8001000" cy="292608"/>
          </a:xfrm>
          <a:prstGeom prst="rect">
            <a:avLst/>
          </a:prstGeom>
          <a:noFill/>
        </p:spPr>
        <p:txBody>
          <a:bodyPr wrap="square" lIns="9144" rIns="9144" tIns="22860" bIns="22860" anchor="t">
            <a:spAutoFit/>
          </a:bodyPr>
          <a:lstStyle/>
          <a:p>
            <a:pPr algn="r">
              <a:lnSpc>
                <a:spcPct val="106000"/>
              </a:lnSpc>
              <a:spcBef>
                <a:spcPts val="0"/>
              </a:spcBef>
              <a:spcAft>
                <a:spcPts val="500"/>
              </a:spcAft>
            </a:pPr>
            <a:r>
              <a:rPr sz="1000" b="0">
                <a:solidFill>
                  <a:srgbClr val="646B80"/>
                </a:solidFill>
                <a:latin typeface="Segoe UI"/>
              </a:rPr>
              <a:t>METHOD • BOUNDED AGENT</a:t>
            </a:r>
          </a:p>
        </p:txBody>
      </p:sp>
      <p:sp>
        <p:nvSpPr>
          <p:cNvPr id="6" name="TextBox 5"/>
          <p:cNvSpPr txBox="1"/>
          <p:nvPr/>
        </p:nvSpPr>
        <p:spPr>
          <a:xfrm>
            <a:off x="502920" y="896112"/>
            <a:ext cx="11109960" cy="868680"/>
          </a:xfrm>
          <a:prstGeom prst="rect">
            <a:avLst/>
          </a:prstGeom>
          <a:noFill/>
        </p:spPr>
        <p:txBody>
          <a:bodyPr wrap="square" lIns="9144" rIns="9144" tIns="22860" bIns="22860" anchor="t">
            <a:spAutoFit/>
          </a:bodyPr>
          <a:lstStyle/>
          <a:p>
            <a:pPr>
              <a:lnSpc>
                <a:spcPct val="106000"/>
              </a:lnSpc>
              <a:spcBef>
                <a:spcPts val="0"/>
              </a:spcBef>
              <a:spcAft>
                <a:spcPts val="500"/>
              </a:spcAft>
            </a:pPr>
            <a:r>
              <a:rPr sz="3400" b="1">
                <a:solidFill>
                  <a:srgbClr val="20243A"/>
                </a:solidFill>
                <a:latin typeface="Segoe UI"/>
              </a:rPr>
              <a:t>The agent decides what to inspect next.</a:t>
            </a:r>
          </a:p>
        </p:txBody>
      </p:sp>
      <p:sp>
        <p:nvSpPr>
          <p:cNvPr id="7" name="TextBox 6"/>
          <p:cNvSpPr txBox="1"/>
          <p:nvPr/>
        </p:nvSpPr>
        <p:spPr>
          <a:xfrm>
            <a:off x="530352" y="1746504"/>
            <a:ext cx="10972800" cy="411480"/>
          </a:xfrm>
          <a:prstGeom prst="rect">
            <a:avLst/>
          </a:prstGeom>
          <a:noFill/>
        </p:spPr>
        <p:txBody>
          <a:bodyPr wrap="square" lIns="9144" rIns="9144" tIns="22860" bIns="22860" anchor="t">
            <a:spAutoFit/>
          </a:bodyPr>
          <a:lstStyle/>
          <a:p>
            <a:pPr>
              <a:lnSpc>
                <a:spcPct val="106000"/>
              </a:lnSpc>
              <a:spcBef>
                <a:spcPts val="0"/>
              </a:spcBef>
              <a:spcAft>
                <a:spcPts val="500"/>
              </a:spcAft>
            </a:pPr>
            <a:r>
              <a:rPr sz="1500" b="0">
                <a:solidFill>
                  <a:srgbClr val="646B80"/>
                </a:solidFill>
                <a:latin typeface="Segoe UI"/>
              </a:rPr>
              <a:t>It records a real search policy instead of generating an unsupported answer.</a:t>
            </a:r>
          </a:p>
        </p:txBody>
      </p:sp>
      <p:cxnSp>
        <p:nvCxnSpPr>
          <p:cNvPr id="8" name="Connector 7"/>
          <p:cNvCxnSpPr/>
          <p:nvPr/>
        </p:nvCxnSpPr>
        <p:spPr>
          <a:xfrm>
            <a:off x="502920" y="6428232"/>
            <a:ext cx="11183112" cy="0"/>
          </a:xfrm>
          <a:prstGeom prst="line">
            <a:avLst/>
          </a:prstGeom>
          <a:ln w="10160">
            <a:solidFill>
              <a:srgbClr val="DFE3EF"/>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519672"/>
            <a:ext cx="8961120" cy="201168"/>
          </a:xfrm>
          <a:prstGeom prst="rect">
            <a:avLst/>
          </a:prstGeom>
          <a:noFill/>
        </p:spPr>
        <p:txBody>
          <a:bodyPr wrap="square" lIns="9144" rIns="9144" tIns="22860" bIns="22860" anchor="t">
            <a:spAutoFit/>
          </a:bodyPr>
          <a:lstStyle/>
          <a:p>
            <a:pPr>
              <a:lnSpc>
                <a:spcPct val="106000"/>
              </a:lnSpc>
              <a:spcBef>
                <a:spcPts val="0"/>
              </a:spcBef>
              <a:spcAft>
                <a:spcPts val="500"/>
              </a:spcAft>
            </a:pPr>
            <a:r>
              <a:rPr sz="900" b="0">
                <a:solidFill>
                  <a:srgbClr val="646B80"/>
                </a:solidFill>
                <a:latin typeface="Segoe UI"/>
              </a:rPr>
              <a:t>CODESTRATA  /  AGENTIC CODE INTELLIGENCE</a:t>
            </a:r>
          </a:p>
        </p:txBody>
      </p:sp>
      <p:sp>
        <p:nvSpPr>
          <p:cNvPr id="10" name="TextBox 9"/>
          <p:cNvSpPr txBox="1"/>
          <p:nvPr/>
        </p:nvSpPr>
        <p:spPr>
          <a:xfrm>
            <a:off x="10698480" y="6492240"/>
            <a:ext cx="987552" cy="228600"/>
          </a:xfrm>
          <a:prstGeom prst="rect">
            <a:avLst/>
          </a:prstGeom>
          <a:noFill/>
        </p:spPr>
        <p:txBody>
          <a:bodyPr wrap="square" lIns="9144" rIns="9144" tIns="22860" bIns="22860" anchor="t">
            <a:spAutoFit/>
          </a:bodyPr>
          <a:lstStyle/>
          <a:p>
            <a:r>
              <a:rPr sz="1000" b="1">
                <a:solidFill>
                  <a:srgbClr val="6547D8"/>
                </a:solidFill>
                <a:latin typeface="Segoe UI"/>
              </a:rPr>
              <a:t>07 / 18</a:t>
            </a:r>
          </a:p>
        </p:txBody>
      </p:sp>
      <p:sp>
        <p:nvSpPr>
          <p:cNvPr id="11" name="Rounded Rectangle 10"/>
          <p:cNvSpPr/>
          <p:nvPr/>
        </p:nvSpPr>
        <p:spPr>
          <a:xfrm>
            <a:off x="585216" y="2258568"/>
            <a:ext cx="6812280" cy="630936"/>
          </a:xfrm>
          <a:prstGeom prst="roundRect">
            <a:avLst>
              <a:gd name="adj" fmla="val 12000"/>
            </a:avLst>
          </a:prstGeom>
          <a:solidFill>
            <a:srgbClr val="EFEAFF"/>
          </a:solidFill>
          <a:ln w="10160">
            <a:solidFill>
              <a:srgbClr val="DF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40664" y="2414016"/>
            <a:ext cx="384048" cy="310896"/>
          </a:xfrm>
          <a:prstGeom prst="roundRect">
            <a:avLst>
              <a:gd name="adj" fmla="val 12000"/>
            </a:avLst>
          </a:prstGeom>
          <a:solidFill>
            <a:srgbClr val="EFEAFF"/>
          </a:solidFill>
          <a:ln w="10160">
            <a:solidFill>
              <a:srgbClr val="EFE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 y="2446020"/>
            <a:ext cx="201167" cy="237744"/>
          </a:xfrm>
          <a:prstGeom prst="rect">
            <a:avLst/>
          </a:prstGeom>
          <a:noFill/>
        </p:spPr>
        <p:txBody>
          <a:bodyPr wrap="square" lIns="9144" rIns="9144" tIns="22860" bIns="22860" anchor="t">
            <a:spAutoFit/>
          </a:bodyPr>
          <a:lstStyle/>
          <a:p>
            <a:pPr>
              <a:lnSpc>
                <a:spcPct val="106000"/>
              </a:lnSpc>
              <a:spcBef>
                <a:spcPts val="0"/>
              </a:spcBef>
              <a:spcAft>
                <a:spcPts val="500"/>
              </a:spcAft>
            </a:pPr>
            <a:r>
              <a:rPr sz="1000" b="1">
                <a:solidFill>
                  <a:srgbClr val="6547D8"/>
                </a:solidFill>
                <a:latin typeface="Segoe UI"/>
              </a:rPr>
              <a:t>1</a:t>
            </a:r>
          </a:p>
        </p:txBody>
      </p:sp>
      <p:sp>
        <p:nvSpPr>
          <p:cNvPr id="14" name="TextBox 13"/>
          <p:cNvSpPr txBox="1"/>
          <p:nvPr/>
        </p:nvSpPr>
        <p:spPr>
          <a:xfrm>
            <a:off x="1280160" y="2377440"/>
            <a:ext cx="1353312" cy="320040"/>
          </a:xfrm>
          <a:prstGeom prst="rect">
            <a:avLst/>
          </a:prstGeom>
          <a:noFill/>
        </p:spPr>
        <p:txBody>
          <a:bodyPr wrap="square" lIns="9144" rIns="9144" tIns="22860" bIns="22860" anchor="t">
            <a:spAutoFit/>
          </a:bodyPr>
          <a:lstStyle/>
          <a:p>
            <a:pPr>
              <a:lnSpc>
                <a:spcPct val="106000"/>
              </a:lnSpc>
              <a:spcBef>
                <a:spcPts val="0"/>
              </a:spcBef>
              <a:spcAft>
                <a:spcPts val="500"/>
              </a:spcAft>
            </a:pPr>
            <a:r>
              <a:rPr sz="1700" b="1">
                <a:solidFill>
                  <a:srgbClr val="6547D8"/>
                </a:solidFill>
                <a:latin typeface="Segoe UI"/>
              </a:rPr>
              <a:t>PLAN</a:t>
            </a:r>
          </a:p>
        </p:txBody>
      </p:sp>
      <p:sp>
        <p:nvSpPr>
          <p:cNvPr id="15" name="TextBox 14"/>
          <p:cNvSpPr txBox="1"/>
          <p:nvPr/>
        </p:nvSpPr>
        <p:spPr>
          <a:xfrm>
            <a:off x="2615184" y="2350008"/>
            <a:ext cx="4562856" cy="438912"/>
          </a:xfrm>
          <a:prstGeom prst="rect">
            <a:avLst/>
          </a:prstGeom>
          <a:noFill/>
        </p:spPr>
        <p:txBody>
          <a:bodyPr wrap="square" lIns="9144" rIns="9144" tIns="22860" bIns="22860" anchor="t">
            <a:spAutoFit/>
          </a:bodyPr>
          <a:lstStyle/>
          <a:p>
            <a:pPr>
              <a:lnSpc>
                <a:spcPct val="106000"/>
              </a:lnSpc>
              <a:spcBef>
                <a:spcPts val="0"/>
              </a:spcBef>
              <a:spcAft>
                <a:spcPts val="500"/>
              </a:spcAft>
            </a:pPr>
            <a:r>
              <a:rPr sz="1300" b="0">
                <a:solidFill>
                  <a:srgbClr val="646B80"/>
                </a:solidFill>
                <a:latin typeface="Segoe UI"/>
              </a:rPr>
              <a:t>Parse the supported structural question; warn when phrasing exceeds the analyzer.</a:t>
            </a:r>
          </a:p>
        </p:txBody>
      </p:sp>
      <p:sp>
        <p:nvSpPr>
          <p:cNvPr id="16" name="Rounded Rectangle 15"/>
          <p:cNvSpPr/>
          <p:nvPr/>
        </p:nvSpPr>
        <p:spPr>
          <a:xfrm>
            <a:off x="585216" y="2999232"/>
            <a:ext cx="6812280" cy="630936"/>
          </a:xfrm>
          <a:prstGeom prst="roundRect">
            <a:avLst>
              <a:gd name="adj" fmla="val 12000"/>
            </a:avLst>
          </a:prstGeom>
          <a:solidFill>
            <a:srgbClr val="FFFFFF"/>
          </a:solidFill>
          <a:ln w="10160">
            <a:solidFill>
              <a:srgbClr val="DF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0664" y="3154680"/>
            <a:ext cx="384048" cy="310896"/>
          </a:xfrm>
          <a:prstGeom prst="roundRect">
            <a:avLst>
              <a:gd name="adj" fmla="val 12000"/>
            </a:avLst>
          </a:prstGeom>
          <a:solidFill>
            <a:srgbClr val="EFEAFF"/>
          </a:solidFill>
          <a:ln w="10160">
            <a:solidFill>
              <a:srgbClr val="EFE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 y="3186684"/>
            <a:ext cx="201167" cy="237744"/>
          </a:xfrm>
          <a:prstGeom prst="rect">
            <a:avLst/>
          </a:prstGeom>
          <a:noFill/>
        </p:spPr>
        <p:txBody>
          <a:bodyPr wrap="square" lIns="9144" rIns="9144" tIns="22860" bIns="22860" anchor="t">
            <a:spAutoFit/>
          </a:bodyPr>
          <a:lstStyle/>
          <a:p>
            <a:pPr>
              <a:lnSpc>
                <a:spcPct val="106000"/>
              </a:lnSpc>
              <a:spcBef>
                <a:spcPts val="0"/>
              </a:spcBef>
              <a:spcAft>
                <a:spcPts val="500"/>
              </a:spcAft>
            </a:pPr>
            <a:r>
              <a:rPr sz="1000" b="1">
                <a:solidFill>
                  <a:srgbClr val="6547D8"/>
                </a:solidFill>
                <a:latin typeface="Segoe UI"/>
              </a:rPr>
              <a:t>2</a:t>
            </a:r>
          </a:p>
        </p:txBody>
      </p:sp>
      <p:sp>
        <p:nvSpPr>
          <p:cNvPr id="19" name="TextBox 18"/>
          <p:cNvSpPr txBox="1"/>
          <p:nvPr/>
        </p:nvSpPr>
        <p:spPr>
          <a:xfrm>
            <a:off x="1280160" y="3118104"/>
            <a:ext cx="1353312" cy="320040"/>
          </a:xfrm>
          <a:prstGeom prst="rect">
            <a:avLst/>
          </a:prstGeom>
          <a:noFill/>
        </p:spPr>
        <p:txBody>
          <a:bodyPr wrap="square" lIns="9144" rIns="9144" tIns="22860" bIns="22860" anchor="t">
            <a:spAutoFit/>
          </a:bodyPr>
          <a:lstStyle/>
          <a:p>
            <a:pPr>
              <a:lnSpc>
                <a:spcPct val="106000"/>
              </a:lnSpc>
              <a:spcBef>
                <a:spcPts val="0"/>
              </a:spcBef>
              <a:spcAft>
                <a:spcPts val="500"/>
              </a:spcAft>
            </a:pPr>
            <a:r>
              <a:rPr sz="1700" b="1">
                <a:solidFill>
                  <a:srgbClr val="6547D8"/>
                </a:solidFill>
                <a:latin typeface="Segoe UI"/>
              </a:rPr>
              <a:t>RETRIEVE</a:t>
            </a:r>
          </a:p>
        </p:txBody>
      </p:sp>
      <p:sp>
        <p:nvSpPr>
          <p:cNvPr id="20" name="TextBox 19"/>
          <p:cNvSpPr txBox="1"/>
          <p:nvPr/>
        </p:nvSpPr>
        <p:spPr>
          <a:xfrm>
            <a:off x="2615184" y="3090672"/>
            <a:ext cx="4562856" cy="438912"/>
          </a:xfrm>
          <a:prstGeom prst="rect">
            <a:avLst/>
          </a:prstGeom>
          <a:noFill/>
        </p:spPr>
        <p:txBody>
          <a:bodyPr wrap="square" lIns="9144" rIns="9144" tIns="22860" bIns="22860" anchor="t">
            <a:spAutoFit/>
          </a:bodyPr>
          <a:lstStyle/>
          <a:p>
            <a:pPr>
              <a:lnSpc>
                <a:spcPct val="106000"/>
              </a:lnSpc>
              <a:spcBef>
                <a:spcPts val="0"/>
              </a:spcBef>
              <a:spcAft>
                <a:spcPts val="500"/>
              </a:spcAft>
            </a:pPr>
            <a:r>
              <a:rPr sz="1300" b="0">
                <a:solidFill>
                  <a:srgbClr val="646B80"/>
                </a:solidFill>
                <a:latin typeface="Segoe UI"/>
              </a:rPr>
              <a:t>Fuse cached BM25 and CPU vector ranks to form a candidate list.</a:t>
            </a:r>
          </a:p>
        </p:txBody>
      </p:sp>
      <p:sp>
        <p:nvSpPr>
          <p:cNvPr id="21" name="Rounded Rectangle 20"/>
          <p:cNvSpPr/>
          <p:nvPr/>
        </p:nvSpPr>
        <p:spPr>
          <a:xfrm>
            <a:off x="585216" y="3739896"/>
            <a:ext cx="6812280" cy="630936"/>
          </a:xfrm>
          <a:prstGeom prst="roundRect">
            <a:avLst>
              <a:gd name="adj" fmla="val 12000"/>
            </a:avLst>
          </a:prstGeom>
          <a:solidFill>
            <a:srgbClr val="FFFFFF"/>
          </a:solidFill>
          <a:ln w="10160">
            <a:solidFill>
              <a:srgbClr val="DF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40664" y="3895344"/>
            <a:ext cx="384048" cy="310896"/>
          </a:xfrm>
          <a:prstGeom prst="roundRect">
            <a:avLst>
              <a:gd name="adj" fmla="val 12000"/>
            </a:avLst>
          </a:prstGeom>
          <a:solidFill>
            <a:srgbClr val="EFEAFF"/>
          </a:solidFill>
          <a:ln w="10160">
            <a:solidFill>
              <a:srgbClr val="EFE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 y="3927348"/>
            <a:ext cx="201167" cy="237744"/>
          </a:xfrm>
          <a:prstGeom prst="rect">
            <a:avLst/>
          </a:prstGeom>
          <a:noFill/>
        </p:spPr>
        <p:txBody>
          <a:bodyPr wrap="square" lIns="9144" rIns="9144" tIns="22860" bIns="22860" anchor="t">
            <a:spAutoFit/>
          </a:bodyPr>
          <a:lstStyle/>
          <a:p>
            <a:pPr>
              <a:lnSpc>
                <a:spcPct val="106000"/>
              </a:lnSpc>
              <a:spcBef>
                <a:spcPts val="0"/>
              </a:spcBef>
              <a:spcAft>
                <a:spcPts val="500"/>
              </a:spcAft>
            </a:pPr>
            <a:r>
              <a:rPr sz="1000" b="1">
                <a:solidFill>
                  <a:srgbClr val="6547D8"/>
                </a:solidFill>
                <a:latin typeface="Segoe UI"/>
              </a:rPr>
              <a:t>3</a:t>
            </a:r>
          </a:p>
        </p:txBody>
      </p:sp>
      <p:sp>
        <p:nvSpPr>
          <p:cNvPr id="24" name="TextBox 23"/>
          <p:cNvSpPr txBox="1"/>
          <p:nvPr/>
        </p:nvSpPr>
        <p:spPr>
          <a:xfrm>
            <a:off x="1280160" y="3858768"/>
            <a:ext cx="1353312" cy="320040"/>
          </a:xfrm>
          <a:prstGeom prst="rect">
            <a:avLst/>
          </a:prstGeom>
          <a:noFill/>
        </p:spPr>
        <p:txBody>
          <a:bodyPr wrap="square" lIns="9144" rIns="9144" tIns="22860" bIns="22860" anchor="t">
            <a:spAutoFit/>
          </a:bodyPr>
          <a:lstStyle/>
          <a:p>
            <a:pPr>
              <a:lnSpc>
                <a:spcPct val="106000"/>
              </a:lnSpc>
              <a:spcBef>
                <a:spcPts val="0"/>
              </a:spcBef>
              <a:spcAft>
                <a:spcPts val="500"/>
              </a:spcAft>
            </a:pPr>
            <a:r>
              <a:rPr sz="1700" b="1">
                <a:solidFill>
                  <a:srgbClr val="6547D8"/>
                </a:solidFill>
                <a:latin typeface="Segoe UI"/>
              </a:rPr>
              <a:t>INSPECT</a:t>
            </a:r>
          </a:p>
        </p:txBody>
      </p:sp>
      <p:sp>
        <p:nvSpPr>
          <p:cNvPr id="25" name="TextBox 24"/>
          <p:cNvSpPr txBox="1"/>
          <p:nvPr/>
        </p:nvSpPr>
        <p:spPr>
          <a:xfrm>
            <a:off x="2615184" y="3831335"/>
            <a:ext cx="4562856" cy="438912"/>
          </a:xfrm>
          <a:prstGeom prst="rect">
            <a:avLst/>
          </a:prstGeom>
          <a:noFill/>
        </p:spPr>
        <p:txBody>
          <a:bodyPr wrap="square" lIns="9144" rIns="9144" tIns="22860" bIns="22860" anchor="t">
            <a:spAutoFit/>
          </a:bodyPr>
          <a:lstStyle/>
          <a:p>
            <a:pPr>
              <a:lnSpc>
                <a:spcPct val="106000"/>
              </a:lnSpc>
              <a:spcBef>
                <a:spcPts val="0"/>
              </a:spcBef>
              <a:spcAft>
                <a:spcPts val="500"/>
              </a:spcAft>
            </a:pPr>
            <a:r>
              <a:rPr sz="1300" b="0">
                <a:solidFill>
                  <a:srgbClr val="646B80"/>
                </a:solidFill>
                <a:latin typeface="Segoe UI"/>
              </a:rPr>
              <a:t>Test candidates for support, contradiction, or uncertainty from source facts.</a:t>
            </a:r>
          </a:p>
        </p:txBody>
      </p:sp>
      <p:sp>
        <p:nvSpPr>
          <p:cNvPr id="26" name="Rounded Rectangle 25"/>
          <p:cNvSpPr/>
          <p:nvPr/>
        </p:nvSpPr>
        <p:spPr>
          <a:xfrm>
            <a:off x="585216" y="4480560"/>
            <a:ext cx="6812280" cy="630936"/>
          </a:xfrm>
          <a:prstGeom prst="roundRect">
            <a:avLst>
              <a:gd name="adj" fmla="val 12000"/>
            </a:avLst>
          </a:prstGeom>
          <a:solidFill>
            <a:srgbClr val="FFFFFF"/>
          </a:solidFill>
          <a:ln w="10160">
            <a:solidFill>
              <a:srgbClr val="DF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40664" y="4636008"/>
            <a:ext cx="384048" cy="310896"/>
          </a:xfrm>
          <a:prstGeom prst="roundRect">
            <a:avLst>
              <a:gd name="adj" fmla="val 12000"/>
            </a:avLst>
          </a:prstGeom>
          <a:solidFill>
            <a:srgbClr val="EFEAFF"/>
          </a:solidFill>
          <a:ln w="10160">
            <a:solidFill>
              <a:srgbClr val="EFE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2104" y="4668012"/>
            <a:ext cx="201167" cy="237744"/>
          </a:xfrm>
          <a:prstGeom prst="rect">
            <a:avLst/>
          </a:prstGeom>
          <a:noFill/>
        </p:spPr>
        <p:txBody>
          <a:bodyPr wrap="square" lIns="9144" rIns="9144" tIns="22860" bIns="22860" anchor="t">
            <a:spAutoFit/>
          </a:bodyPr>
          <a:lstStyle/>
          <a:p>
            <a:pPr>
              <a:lnSpc>
                <a:spcPct val="106000"/>
              </a:lnSpc>
              <a:spcBef>
                <a:spcPts val="0"/>
              </a:spcBef>
              <a:spcAft>
                <a:spcPts val="500"/>
              </a:spcAft>
            </a:pPr>
            <a:r>
              <a:rPr sz="1000" b="1">
                <a:solidFill>
                  <a:srgbClr val="6547D8"/>
                </a:solidFill>
                <a:latin typeface="Segoe UI"/>
              </a:rPr>
              <a:t>4</a:t>
            </a:r>
          </a:p>
        </p:txBody>
      </p:sp>
      <p:sp>
        <p:nvSpPr>
          <p:cNvPr id="29" name="TextBox 28"/>
          <p:cNvSpPr txBox="1"/>
          <p:nvPr/>
        </p:nvSpPr>
        <p:spPr>
          <a:xfrm>
            <a:off x="1280160" y="4599432"/>
            <a:ext cx="1353312" cy="320040"/>
          </a:xfrm>
          <a:prstGeom prst="rect">
            <a:avLst/>
          </a:prstGeom>
          <a:noFill/>
        </p:spPr>
        <p:txBody>
          <a:bodyPr wrap="square" lIns="9144" rIns="9144" tIns="22860" bIns="22860" anchor="t">
            <a:spAutoFit/>
          </a:bodyPr>
          <a:lstStyle/>
          <a:p>
            <a:pPr>
              <a:lnSpc>
                <a:spcPct val="106000"/>
              </a:lnSpc>
              <a:spcBef>
                <a:spcPts val="0"/>
              </a:spcBef>
              <a:spcAft>
                <a:spcPts val="500"/>
              </a:spcAft>
            </a:pPr>
            <a:r>
              <a:rPr sz="1700" b="1">
                <a:solidFill>
                  <a:srgbClr val="6547D8"/>
                </a:solidFill>
                <a:latin typeface="Segoe UI"/>
              </a:rPr>
              <a:t>EXPAND</a:t>
            </a:r>
          </a:p>
        </p:txBody>
      </p:sp>
      <p:sp>
        <p:nvSpPr>
          <p:cNvPr id="30" name="TextBox 29"/>
          <p:cNvSpPr txBox="1"/>
          <p:nvPr/>
        </p:nvSpPr>
        <p:spPr>
          <a:xfrm>
            <a:off x="2615184" y="4572000"/>
            <a:ext cx="4562856" cy="438912"/>
          </a:xfrm>
          <a:prstGeom prst="rect">
            <a:avLst/>
          </a:prstGeom>
          <a:noFill/>
        </p:spPr>
        <p:txBody>
          <a:bodyPr wrap="square" lIns="9144" rIns="9144" tIns="22860" bIns="22860" anchor="t">
            <a:spAutoFit/>
          </a:bodyPr>
          <a:lstStyle/>
          <a:p>
            <a:pPr>
              <a:lnSpc>
                <a:spcPct val="106000"/>
              </a:lnSpc>
              <a:spcBef>
                <a:spcPts val="0"/>
              </a:spcBef>
              <a:spcAft>
                <a:spcPts val="500"/>
              </a:spcAft>
            </a:pPr>
            <a:r>
              <a:rPr sz="1300" b="0">
                <a:solidFill>
                  <a:srgbClr val="646B80"/>
                </a:solidFill>
                <a:latin typeface="Segoe UI"/>
              </a:rPr>
              <a:t>Follow linked versions or resolved imports when the first pass is insufficient.</a:t>
            </a:r>
          </a:p>
        </p:txBody>
      </p:sp>
      <p:sp>
        <p:nvSpPr>
          <p:cNvPr id="31" name="Rounded Rectangle 30"/>
          <p:cNvSpPr/>
          <p:nvPr/>
        </p:nvSpPr>
        <p:spPr>
          <a:xfrm>
            <a:off x="585216" y="5221224"/>
            <a:ext cx="6812280" cy="630936"/>
          </a:xfrm>
          <a:prstGeom prst="roundRect">
            <a:avLst>
              <a:gd name="adj" fmla="val 12000"/>
            </a:avLst>
          </a:prstGeom>
          <a:solidFill>
            <a:srgbClr val="EFEAFF"/>
          </a:solidFill>
          <a:ln w="10160">
            <a:solidFill>
              <a:srgbClr val="DF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740664" y="5376672"/>
            <a:ext cx="384048" cy="310896"/>
          </a:xfrm>
          <a:prstGeom prst="roundRect">
            <a:avLst>
              <a:gd name="adj" fmla="val 12000"/>
            </a:avLst>
          </a:prstGeom>
          <a:solidFill>
            <a:srgbClr val="EFEAFF"/>
          </a:solidFill>
          <a:ln w="10160">
            <a:solidFill>
              <a:srgbClr val="EFE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2104" y="5408676"/>
            <a:ext cx="201167" cy="237744"/>
          </a:xfrm>
          <a:prstGeom prst="rect">
            <a:avLst/>
          </a:prstGeom>
          <a:noFill/>
        </p:spPr>
        <p:txBody>
          <a:bodyPr wrap="square" lIns="9144" rIns="9144" tIns="22860" bIns="22860" anchor="t">
            <a:spAutoFit/>
          </a:bodyPr>
          <a:lstStyle/>
          <a:p>
            <a:pPr>
              <a:lnSpc>
                <a:spcPct val="106000"/>
              </a:lnSpc>
              <a:spcBef>
                <a:spcPts val="0"/>
              </a:spcBef>
              <a:spcAft>
                <a:spcPts val="500"/>
              </a:spcAft>
            </a:pPr>
            <a:r>
              <a:rPr sz="1000" b="1">
                <a:solidFill>
                  <a:srgbClr val="6547D8"/>
                </a:solidFill>
                <a:latin typeface="Segoe UI"/>
              </a:rPr>
              <a:t>5</a:t>
            </a:r>
          </a:p>
        </p:txBody>
      </p:sp>
      <p:sp>
        <p:nvSpPr>
          <p:cNvPr id="34" name="TextBox 33"/>
          <p:cNvSpPr txBox="1"/>
          <p:nvPr/>
        </p:nvSpPr>
        <p:spPr>
          <a:xfrm>
            <a:off x="1280160" y="5340096"/>
            <a:ext cx="1353312" cy="320040"/>
          </a:xfrm>
          <a:prstGeom prst="rect">
            <a:avLst/>
          </a:prstGeom>
          <a:noFill/>
        </p:spPr>
        <p:txBody>
          <a:bodyPr wrap="square" lIns="9144" rIns="9144" tIns="22860" bIns="22860" anchor="t">
            <a:spAutoFit/>
          </a:bodyPr>
          <a:lstStyle/>
          <a:p>
            <a:pPr>
              <a:lnSpc>
                <a:spcPct val="106000"/>
              </a:lnSpc>
              <a:spcBef>
                <a:spcPts val="0"/>
              </a:spcBef>
              <a:spcAft>
                <a:spcPts val="500"/>
              </a:spcAft>
            </a:pPr>
            <a:r>
              <a:rPr sz="1700" b="1">
                <a:solidFill>
                  <a:srgbClr val="6547D8"/>
                </a:solidFill>
                <a:latin typeface="Segoe UI"/>
              </a:rPr>
              <a:t>STOP</a:t>
            </a:r>
          </a:p>
        </p:txBody>
      </p:sp>
      <p:sp>
        <p:nvSpPr>
          <p:cNvPr id="35" name="TextBox 34"/>
          <p:cNvSpPr txBox="1"/>
          <p:nvPr/>
        </p:nvSpPr>
        <p:spPr>
          <a:xfrm>
            <a:off x="2615184" y="5312664"/>
            <a:ext cx="4562856" cy="438912"/>
          </a:xfrm>
          <a:prstGeom prst="rect">
            <a:avLst/>
          </a:prstGeom>
          <a:noFill/>
        </p:spPr>
        <p:txBody>
          <a:bodyPr wrap="square" lIns="9144" rIns="9144" tIns="22860" bIns="22860" anchor="t">
            <a:spAutoFit/>
          </a:bodyPr>
          <a:lstStyle/>
          <a:p>
            <a:pPr>
              <a:lnSpc>
                <a:spcPct val="106000"/>
              </a:lnSpc>
              <a:spcBef>
                <a:spcPts val="0"/>
              </a:spcBef>
              <a:spcAft>
                <a:spcPts val="500"/>
              </a:spcAft>
            </a:pPr>
            <a:r>
              <a:rPr sz="1300" b="0">
                <a:solidFill>
                  <a:srgbClr val="646B80"/>
                </a:solidFill>
                <a:latin typeface="Segoe UI"/>
              </a:rPr>
              <a:t>Return evidence when sufficient, exhausted, canceled, or over budget.</a:t>
            </a:r>
          </a:p>
        </p:txBody>
      </p:sp>
      <p:sp>
        <p:nvSpPr>
          <p:cNvPr id="36" name="Rounded Rectangle 35"/>
          <p:cNvSpPr/>
          <p:nvPr/>
        </p:nvSpPr>
        <p:spPr>
          <a:xfrm>
            <a:off x="7712964" y="2327148"/>
            <a:ext cx="3931920" cy="3538727"/>
          </a:xfrm>
          <a:prstGeom prst="roundRect">
            <a:avLst>
              <a:gd name="adj" fmla="val 12000"/>
            </a:avLst>
          </a:prstGeom>
          <a:solidFill>
            <a:srgbClr val="FFFFFF"/>
          </a:solidFill>
          <a:ln w="10160">
            <a:solidFill>
              <a:srgbClr val="DF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agent-trace.png"/>
          <p:cNvPicPr>
            <a:picLocks noChangeAspect="1"/>
          </p:cNvPicPr>
          <p:nvPr/>
        </p:nvPicPr>
        <p:blipFill>
          <a:blip r:embed="rId2"/>
          <a:stretch>
            <a:fillRect/>
          </a:stretch>
        </p:blipFill>
        <p:spPr>
          <a:xfrm>
            <a:off x="8743182" y="2359152"/>
            <a:ext cx="1871482" cy="3474720"/>
          </a:xfrm>
          <a:prstGeom prst="rect">
            <a:avLst/>
          </a:prstGeom>
        </p:spPr>
      </p:pic>
      <p:sp>
        <p:nvSpPr>
          <p:cNvPr id="38" name="TextBox 37"/>
          <p:cNvSpPr txBox="1"/>
          <p:nvPr/>
        </p:nvSpPr>
        <p:spPr>
          <a:xfrm>
            <a:off x="7772400" y="5971032"/>
            <a:ext cx="3813048" cy="283464"/>
          </a:xfrm>
          <a:prstGeom prst="rect">
            <a:avLst/>
          </a:prstGeom>
          <a:noFill/>
        </p:spPr>
        <p:txBody>
          <a:bodyPr wrap="square" lIns="9144" rIns="9144" tIns="22860" bIns="22860" anchor="t">
            <a:spAutoFit/>
          </a:bodyPr>
          <a:lstStyle/>
          <a:p>
            <a:pPr>
              <a:lnSpc>
                <a:spcPct val="106000"/>
              </a:lnSpc>
              <a:spcBef>
                <a:spcPts val="0"/>
              </a:spcBef>
              <a:spcAft>
                <a:spcPts val="500"/>
              </a:spcAft>
            </a:pPr>
            <a:r>
              <a:rPr sz="1300" b="1">
                <a:solidFill>
                  <a:srgbClr val="6547D8"/>
                </a:solidFill>
                <a:latin typeface="Segoe UI"/>
              </a:rPr>
              <a:t>Budget: 3 rounds • 120 candidates.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9FD"/>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502920" y="393192"/>
            <a:ext cx="100584" cy="210312"/>
          </a:xfrm>
          <a:prstGeom prst="rect">
            <a:avLst/>
          </a:prstGeom>
          <a:solidFill>
            <a:srgbClr val="6547D8"/>
          </a:solidFill>
          <a:ln w="10160">
            <a:solidFill>
              <a:srgbClr val="6547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65760"/>
            <a:ext cx="1920240" cy="274320"/>
          </a:xfrm>
          <a:prstGeom prst="rect">
            <a:avLst/>
          </a:prstGeom>
          <a:noFill/>
        </p:spPr>
        <p:txBody>
          <a:bodyPr wrap="square" lIns="9144" rIns="9144" tIns="22860" bIns="22860" anchor="t">
            <a:spAutoFit/>
          </a:bodyPr>
          <a:lstStyle/>
          <a:p>
            <a:pPr>
              <a:lnSpc>
                <a:spcPct val="106000"/>
              </a:lnSpc>
              <a:spcBef>
                <a:spcPts val="0"/>
              </a:spcBef>
              <a:spcAft>
                <a:spcPts val="500"/>
              </a:spcAft>
            </a:pPr>
            <a:r>
              <a:rPr sz="1100" b="1">
                <a:solidFill>
                  <a:srgbClr val="6547D8"/>
                </a:solidFill>
                <a:latin typeface="Segoe UI"/>
              </a:rPr>
              <a:t>CODESTRATA</a:t>
            </a:r>
          </a:p>
        </p:txBody>
      </p:sp>
      <p:sp>
        <p:nvSpPr>
          <p:cNvPr id="5" name="TextBox 4"/>
          <p:cNvSpPr txBox="1"/>
          <p:nvPr/>
        </p:nvSpPr>
        <p:spPr>
          <a:xfrm>
            <a:off x="3657600" y="374904"/>
            <a:ext cx="8001000" cy="292608"/>
          </a:xfrm>
          <a:prstGeom prst="rect">
            <a:avLst/>
          </a:prstGeom>
          <a:noFill/>
        </p:spPr>
        <p:txBody>
          <a:bodyPr wrap="square" lIns="9144" rIns="9144" tIns="22860" bIns="22860" anchor="t">
            <a:spAutoFit/>
          </a:bodyPr>
          <a:lstStyle/>
          <a:p>
            <a:pPr algn="r">
              <a:lnSpc>
                <a:spcPct val="106000"/>
              </a:lnSpc>
              <a:spcBef>
                <a:spcPts val="0"/>
              </a:spcBef>
              <a:spcAft>
                <a:spcPts val="500"/>
              </a:spcAft>
            </a:pPr>
            <a:r>
              <a:rPr sz="1000" b="0">
                <a:solidFill>
                  <a:srgbClr val="646B80"/>
                </a:solidFill>
                <a:latin typeface="Segoe UI"/>
              </a:rPr>
              <a:t>METHOD • LINEAGE</a:t>
            </a:r>
          </a:p>
        </p:txBody>
      </p:sp>
      <p:sp>
        <p:nvSpPr>
          <p:cNvPr id="6" name="TextBox 5"/>
          <p:cNvSpPr txBox="1"/>
          <p:nvPr/>
        </p:nvSpPr>
        <p:spPr>
          <a:xfrm>
            <a:off x="502920" y="896112"/>
            <a:ext cx="11109960" cy="868680"/>
          </a:xfrm>
          <a:prstGeom prst="rect">
            <a:avLst/>
          </a:prstGeom>
          <a:noFill/>
        </p:spPr>
        <p:txBody>
          <a:bodyPr wrap="square" lIns="9144" rIns="9144" tIns="22860" bIns="22860" anchor="t">
            <a:spAutoFit/>
          </a:bodyPr>
          <a:lstStyle/>
          <a:p>
            <a:pPr>
              <a:lnSpc>
                <a:spcPct val="106000"/>
              </a:lnSpc>
              <a:spcBef>
                <a:spcPts val="0"/>
              </a:spcBef>
              <a:spcAft>
                <a:spcPts val="500"/>
              </a:spcAft>
            </a:pPr>
            <a:r>
              <a:rPr sz="3400" b="1">
                <a:solidFill>
                  <a:srgbClr val="20243A"/>
                </a:solidFill>
                <a:latin typeface="Segoe UI"/>
              </a:rPr>
              <a:t>Follow a refactor without inventing identity.</a:t>
            </a:r>
          </a:p>
        </p:txBody>
      </p:sp>
      <p:sp>
        <p:nvSpPr>
          <p:cNvPr id="7" name="TextBox 6"/>
          <p:cNvSpPr txBox="1"/>
          <p:nvPr/>
        </p:nvSpPr>
        <p:spPr>
          <a:xfrm>
            <a:off x="530352" y="1746504"/>
            <a:ext cx="10972800" cy="411480"/>
          </a:xfrm>
          <a:prstGeom prst="rect">
            <a:avLst/>
          </a:prstGeom>
          <a:noFill/>
        </p:spPr>
        <p:txBody>
          <a:bodyPr wrap="square" lIns="9144" rIns="9144" tIns="22860" bIns="22860" anchor="t">
            <a:spAutoFit/>
          </a:bodyPr>
          <a:lstStyle/>
          <a:p>
            <a:pPr>
              <a:lnSpc>
                <a:spcPct val="106000"/>
              </a:lnSpc>
              <a:spcBef>
                <a:spcPts val="0"/>
              </a:spcBef>
              <a:spcAft>
                <a:spcPts val="500"/>
              </a:spcAft>
            </a:pPr>
            <a:r>
              <a:rPr sz="1500" b="0">
                <a:solidFill>
                  <a:srgbClr val="646B80"/>
                </a:solidFill>
                <a:latin typeface="Segoe UI"/>
              </a:rPr>
              <a:t>A rename or move is linked only when the structural match is strong and unambiguous.</a:t>
            </a:r>
          </a:p>
        </p:txBody>
      </p:sp>
      <p:cxnSp>
        <p:nvCxnSpPr>
          <p:cNvPr id="8" name="Connector 7"/>
          <p:cNvCxnSpPr/>
          <p:nvPr/>
        </p:nvCxnSpPr>
        <p:spPr>
          <a:xfrm>
            <a:off x="502920" y="6428232"/>
            <a:ext cx="11183112" cy="0"/>
          </a:xfrm>
          <a:prstGeom prst="line">
            <a:avLst/>
          </a:prstGeom>
          <a:ln w="10160">
            <a:solidFill>
              <a:srgbClr val="DFE3EF"/>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519672"/>
            <a:ext cx="8961120" cy="201168"/>
          </a:xfrm>
          <a:prstGeom prst="rect">
            <a:avLst/>
          </a:prstGeom>
          <a:noFill/>
        </p:spPr>
        <p:txBody>
          <a:bodyPr wrap="square" lIns="9144" rIns="9144" tIns="22860" bIns="22860" anchor="t">
            <a:spAutoFit/>
          </a:bodyPr>
          <a:lstStyle/>
          <a:p>
            <a:pPr>
              <a:lnSpc>
                <a:spcPct val="106000"/>
              </a:lnSpc>
              <a:spcBef>
                <a:spcPts val="0"/>
              </a:spcBef>
              <a:spcAft>
                <a:spcPts val="500"/>
              </a:spcAft>
            </a:pPr>
            <a:r>
              <a:rPr sz="900" b="0">
                <a:solidFill>
                  <a:srgbClr val="646B80"/>
                </a:solidFill>
                <a:latin typeface="Segoe UI"/>
              </a:rPr>
              <a:t>CODESTRATA  /  AGENTIC CODE INTELLIGENCE</a:t>
            </a:r>
          </a:p>
        </p:txBody>
      </p:sp>
      <p:sp>
        <p:nvSpPr>
          <p:cNvPr id="10" name="TextBox 9"/>
          <p:cNvSpPr txBox="1"/>
          <p:nvPr/>
        </p:nvSpPr>
        <p:spPr>
          <a:xfrm>
            <a:off x="10698480" y="6492240"/>
            <a:ext cx="987552" cy="228600"/>
          </a:xfrm>
          <a:prstGeom prst="rect">
            <a:avLst/>
          </a:prstGeom>
          <a:noFill/>
        </p:spPr>
        <p:txBody>
          <a:bodyPr wrap="square" lIns="9144" rIns="9144" tIns="22860" bIns="22860" anchor="t">
            <a:spAutoFit/>
          </a:bodyPr>
          <a:lstStyle/>
          <a:p>
            <a:r>
              <a:rPr sz="1000" b="1">
                <a:solidFill>
                  <a:srgbClr val="6547D8"/>
                </a:solidFill>
                <a:latin typeface="Segoe UI"/>
              </a:rPr>
              <a:t>09 / 18</a:t>
            </a:r>
          </a:p>
        </p:txBody>
      </p:sp>
      <p:sp>
        <p:nvSpPr>
          <p:cNvPr id="11" name="Rounded Rectangle 10"/>
          <p:cNvSpPr/>
          <p:nvPr/>
        </p:nvSpPr>
        <p:spPr>
          <a:xfrm>
            <a:off x="585216" y="2414016"/>
            <a:ext cx="3465576" cy="1700784"/>
          </a:xfrm>
          <a:prstGeom prst="roundRect">
            <a:avLst>
              <a:gd name="adj" fmla="val 12000"/>
            </a:avLst>
          </a:prstGeom>
          <a:solidFill>
            <a:srgbClr val="E9F7F1"/>
          </a:solidFill>
          <a:ln w="10160">
            <a:solidFill>
              <a:srgbClr val="E9F7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 y="2651760"/>
            <a:ext cx="3063240" cy="329184"/>
          </a:xfrm>
          <a:prstGeom prst="rect">
            <a:avLst/>
          </a:prstGeom>
          <a:noFill/>
        </p:spPr>
        <p:txBody>
          <a:bodyPr wrap="square" lIns="9144" rIns="9144" tIns="22860" bIns="22860" anchor="t">
            <a:spAutoFit/>
          </a:bodyPr>
          <a:lstStyle/>
          <a:p>
            <a:pPr>
              <a:lnSpc>
                <a:spcPct val="106000"/>
              </a:lnSpc>
              <a:spcBef>
                <a:spcPts val="0"/>
              </a:spcBef>
              <a:spcAft>
                <a:spcPts val="500"/>
              </a:spcAft>
            </a:pPr>
            <a:r>
              <a:rPr sz="1700" b="1">
                <a:solidFill>
                  <a:srgbClr val="20243A"/>
                </a:solidFill>
                <a:latin typeface="Segoe UI"/>
              </a:rPr>
              <a:t>v1  /  connectDevice</a:t>
            </a:r>
          </a:p>
        </p:txBody>
      </p:sp>
      <p:sp>
        <p:nvSpPr>
          <p:cNvPr id="13" name="TextBox 12"/>
          <p:cNvSpPr txBox="1"/>
          <p:nvPr/>
        </p:nvSpPr>
        <p:spPr>
          <a:xfrm>
            <a:off x="786384" y="3172968"/>
            <a:ext cx="3063240" cy="329184"/>
          </a:xfrm>
          <a:prstGeom prst="rect">
            <a:avLst/>
          </a:prstGeom>
          <a:noFill/>
        </p:spPr>
        <p:txBody>
          <a:bodyPr wrap="square" lIns="9144" rIns="9144" tIns="22860" bIns="22860" anchor="t">
            <a:spAutoFit/>
          </a:bodyPr>
          <a:lstStyle/>
          <a:p>
            <a:pPr>
              <a:lnSpc>
                <a:spcPct val="106000"/>
              </a:lnSpc>
              <a:spcBef>
                <a:spcPts val="0"/>
              </a:spcBef>
              <a:spcAft>
                <a:spcPts val="500"/>
              </a:spcAft>
            </a:pPr>
            <a:r>
              <a:rPr sz="1500" b="1">
                <a:solidFill>
                  <a:srgbClr val="087A60"/>
                </a:solidFill>
                <a:latin typeface="Consolas"/>
              </a:rPr>
              <a:t>await policyCheck(device);</a:t>
            </a:r>
          </a:p>
        </p:txBody>
      </p:sp>
      <p:sp>
        <p:nvSpPr>
          <p:cNvPr id="14" name="TextBox 13"/>
          <p:cNvSpPr txBox="1"/>
          <p:nvPr/>
        </p:nvSpPr>
        <p:spPr>
          <a:xfrm>
            <a:off x="786384" y="3666744"/>
            <a:ext cx="3063240" cy="256032"/>
          </a:xfrm>
          <a:prstGeom prst="rect">
            <a:avLst/>
          </a:prstGeom>
          <a:noFill/>
        </p:spPr>
        <p:txBody>
          <a:bodyPr wrap="square" lIns="9144" rIns="9144" tIns="22860" bIns="22860" anchor="t">
            <a:spAutoFit/>
          </a:bodyPr>
          <a:lstStyle/>
          <a:p>
            <a:pPr>
              <a:lnSpc>
                <a:spcPct val="106000"/>
              </a:lnSpc>
              <a:spcBef>
                <a:spcPts val="0"/>
              </a:spcBef>
              <a:spcAft>
                <a:spcPts val="500"/>
              </a:spcAft>
            </a:pPr>
            <a:r>
              <a:rPr sz="1100" b="1">
                <a:solidFill>
                  <a:srgbClr val="087A60"/>
                </a:solidFill>
                <a:latin typeface="Segoe UI"/>
              </a:rPr>
              <a:t>HOLDS</a:t>
            </a:r>
          </a:p>
        </p:txBody>
      </p:sp>
      <p:cxnSp>
        <p:nvCxnSpPr>
          <p:cNvPr id="15" name="Connector 14"/>
          <p:cNvCxnSpPr/>
          <p:nvPr/>
        </p:nvCxnSpPr>
        <p:spPr>
          <a:xfrm>
            <a:off x="4078224" y="3154680"/>
            <a:ext cx="237744" cy="0"/>
          </a:xfrm>
          <a:prstGeom prst="line">
            <a:avLst/>
          </a:prstGeom>
          <a:ln w="21590">
            <a:solidFill>
              <a:srgbClr val="6547D8"/>
            </a:solidFill>
            <a:tailEnd type="triangle"/>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370831" y="2414016"/>
            <a:ext cx="3465576" cy="1700784"/>
          </a:xfrm>
          <a:prstGeom prst="roundRect">
            <a:avLst>
              <a:gd name="adj" fmla="val 12000"/>
            </a:avLst>
          </a:prstGeom>
          <a:solidFill>
            <a:srgbClr val="FFF0E5"/>
          </a:solidFill>
          <a:ln w="10160">
            <a:solidFill>
              <a:srgbClr val="FFF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1999" y="2651760"/>
            <a:ext cx="3063240" cy="329184"/>
          </a:xfrm>
          <a:prstGeom prst="rect">
            <a:avLst/>
          </a:prstGeom>
          <a:noFill/>
        </p:spPr>
        <p:txBody>
          <a:bodyPr wrap="square" lIns="9144" rIns="9144" tIns="22860" bIns="22860" anchor="t">
            <a:spAutoFit/>
          </a:bodyPr>
          <a:lstStyle/>
          <a:p>
            <a:pPr>
              <a:lnSpc>
                <a:spcPct val="106000"/>
              </a:lnSpc>
              <a:spcBef>
                <a:spcPts val="0"/>
              </a:spcBef>
              <a:spcAft>
                <a:spcPts val="500"/>
              </a:spcAft>
            </a:pPr>
            <a:r>
              <a:rPr sz="1700" b="1">
                <a:solidFill>
                  <a:srgbClr val="20243A"/>
                </a:solidFill>
                <a:latin typeface="Segoe UI"/>
              </a:rPr>
              <a:t>v2  /  pairDevice</a:t>
            </a:r>
          </a:p>
        </p:txBody>
      </p:sp>
      <p:sp>
        <p:nvSpPr>
          <p:cNvPr id="18" name="TextBox 17"/>
          <p:cNvSpPr txBox="1"/>
          <p:nvPr/>
        </p:nvSpPr>
        <p:spPr>
          <a:xfrm>
            <a:off x="4571999" y="3172968"/>
            <a:ext cx="3063240" cy="329184"/>
          </a:xfrm>
          <a:prstGeom prst="rect">
            <a:avLst/>
          </a:prstGeom>
          <a:noFill/>
        </p:spPr>
        <p:txBody>
          <a:bodyPr wrap="square" lIns="9144" rIns="9144" tIns="22860" bIns="22860" anchor="t">
            <a:spAutoFit/>
          </a:bodyPr>
          <a:lstStyle/>
          <a:p>
            <a:pPr>
              <a:lnSpc>
                <a:spcPct val="106000"/>
              </a:lnSpc>
              <a:spcBef>
                <a:spcPts val="0"/>
              </a:spcBef>
              <a:spcAft>
                <a:spcPts val="500"/>
              </a:spcAft>
            </a:pPr>
            <a:r>
              <a:rPr sz="1500" b="1">
                <a:solidFill>
                  <a:srgbClr val="AE5427"/>
                </a:solidFill>
                <a:latin typeface="Consolas"/>
              </a:rPr>
              <a:t>policyCheck(device);</a:t>
            </a:r>
          </a:p>
        </p:txBody>
      </p:sp>
      <p:sp>
        <p:nvSpPr>
          <p:cNvPr id="19" name="TextBox 18"/>
          <p:cNvSpPr txBox="1"/>
          <p:nvPr/>
        </p:nvSpPr>
        <p:spPr>
          <a:xfrm>
            <a:off x="4571999" y="3666744"/>
            <a:ext cx="3063240" cy="256032"/>
          </a:xfrm>
          <a:prstGeom prst="rect">
            <a:avLst/>
          </a:prstGeom>
          <a:noFill/>
        </p:spPr>
        <p:txBody>
          <a:bodyPr wrap="square" lIns="9144" rIns="9144" tIns="22860" bIns="22860" anchor="t">
            <a:spAutoFit/>
          </a:bodyPr>
          <a:lstStyle/>
          <a:p>
            <a:pPr>
              <a:lnSpc>
                <a:spcPct val="106000"/>
              </a:lnSpc>
              <a:spcBef>
                <a:spcPts val="0"/>
              </a:spcBef>
              <a:spcAft>
                <a:spcPts val="500"/>
              </a:spcAft>
            </a:pPr>
            <a:r>
              <a:rPr sz="1100" b="1">
                <a:solidFill>
                  <a:srgbClr val="AE5427"/>
                </a:solidFill>
                <a:latin typeface="Segoe UI"/>
              </a:rPr>
              <a:t>DIRECT AWAIT ABSENT</a:t>
            </a:r>
          </a:p>
        </p:txBody>
      </p:sp>
      <p:cxnSp>
        <p:nvCxnSpPr>
          <p:cNvPr id="20" name="Connector 19"/>
          <p:cNvCxnSpPr/>
          <p:nvPr/>
        </p:nvCxnSpPr>
        <p:spPr>
          <a:xfrm>
            <a:off x="7863840" y="3154680"/>
            <a:ext cx="237743" cy="0"/>
          </a:xfrm>
          <a:prstGeom prst="line">
            <a:avLst/>
          </a:prstGeom>
          <a:ln w="21590">
            <a:solidFill>
              <a:srgbClr val="6547D8"/>
            </a:solidFill>
            <a:tailEnd type="triangle"/>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156448" y="2414016"/>
            <a:ext cx="3465576" cy="1700784"/>
          </a:xfrm>
          <a:prstGeom prst="roundRect">
            <a:avLst>
              <a:gd name="adj" fmla="val 12000"/>
            </a:avLst>
          </a:prstGeom>
          <a:solidFill>
            <a:srgbClr val="E9F7F1"/>
          </a:solidFill>
          <a:ln w="10160">
            <a:solidFill>
              <a:srgbClr val="E9F7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57616" y="2651760"/>
            <a:ext cx="3063240" cy="329184"/>
          </a:xfrm>
          <a:prstGeom prst="rect">
            <a:avLst/>
          </a:prstGeom>
          <a:noFill/>
        </p:spPr>
        <p:txBody>
          <a:bodyPr wrap="square" lIns="9144" rIns="9144" tIns="22860" bIns="22860" anchor="t">
            <a:spAutoFit/>
          </a:bodyPr>
          <a:lstStyle/>
          <a:p>
            <a:pPr>
              <a:lnSpc>
                <a:spcPct val="106000"/>
              </a:lnSpc>
              <a:spcBef>
                <a:spcPts val="0"/>
              </a:spcBef>
              <a:spcAft>
                <a:spcPts val="500"/>
              </a:spcAft>
            </a:pPr>
            <a:r>
              <a:rPr sz="1700" b="1">
                <a:solidFill>
                  <a:srgbClr val="20243A"/>
                </a:solidFill>
                <a:latin typeface="Segoe UI"/>
              </a:rPr>
              <a:t>v3  /  pairDevice</a:t>
            </a:r>
          </a:p>
        </p:txBody>
      </p:sp>
      <p:sp>
        <p:nvSpPr>
          <p:cNvPr id="23" name="TextBox 22"/>
          <p:cNvSpPr txBox="1"/>
          <p:nvPr/>
        </p:nvSpPr>
        <p:spPr>
          <a:xfrm>
            <a:off x="8357616" y="3172968"/>
            <a:ext cx="3063240" cy="329184"/>
          </a:xfrm>
          <a:prstGeom prst="rect">
            <a:avLst/>
          </a:prstGeom>
          <a:noFill/>
        </p:spPr>
        <p:txBody>
          <a:bodyPr wrap="square" lIns="9144" rIns="9144" tIns="22860" bIns="22860" anchor="t">
            <a:spAutoFit/>
          </a:bodyPr>
          <a:lstStyle/>
          <a:p>
            <a:pPr>
              <a:lnSpc>
                <a:spcPct val="106000"/>
              </a:lnSpc>
              <a:spcBef>
                <a:spcPts val="0"/>
              </a:spcBef>
              <a:spcAft>
                <a:spcPts val="500"/>
              </a:spcAft>
            </a:pPr>
            <a:r>
              <a:rPr sz="1500" b="1">
                <a:solidFill>
                  <a:srgbClr val="087A60"/>
                </a:solidFill>
                <a:latin typeface="Consolas"/>
              </a:rPr>
              <a:t>await policyCheck(device);</a:t>
            </a:r>
          </a:p>
        </p:txBody>
      </p:sp>
      <p:sp>
        <p:nvSpPr>
          <p:cNvPr id="24" name="TextBox 23"/>
          <p:cNvSpPr txBox="1"/>
          <p:nvPr/>
        </p:nvSpPr>
        <p:spPr>
          <a:xfrm>
            <a:off x="8357616" y="3666744"/>
            <a:ext cx="3063240" cy="256032"/>
          </a:xfrm>
          <a:prstGeom prst="rect">
            <a:avLst/>
          </a:prstGeom>
          <a:noFill/>
        </p:spPr>
        <p:txBody>
          <a:bodyPr wrap="square" lIns="9144" rIns="9144" tIns="22860" bIns="22860" anchor="t">
            <a:spAutoFit/>
          </a:bodyPr>
          <a:lstStyle/>
          <a:p>
            <a:pPr>
              <a:lnSpc>
                <a:spcPct val="106000"/>
              </a:lnSpc>
              <a:spcBef>
                <a:spcPts val="0"/>
              </a:spcBef>
              <a:spcAft>
                <a:spcPts val="500"/>
              </a:spcAft>
            </a:pPr>
            <a:r>
              <a:rPr sz="1100" b="1">
                <a:solidFill>
                  <a:srgbClr val="087A60"/>
                </a:solidFill>
                <a:latin typeface="Segoe UI"/>
              </a:rPr>
              <a:t>HOLDS</a:t>
            </a:r>
          </a:p>
        </p:txBody>
      </p:sp>
      <p:sp>
        <p:nvSpPr>
          <p:cNvPr id="25" name="Rounded Rectangle 24"/>
          <p:cNvSpPr/>
          <p:nvPr/>
        </p:nvSpPr>
        <p:spPr>
          <a:xfrm>
            <a:off x="594360" y="4480560"/>
            <a:ext cx="5285232" cy="1481328"/>
          </a:xfrm>
          <a:prstGeom prst="roundRect">
            <a:avLst>
              <a:gd name="adj" fmla="val 12000"/>
            </a:avLst>
          </a:prstGeom>
          <a:solidFill>
            <a:srgbClr val="FFFFFF"/>
          </a:solidFill>
          <a:ln w="10160">
            <a:solidFill>
              <a:srgbClr val="DF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2" y="4690872"/>
            <a:ext cx="4846320" cy="347472"/>
          </a:xfrm>
          <a:prstGeom prst="rect">
            <a:avLst/>
          </a:prstGeom>
          <a:noFill/>
        </p:spPr>
        <p:txBody>
          <a:bodyPr wrap="square" lIns="9144" rIns="9144" tIns="22860" bIns="22860" anchor="t">
            <a:spAutoFit/>
          </a:bodyPr>
          <a:lstStyle/>
          <a:p>
            <a:pPr>
              <a:lnSpc>
                <a:spcPct val="106000"/>
              </a:lnSpc>
              <a:spcBef>
                <a:spcPts val="0"/>
              </a:spcBef>
              <a:spcAft>
                <a:spcPts val="500"/>
              </a:spcAft>
            </a:pPr>
            <a:r>
              <a:rPr sz="2000" b="1">
                <a:solidFill>
                  <a:srgbClr val="6547D8"/>
                </a:solidFill>
                <a:latin typeface="Segoe UI"/>
              </a:rPr>
              <a:t>How links are proposed</a:t>
            </a:r>
          </a:p>
        </p:txBody>
      </p:sp>
      <p:sp>
        <p:nvSpPr>
          <p:cNvPr id="27" name="TextBox 26"/>
          <p:cNvSpPr txBox="1"/>
          <p:nvPr/>
        </p:nvSpPr>
        <p:spPr>
          <a:xfrm>
            <a:off x="804672" y="5184648"/>
            <a:ext cx="4818888" cy="566928"/>
          </a:xfrm>
          <a:prstGeom prst="rect">
            <a:avLst/>
          </a:prstGeom>
          <a:noFill/>
        </p:spPr>
        <p:txBody>
          <a:bodyPr wrap="square" lIns="9144" rIns="9144" tIns="22860" bIns="22860" anchor="t">
            <a:spAutoFit/>
          </a:bodyPr>
          <a:lstStyle/>
          <a:p>
            <a:pPr>
              <a:lnSpc>
                <a:spcPct val="106000"/>
              </a:lnSpc>
              <a:spcBef>
                <a:spcPts val="0"/>
              </a:spcBef>
              <a:spcAft>
                <a:spcPts val="500"/>
              </a:spcAft>
            </a:pPr>
            <a:r>
              <a:rPr sz="1500" b="0">
                <a:solidFill>
                  <a:srgbClr val="646B80"/>
                </a:solidFill>
                <a:latin typeface="Segoe UI"/>
              </a:rPr>
              <a:t>Same-file identity first; unmatched functions use normalized AST structure and call-target overlap.</a:t>
            </a:r>
          </a:p>
        </p:txBody>
      </p:sp>
      <p:sp>
        <p:nvSpPr>
          <p:cNvPr id="28" name="Rounded Rectangle 27"/>
          <p:cNvSpPr/>
          <p:nvPr/>
        </p:nvSpPr>
        <p:spPr>
          <a:xfrm>
            <a:off x="6208776" y="4480560"/>
            <a:ext cx="5330952" cy="1481328"/>
          </a:xfrm>
          <a:prstGeom prst="roundRect">
            <a:avLst>
              <a:gd name="adj" fmla="val 12000"/>
            </a:avLst>
          </a:prstGeom>
          <a:solidFill>
            <a:srgbClr val="FFFFFF"/>
          </a:solidFill>
          <a:ln w="10160">
            <a:solidFill>
              <a:srgbClr val="DF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19088" y="4690872"/>
            <a:ext cx="4873752" cy="347472"/>
          </a:xfrm>
          <a:prstGeom prst="rect">
            <a:avLst/>
          </a:prstGeom>
          <a:noFill/>
        </p:spPr>
        <p:txBody>
          <a:bodyPr wrap="square" lIns="9144" rIns="9144" tIns="22860" bIns="22860" anchor="t">
            <a:spAutoFit/>
          </a:bodyPr>
          <a:lstStyle/>
          <a:p>
            <a:pPr>
              <a:lnSpc>
                <a:spcPct val="106000"/>
              </a:lnSpc>
              <a:spcBef>
                <a:spcPts val="0"/>
              </a:spcBef>
              <a:spcAft>
                <a:spcPts val="500"/>
              </a:spcAft>
            </a:pPr>
            <a:r>
              <a:rPr sz="2000" b="1">
                <a:solidFill>
                  <a:srgbClr val="AE5427"/>
                </a:solidFill>
                <a:latin typeface="Segoe UI"/>
              </a:rPr>
              <a:t>When we refuse a link</a:t>
            </a:r>
          </a:p>
        </p:txBody>
      </p:sp>
      <p:sp>
        <p:nvSpPr>
          <p:cNvPr id="30" name="TextBox 29"/>
          <p:cNvSpPr txBox="1"/>
          <p:nvPr/>
        </p:nvSpPr>
        <p:spPr>
          <a:xfrm>
            <a:off x="6419088" y="5184648"/>
            <a:ext cx="4855464" cy="566928"/>
          </a:xfrm>
          <a:prstGeom prst="rect">
            <a:avLst/>
          </a:prstGeom>
          <a:noFill/>
        </p:spPr>
        <p:txBody>
          <a:bodyPr wrap="square" lIns="9144" rIns="9144" tIns="22860" bIns="22860" anchor="t">
            <a:spAutoFit/>
          </a:bodyPr>
          <a:lstStyle/>
          <a:p>
            <a:pPr>
              <a:lnSpc>
                <a:spcPct val="106000"/>
              </a:lnSpc>
              <a:spcBef>
                <a:spcPts val="0"/>
              </a:spcBef>
              <a:spcAft>
                <a:spcPts val="500"/>
              </a:spcAft>
            </a:pPr>
            <a:r>
              <a:rPr sz="1500" b="0">
                <a:solidFill>
                  <a:srgbClr val="646B80"/>
                </a:solidFill>
                <a:latin typeface="Segoe UI"/>
              </a:rPr>
              <a:t>Competing matches, copies, deletion gaps, and major refactors remain unresolved rather than guessed.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9FD"/>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502920" y="393192"/>
            <a:ext cx="100584" cy="210312"/>
          </a:xfrm>
          <a:prstGeom prst="rect">
            <a:avLst/>
          </a:prstGeom>
          <a:solidFill>
            <a:srgbClr val="6547D8"/>
          </a:solidFill>
          <a:ln w="10160">
            <a:solidFill>
              <a:srgbClr val="6547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65760"/>
            <a:ext cx="1920240" cy="274320"/>
          </a:xfrm>
          <a:prstGeom prst="rect">
            <a:avLst/>
          </a:prstGeom>
          <a:noFill/>
        </p:spPr>
        <p:txBody>
          <a:bodyPr wrap="square" lIns="9144" rIns="9144" tIns="22860" bIns="22860" anchor="t">
            <a:spAutoFit/>
          </a:bodyPr>
          <a:lstStyle/>
          <a:p>
            <a:pPr>
              <a:lnSpc>
                <a:spcPct val="106000"/>
              </a:lnSpc>
              <a:spcBef>
                <a:spcPts val="0"/>
              </a:spcBef>
              <a:spcAft>
                <a:spcPts val="500"/>
              </a:spcAft>
            </a:pPr>
            <a:r>
              <a:rPr sz="1100" b="1">
                <a:solidFill>
                  <a:srgbClr val="6547D8"/>
                </a:solidFill>
                <a:latin typeface="Segoe UI"/>
              </a:rPr>
              <a:t>CODESTRATA</a:t>
            </a:r>
          </a:p>
        </p:txBody>
      </p:sp>
      <p:sp>
        <p:nvSpPr>
          <p:cNvPr id="5" name="TextBox 4"/>
          <p:cNvSpPr txBox="1"/>
          <p:nvPr/>
        </p:nvSpPr>
        <p:spPr>
          <a:xfrm>
            <a:off x="3657600" y="374904"/>
            <a:ext cx="8001000" cy="292608"/>
          </a:xfrm>
          <a:prstGeom prst="rect">
            <a:avLst/>
          </a:prstGeom>
          <a:noFill/>
        </p:spPr>
        <p:txBody>
          <a:bodyPr wrap="square" lIns="9144" rIns="9144" tIns="22860" bIns="22860" anchor="t">
            <a:spAutoFit/>
          </a:bodyPr>
          <a:lstStyle/>
          <a:p>
            <a:pPr algn="r">
              <a:lnSpc>
                <a:spcPct val="106000"/>
              </a:lnSpc>
              <a:spcBef>
                <a:spcPts val="0"/>
              </a:spcBef>
              <a:spcAft>
                <a:spcPts val="500"/>
              </a:spcAft>
            </a:pPr>
            <a:r>
              <a:rPr sz="1000" b="0">
                <a:solidFill>
                  <a:srgbClr val="646B80"/>
                </a:solidFill>
                <a:latin typeface="Segoe UI"/>
              </a:rPr>
              <a:t>DIFFERENTIATOR • BEHAVIOR WATCH</a:t>
            </a:r>
          </a:p>
        </p:txBody>
      </p:sp>
      <p:sp>
        <p:nvSpPr>
          <p:cNvPr id="6" name="TextBox 5"/>
          <p:cNvSpPr txBox="1"/>
          <p:nvPr/>
        </p:nvSpPr>
        <p:spPr>
          <a:xfrm>
            <a:off x="502920" y="896112"/>
            <a:ext cx="11109960" cy="868680"/>
          </a:xfrm>
          <a:prstGeom prst="rect">
            <a:avLst/>
          </a:prstGeom>
          <a:noFill/>
        </p:spPr>
        <p:txBody>
          <a:bodyPr wrap="square" lIns="9144" rIns="9144" tIns="22860" bIns="22860" anchor="t">
            <a:spAutoFit/>
          </a:bodyPr>
          <a:lstStyle/>
          <a:p>
            <a:pPr>
              <a:lnSpc>
                <a:spcPct val="106000"/>
              </a:lnSpc>
              <a:spcBef>
                <a:spcPts val="0"/>
              </a:spcBef>
              <a:spcAft>
                <a:spcPts val="500"/>
              </a:spcAft>
            </a:pPr>
            <a:r>
              <a:rPr sz="3400" b="1">
                <a:solidFill>
                  <a:srgbClr val="20243A"/>
                </a:solidFill>
                <a:latin typeface="Segoe UI"/>
              </a:rPr>
              <a:t>A saved rule tells a longer story.</a:t>
            </a:r>
          </a:p>
        </p:txBody>
      </p:sp>
      <p:sp>
        <p:nvSpPr>
          <p:cNvPr id="7" name="TextBox 6"/>
          <p:cNvSpPr txBox="1"/>
          <p:nvPr/>
        </p:nvSpPr>
        <p:spPr>
          <a:xfrm>
            <a:off x="530352" y="1746504"/>
            <a:ext cx="10972800" cy="411480"/>
          </a:xfrm>
          <a:prstGeom prst="rect">
            <a:avLst/>
          </a:prstGeom>
          <a:noFill/>
        </p:spPr>
        <p:txBody>
          <a:bodyPr wrap="square" lIns="9144" rIns="9144" tIns="22860" bIns="22860" anchor="t">
            <a:spAutoFit/>
          </a:bodyPr>
          <a:lstStyle/>
          <a:p>
            <a:pPr>
              <a:lnSpc>
                <a:spcPct val="106000"/>
              </a:lnSpc>
              <a:spcBef>
                <a:spcPts val="0"/>
              </a:spcBef>
              <a:spcAft>
                <a:spcPts val="500"/>
              </a:spcAft>
            </a:pPr>
            <a:r>
              <a:rPr sz="1500" b="0">
                <a:solidFill>
                  <a:srgbClr val="646B80"/>
                </a:solidFill>
                <a:latin typeface="Segoe UI"/>
              </a:rPr>
              <a:t>The same static question is checked across linked snapshots, with gaps kept visible.</a:t>
            </a:r>
          </a:p>
        </p:txBody>
      </p:sp>
      <p:cxnSp>
        <p:nvCxnSpPr>
          <p:cNvPr id="8" name="Connector 7"/>
          <p:cNvCxnSpPr/>
          <p:nvPr/>
        </p:nvCxnSpPr>
        <p:spPr>
          <a:xfrm>
            <a:off x="502920" y="6428232"/>
            <a:ext cx="11183112" cy="0"/>
          </a:xfrm>
          <a:prstGeom prst="line">
            <a:avLst/>
          </a:prstGeom>
          <a:ln w="10160">
            <a:solidFill>
              <a:srgbClr val="DFE3EF"/>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519672"/>
            <a:ext cx="8961120" cy="201168"/>
          </a:xfrm>
          <a:prstGeom prst="rect">
            <a:avLst/>
          </a:prstGeom>
          <a:noFill/>
        </p:spPr>
        <p:txBody>
          <a:bodyPr wrap="square" lIns="9144" rIns="9144" tIns="22860" bIns="22860" anchor="t">
            <a:spAutoFit/>
          </a:bodyPr>
          <a:lstStyle/>
          <a:p>
            <a:pPr>
              <a:lnSpc>
                <a:spcPct val="106000"/>
              </a:lnSpc>
              <a:spcBef>
                <a:spcPts val="0"/>
              </a:spcBef>
              <a:spcAft>
                <a:spcPts val="500"/>
              </a:spcAft>
            </a:pPr>
            <a:r>
              <a:rPr sz="900" b="0">
                <a:solidFill>
                  <a:srgbClr val="646B80"/>
                </a:solidFill>
                <a:latin typeface="Segoe UI"/>
              </a:rPr>
              <a:t>CODESTRATA  /  AGENTIC CODE INTELLIGENCE</a:t>
            </a:r>
          </a:p>
        </p:txBody>
      </p:sp>
      <p:sp>
        <p:nvSpPr>
          <p:cNvPr id="10" name="TextBox 9"/>
          <p:cNvSpPr txBox="1"/>
          <p:nvPr/>
        </p:nvSpPr>
        <p:spPr>
          <a:xfrm>
            <a:off x="10698480" y="6492240"/>
            <a:ext cx="987552" cy="228600"/>
          </a:xfrm>
          <a:prstGeom prst="rect">
            <a:avLst/>
          </a:prstGeom>
          <a:noFill/>
        </p:spPr>
        <p:txBody>
          <a:bodyPr wrap="square" lIns="9144" rIns="9144" tIns="22860" bIns="22860" anchor="t">
            <a:spAutoFit/>
          </a:bodyPr>
          <a:lstStyle/>
          <a:p>
            <a:r>
              <a:rPr sz="1000" b="1">
                <a:solidFill>
                  <a:srgbClr val="6547D8"/>
                </a:solidFill>
                <a:latin typeface="Segoe UI"/>
              </a:rPr>
              <a:t>12 / 18</a:t>
            </a:r>
          </a:p>
        </p:txBody>
      </p:sp>
      <p:sp>
        <p:nvSpPr>
          <p:cNvPr id="11" name="Rounded Rectangle 10"/>
          <p:cNvSpPr/>
          <p:nvPr/>
        </p:nvSpPr>
        <p:spPr>
          <a:xfrm>
            <a:off x="594360" y="2432304"/>
            <a:ext cx="3438144" cy="2011680"/>
          </a:xfrm>
          <a:prstGeom prst="roundRect">
            <a:avLst>
              <a:gd name="adj" fmla="val 12000"/>
            </a:avLst>
          </a:prstGeom>
          <a:solidFill>
            <a:srgbClr val="E9F7F1"/>
          </a:solidFill>
          <a:ln w="10160">
            <a:solidFill>
              <a:srgbClr val="E9F7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 y="2670048"/>
            <a:ext cx="3063240" cy="310896"/>
          </a:xfrm>
          <a:prstGeom prst="rect">
            <a:avLst/>
          </a:prstGeom>
          <a:noFill/>
        </p:spPr>
        <p:txBody>
          <a:bodyPr wrap="square" lIns="9144" rIns="9144" tIns="22860" bIns="22860" anchor="t">
            <a:spAutoFit/>
          </a:bodyPr>
          <a:lstStyle/>
          <a:p>
            <a:pPr>
              <a:lnSpc>
                <a:spcPct val="106000"/>
              </a:lnSpc>
              <a:spcBef>
                <a:spcPts val="0"/>
              </a:spcBef>
              <a:spcAft>
                <a:spcPts val="500"/>
              </a:spcAft>
            </a:pPr>
            <a:r>
              <a:rPr sz="1500" b="1">
                <a:solidFill>
                  <a:srgbClr val="087A60"/>
                </a:solidFill>
                <a:latin typeface="Segoe UI"/>
              </a:rPr>
              <a:t>v1</a:t>
            </a:r>
          </a:p>
        </p:txBody>
      </p:sp>
      <p:sp>
        <p:nvSpPr>
          <p:cNvPr id="13" name="TextBox 12"/>
          <p:cNvSpPr txBox="1"/>
          <p:nvPr/>
        </p:nvSpPr>
        <p:spPr>
          <a:xfrm>
            <a:off x="786384" y="3136392"/>
            <a:ext cx="3063240" cy="438912"/>
          </a:xfrm>
          <a:prstGeom prst="rect">
            <a:avLst/>
          </a:prstGeom>
          <a:noFill/>
        </p:spPr>
        <p:txBody>
          <a:bodyPr wrap="square" lIns="9144" rIns="9144" tIns="22860" bIns="22860" anchor="t">
            <a:spAutoFit/>
          </a:bodyPr>
          <a:lstStyle/>
          <a:p>
            <a:pPr>
              <a:lnSpc>
                <a:spcPct val="106000"/>
              </a:lnSpc>
              <a:spcBef>
                <a:spcPts val="0"/>
              </a:spcBef>
              <a:spcAft>
                <a:spcPts val="500"/>
              </a:spcAft>
            </a:pPr>
            <a:r>
              <a:rPr sz="2600" b="1">
                <a:solidFill>
                  <a:srgbClr val="20243A"/>
                </a:solidFill>
                <a:latin typeface="Segoe UI"/>
              </a:rPr>
              <a:t>HOLDS</a:t>
            </a:r>
          </a:p>
        </p:txBody>
      </p:sp>
      <p:sp>
        <p:nvSpPr>
          <p:cNvPr id="14" name="TextBox 13"/>
          <p:cNvSpPr txBox="1"/>
          <p:nvPr/>
        </p:nvSpPr>
        <p:spPr>
          <a:xfrm>
            <a:off x="786384" y="3767328"/>
            <a:ext cx="3063240" cy="438912"/>
          </a:xfrm>
          <a:prstGeom prst="rect">
            <a:avLst/>
          </a:prstGeom>
          <a:noFill/>
        </p:spPr>
        <p:txBody>
          <a:bodyPr wrap="square" lIns="9144" rIns="9144" tIns="22860" bIns="22860" anchor="t">
            <a:spAutoFit/>
          </a:bodyPr>
          <a:lstStyle/>
          <a:p>
            <a:pPr>
              <a:lnSpc>
                <a:spcPct val="106000"/>
              </a:lnSpc>
              <a:spcBef>
                <a:spcPts val="0"/>
              </a:spcBef>
              <a:spcAft>
                <a:spcPts val="500"/>
              </a:spcAft>
            </a:pPr>
            <a:r>
              <a:rPr sz="1400" b="0">
                <a:solidFill>
                  <a:srgbClr val="646B80"/>
                </a:solidFill>
                <a:latin typeface="Segoe UI"/>
              </a:rPr>
              <a:t>The direct await is present in the source.</a:t>
            </a:r>
          </a:p>
        </p:txBody>
      </p:sp>
      <p:sp>
        <p:nvSpPr>
          <p:cNvPr id="15" name="Rounded Rectangle 14"/>
          <p:cNvSpPr/>
          <p:nvPr/>
        </p:nvSpPr>
        <p:spPr>
          <a:xfrm>
            <a:off x="4370832" y="2432304"/>
            <a:ext cx="3438144" cy="2011680"/>
          </a:xfrm>
          <a:prstGeom prst="roundRect">
            <a:avLst>
              <a:gd name="adj" fmla="val 12000"/>
            </a:avLst>
          </a:prstGeom>
          <a:solidFill>
            <a:srgbClr val="FFF0E5"/>
          </a:solidFill>
          <a:ln w="10160">
            <a:solidFill>
              <a:srgbClr val="FFF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2856" y="2670048"/>
            <a:ext cx="3063240" cy="310896"/>
          </a:xfrm>
          <a:prstGeom prst="rect">
            <a:avLst/>
          </a:prstGeom>
          <a:noFill/>
        </p:spPr>
        <p:txBody>
          <a:bodyPr wrap="square" lIns="9144" rIns="9144" tIns="22860" bIns="22860" anchor="t">
            <a:spAutoFit/>
          </a:bodyPr>
          <a:lstStyle/>
          <a:p>
            <a:pPr>
              <a:lnSpc>
                <a:spcPct val="106000"/>
              </a:lnSpc>
              <a:spcBef>
                <a:spcPts val="0"/>
              </a:spcBef>
              <a:spcAft>
                <a:spcPts val="500"/>
              </a:spcAft>
            </a:pPr>
            <a:r>
              <a:rPr sz="1500" b="1">
                <a:solidFill>
                  <a:srgbClr val="AE5427"/>
                </a:solidFill>
                <a:latin typeface="Segoe UI"/>
              </a:rPr>
              <a:t>v2</a:t>
            </a:r>
          </a:p>
        </p:txBody>
      </p:sp>
      <p:sp>
        <p:nvSpPr>
          <p:cNvPr id="17" name="TextBox 16"/>
          <p:cNvSpPr txBox="1"/>
          <p:nvPr/>
        </p:nvSpPr>
        <p:spPr>
          <a:xfrm>
            <a:off x="4562856" y="3136392"/>
            <a:ext cx="3063240" cy="438912"/>
          </a:xfrm>
          <a:prstGeom prst="rect">
            <a:avLst/>
          </a:prstGeom>
          <a:noFill/>
        </p:spPr>
        <p:txBody>
          <a:bodyPr wrap="square" lIns="9144" rIns="9144" tIns="22860" bIns="22860" anchor="t">
            <a:spAutoFit/>
          </a:bodyPr>
          <a:lstStyle/>
          <a:p>
            <a:pPr>
              <a:lnSpc>
                <a:spcPct val="106000"/>
              </a:lnSpc>
              <a:spcBef>
                <a:spcPts val="0"/>
              </a:spcBef>
              <a:spcAft>
                <a:spcPts val="500"/>
              </a:spcAft>
            </a:pPr>
            <a:r>
              <a:rPr sz="2600" b="1">
                <a:solidFill>
                  <a:srgbClr val="20243A"/>
                </a:solidFill>
                <a:latin typeface="Segoe UI"/>
              </a:rPr>
              <a:t>BROKEN</a:t>
            </a:r>
          </a:p>
        </p:txBody>
      </p:sp>
      <p:sp>
        <p:nvSpPr>
          <p:cNvPr id="18" name="TextBox 17"/>
          <p:cNvSpPr txBox="1"/>
          <p:nvPr/>
        </p:nvSpPr>
        <p:spPr>
          <a:xfrm>
            <a:off x="4562856" y="3767328"/>
            <a:ext cx="3063240" cy="438912"/>
          </a:xfrm>
          <a:prstGeom prst="rect">
            <a:avLst/>
          </a:prstGeom>
          <a:noFill/>
        </p:spPr>
        <p:txBody>
          <a:bodyPr wrap="square" lIns="9144" rIns="9144" tIns="22860" bIns="22860" anchor="t">
            <a:spAutoFit/>
          </a:bodyPr>
          <a:lstStyle/>
          <a:p>
            <a:pPr>
              <a:lnSpc>
                <a:spcPct val="106000"/>
              </a:lnSpc>
              <a:spcBef>
                <a:spcPts val="0"/>
              </a:spcBef>
              <a:spcAft>
                <a:spcPts val="500"/>
              </a:spcAft>
            </a:pPr>
            <a:r>
              <a:rPr sz="1400" b="0">
                <a:solidFill>
                  <a:srgbClr val="646B80"/>
                </a:solidFill>
                <a:latin typeface="Segoe UI"/>
              </a:rPr>
              <a:t>The pinned static rule is contradicted.</a:t>
            </a:r>
          </a:p>
        </p:txBody>
      </p:sp>
      <p:sp>
        <p:nvSpPr>
          <p:cNvPr id="19" name="Rounded Rectangle 18"/>
          <p:cNvSpPr/>
          <p:nvPr/>
        </p:nvSpPr>
        <p:spPr>
          <a:xfrm>
            <a:off x="8147304" y="2432304"/>
            <a:ext cx="3438144" cy="2011680"/>
          </a:xfrm>
          <a:prstGeom prst="roundRect">
            <a:avLst>
              <a:gd name="adj" fmla="val 12000"/>
            </a:avLst>
          </a:prstGeom>
          <a:solidFill>
            <a:srgbClr val="E9F7F1"/>
          </a:solidFill>
          <a:ln w="10160">
            <a:solidFill>
              <a:srgbClr val="E9F7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39328" y="2670048"/>
            <a:ext cx="3063240" cy="310896"/>
          </a:xfrm>
          <a:prstGeom prst="rect">
            <a:avLst/>
          </a:prstGeom>
          <a:noFill/>
        </p:spPr>
        <p:txBody>
          <a:bodyPr wrap="square" lIns="9144" rIns="9144" tIns="22860" bIns="22860" anchor="t">
            <a:spAutoFit/>
          </a:bodyPr>
          <a:lstStyle/>
          <a:p>
            <a:pPr>
              <a:lnSpc>
                <a:spcPct val="106000"/>
              </a:lnSpc>
              <a:spcBef>
                <a:spcPts val="0"/>
              </a:spcBef>
              <a:spcAft>
                <a:spcPts val="500"/>
              </a:spcAft>
            </a:pPr>
            <a:r>
              <a:rPr sz="1500" b="1">
                <a:solidFill>
                  <a:srgbClr val="087A60"/>
                </a:solidFill>
                <a:latin typeface="Segoe UI"/>
              </a:rPr>
              <a:t>v3</a:t>
            </a:r>
          </a:p>
        </p:txBody>
      </p:sp>
      <p:sp>
        <p:nvSpPr>
          <p:cNvPr id="21" name="TextBox 20"/>
          <p:cNvSpPr txBox="1"/>
          <p:nvPr/>
        </p:nvSpPr>
        <p:spPr>
          <a:xfrm>
            <a:off x="8339328" y="3136392"/>
            <a:ext cx="3063240" cy="438912"/>
          </a:xfrm>
          <a:prstGeom prst="rect">
            <a:avLst/>
          </a:prstGeom>
          <a:noFill/>
        </p:spPr>
        <p:txBody>
          <a:bodyPr wrap="square" lIns="9144" rIns="9144" tIns="22860" bIns="22860" anchor="t">
            <a:spAutoFit/>
          </a:bodyPr>
          <a:lstStyle/>
          <a:p>
            <a:pPr>
              <a:lnSpc>
                <a:spcPct val="106000"/>
              </a:lnSpc>
              <a:spcBef>
                <a:spcPts val="0"/>
              </a:spcBef>
              <a:spcAft>
                <a:spcPts val="500"/>
              </a:spcAft>
            </a:pPr>
            <a:r>
              <a:rPr sz="2600" b="1">
                <a:solidFill>
                  <a:srgbClr val="20243A"/>
                </a:solidFill>
                <a:latin typeface="Segoe UI"/>
              </a:rPr>
              <a:t>HOLDS</a:t>
            </a:r>
          </a:p>
        </p:txBody>
      </p:sp>
      <p:sp>
        <p:nvSpPr>
          <p:cNvPr id="22" name="TextBox 21"/>
          <p:cNvSpPr txBox="1"/>
          <p:nvPr/>
        </p:nvSpPr>
        <p:spPr>
          <a:xfrm>
            <a:off x="8339328" y="3767328"/>
            <a:ext cx="3063240" cy="438912"/>
          </a:xfrm>
          <a:prstGeom prst="rect">
            <a:avLst/>
          </a:prstGeom>
          <a:noFill/>
        </p:spPr>
        <p:txBody>
          <a:bodyPr wrap="square" lIns="9144" rIns="9144" tIns="22860" bIns="22860" anchor="t">
            <a:spAutoFit/>
          </a:bodyPr>
          <a:lstStyle/>
          <a:p>
            <a:pPr>
              <a:lnSpc>
                <a:spcPct val="106000"/>
              </a:lnSpc>
              <a:spcBef>
                <a:spcPts val="0"/>
              </a:spcBef>
              <a:spcAft>
                <a:spcPts val="500"/>
              </a:spcAft>
            </a:pPr>
            <a:r>
              <a:rPr sz="1400" b="0">
                <a:solidFill>
                  <a:srgbClr val="646B80"/>
                </a:solidFill>
                <a:latin typeface="Segoe UI"/>
              </a:rPr>
              <a:t>The direct await is present again.</a:t>
            </a:r>
          </a:p>
        </p:txBody>
      </p:sp>
      <p:sp>
        <p:nvSpPr>
          <p:cNvPr id="23" name="Rounded Rectangle 22"/>
          <p:cNvSpPr/>
          <p:nvPr/>
        </p:nvSpPr>
        <p:spPr>
          <a:xfrm>
            <a:off x="594360" y="4745736"/>
            <a:ext cx="11000232" cy="1243584"/>
          </a:xfrm>
          <a:prstGeom prst="roundRect">
            <a:avLst>
              <a:gd name="adj" fmla="val 12000"/>
            </a:avLst>
          </a:prstGeom>
          <a:solidFill>
            <a:srgbClr val="FFFFFF"/>
          </a:solidFill>
          <a:ln w="10160">
            <a:solidFill>
              <a:srgbClr val="DF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0392" y="4965192"/>
            <a:ext cx="10515600" cy="393192"/>
          </a:xfrm>
          <a:prstGeom prst="rect">
            <a:avLst/>
          </a:prstGeom>
          <a:noFill/>
        </p:spPr>
        <p:txBody>
          <a:bodyPr wrap="square" lIns="9144" rIns="9144" tIns="22860" bIns="22860" anchor="t">
            <a:spAutoFit/>
          </a:bodyPr>
          <a:lstStyle/>
          <a:p>
            <a:pPr>
              <a:lnSpc>
                <a:spcPct val="106000"/>
              </a:lnSpc>
              <a:spcBef>
                <a:spcPts val="0"/>
              </a:spcBef>
              <a:spcAft>
                <a:spcPts val="500"/>
              </a:spcAft>
            </a:pPr>
            <a:r>
              <a:rPr sz="2200" b="1">
                <a:solidFill>
                  <a:srgbClr val="6547D8"/>
                </a:solidFill>
                <a:latin typeface="Segoe UI"/>
              </a:rPr>
              <a:t>Unknown and unlinked are first-class outcomes.</a:t>
            </a:r>
          </a:p>
        </p:txBody>
      </p:sp>
      <p:sp>
        <p:nvSpPr>
          <p:cNvPr id="25" name="TextBox 24"/>
          <p:cNvSpPr txBox="1"/>
          <p:nvPr/>
        </p:nvSpPr>
        <p:spPr>
          <a:xfrm>
            <a:off x="850392" y="5477256"/>
            <a:ext cx="10369296" cy="475488"/>
          </a:xfrm>
          <a:prstGeom prst="rect">
            <a:avLst/>
          </a:prstGeom>
          <a:noFill/>
        </p:spPr>
        <p:txBody>
          <a:bodyPr wrap="square" lIns="9144" rIns="9144" tIns="22860" bIns="22860" anchor="t">
            <a:spAutoFit/>
          </a:bodyPr>
          <a:lstStyle/>
          <a:p>
            <a:pPr>
              <a:lnSpc>
                <a:spcPct val="106000"/>
              </a:lnSpc>
              <a:spcBef>
                <a:spcPts val="0"/>
              </a:spcBef>
              <a:spcAft>
                <a:spcPts val="500"/>
              </a:spcAft>
            </a:pPr>
            <a:r>
              <a:rPr sz="1400" b="0">
                <a:solidFill>
                  <a:srgbClr val="646B80"/>
                </a:solidFill>
                <a:latin typeface="Segoe UI"/>
              </a:rPr>
              <a:t>Ambiguous gaps stay unresolved. Recheck on demand and export the source-backed report.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9FD"/>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502920" y="393192"/>
            <a:ext cx="100584" cy="210312"/>
          </a:xfrm>
          <a:prstGeom prst="rect">
            <a:avLst/>
          </a:prstGeom>
          <a:solidFill>
            <a:srgbClr val="6547D8"/>
          </a:solidFill>
          <a:ln w="10160">
            <a:solidFill>
              <a:srgbClr val="6547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65760"/>
            <a:ext cx="1920240" cy="274320"/>
          </a:xfrm>
          <a:prstGeom prst="rect">
            <a:avLst/>
          </a:prstGeom>
          <a:noFill/>
        </p:spPr>
        <p:txBody>
          <a:bodyPr wrap="square" lIns="9144" rIns="9144" tIns="22860" bIns="22860" anchor="t">
            <a:spAutoFit/>
          </a:bodyPr>
          <a:lstStyle/>
          <a:p>
            <a:pPr>
              <a:lnSpc>
                <a:spcPct val="106000"/>
              </a:lnSpc>
              <a:spcBef>
                <a:spcPts val="0"/>
              </a:spcBef>
              <a:spcAft>
                <a:spcPts val="500"/>
              </a:spcAft>
            </a:pPr>
            <a:r>
              <a:rPr sz="1100" b="1">
                <a:solidFill>
                  <a:srgbClr val="6547D8"/>
                </a:solidFill>
                <a:latin typeface="Segoe UI"/>
              </a:rPr>
              <a:t>CODESTRATA</a:t>
            </a:r>
          </a:p>
        </p:txBody>
      </p:sp>
      <p:sp>
        <p:nvSpPr>
          <p:cNvPr id="5" name="TextBox 4"/>
          <p:cNvSpPr txBox="1"/>
          <p:nvPr/>
        </p:nvSpPr>
        <p:spPr>
          <a:xfrm>
            <a:off x="3657600" y="374904"/>
            <a:ext cx="8001000" cy="292608"/>
          </a:xfrm>
          <a:prstGeom prst="rect">
            <a:avLst/>
          </a:prstGeom>
          <a:noFill/>
        </p:spPr>
        <p:txBody>
          <a:bodyPr wrap="square" lIns="9144" rIns="9144" tIns="22860" bIns="22860" anchor="t">
            <a:spAutoFit/>
          </a:bodyPr>
          <a:lstStyle/>
          <a:p>
            <a:pPr algn="r">
              <a:lnSpc>
                <a:spcPct val="106000"/>
              </a:lnSpc>
              <a:spcBef>
                <a:spcPts val="0"/>
              </a:spcBef>
              <a:spcAft>
                <a:spcPts val="500"/>
              </a:spcAft>
            </a:pPr>
            <a:r>
              <a:rPr sz="1000" b="0">
                <a:solidFill>
                  <a:srgbClr val="646B80"/>
                </a:solidFill>
                <a:latin typeface="Segoe UI"/>
              </a:rPr>
              <a:t>EVALUATION • WHAT EACH RESULT PROVES</a:t>
            </a:r>
          </a:p>
        </p:txBody>
      </p:sp>
      <p:sp>
        <p:nvSpPr>
          <p:cNvPr id="6" name="TextBox 5"/>
          <p:cNvSpPr txBox="1"/>
          <p:nvPr/>
        </p:nvSpPr>
        <p:spPr>
          <a:xfrm>
            <a:off x="502920" y="896112"/>
            <a:ext cx="11109960" cy="868680"/>
          </a:xfrm>
          <a:prstGeom prst="rect">
            <a:avLst/>
          </a:prstGeom>
          <a:noFill/>
        </p:spPr>
        <p:txBody>
          <a:bodyPr wrap="square" lIns="9144" rIns="9144" tIns="22860" bIns="22860" anchor="t">
            <a:spAutoFit/>
          </a:bodyPr>
          <a:lstStyle/>
          <a:p>
            <a:pPr>
              <a:lnSpc>
                <a:spcPct val="106000"/>
              </a:lnSpc>
              <a:spcBef>
                <a:spcPts val="0"/>
              </a:spcBef>
              <a:spcAft>
                <a:spcPts val="500"/>
              </a:spcAft>
            </a:pPr>
            <a:r>
              <a:rPr sz="3400" b="1">
                <a:solidFill>
                  <a:srgbClr val="20243A"/>
                </a:solidFill>
                <a:latin typeface="Segoe UI"/>
              </a:rPr>
              <a:t>Three tests answer three different questions.</a:t>
            </a:r>
          </a:p>
        </p:txBody>
      </p:sp>
      <p:sp>
        <p:nvSpPr>
          <p:cNvPr id="7" name="TextBox 6"/>
          <p:cNvSpPr txBox="1"/>
          <p:nvPr/>
        </p:nvSpPr>
        <p:spPr>
          <a:xfrm>
            <a:off x="530352" y="1746504"/>
            <a:ext cx="10972800" cy="411480"/>
          </a:xfrm>
          <a:prstGeom prst="rect">
            <a:avLst/>
          </a:prstGeom>
          <a:noFill/>
        </p:spPr>
        <p:txBody>
          <a:bodyPr wrap="square" lIns="9144" rIns="9144" tIns="22860" bIns="22860" anchor="t">
            <a:spAutoFit/>
          </a:bodyPr>
          <a:lstStyle/>
          <a:p>
            <a:pPr>
              <a:lnSpc>
                <a:spcPct val="106000"/>
              </a:lnSpc>
              <a:spcBef>
                <a:spcPts val="0"/>
              </a:spcBef>
              <a:spcAft>
                <a:spcPts val="500"/>
              </a:spcAft>
            </a:pPr>
            <a:r>
              <a:rPr sz="1500" b="0">
                <a:solidFill>
                  <a:srgbClr val="646B80"/>
                </a:solidFill>
                <a:latin typeface="Segoe UI"/>
              </a:rPr>
              <a:t>The strongest claim is specific: inspectable version discrimination in a controlled example.</a:t>
            </a:r>
          </a:p>
        </p:txBody>
      </p:sp>
      <p:cxnSp>
        <p:nvCxnSpPr>
          <p:cNvPr id="8" name="Connector 7"/>
          <p:cNvCxnSpPr/>
          <p:nvPr/>
        </p:nvCxnSpPr>
        <p:spPr>
          <a:xfrm>
            <a:off x="502920" y="6428232"/>
            <a:ext cx="11183112" cy="0"/>
          </a:xfrm>
          <a:prstGeom prst="line">
            <a:avLst/>
          </a:prstGeom>
          <a:ln w="10160">
            <a:solidFill>
              <a:srgbClr val="DFE3EF"/>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519672"/>
            <a:ext cx="8961120" cy="201168"/>
          </a:xfrm>
          <a:prstGeom prst="rect">
            <a:avLst/>
          </a:prstGeom>
          <a:noFill/>
        </p:spPr>
        <p:txBody>
          <a:bodyPr wrap="square" lIns="9144" rIns="9144" tIns="22860" bIns="22860" anchor="t">
            <a:spAutoFit/>
          </a:bodyPr>
          <a:lstStyle/>
          <a:p>
            <a:pPr>
              <a:lnSpc>
                <a:spcPct val="106000"/>
              </a:lnSpc>
              <a:spcBef>
                <a:spcPts val="0"/>
              </a:spcBef>
              <a:spcAft>
                <a:spcPts val="500"/>
              </a:spcAft>
            </a:pPr>
            <a:r>
              <a:rPr sz="900" b="0">
                <a:solidFill>
                  <a:srgbClr val="646B80"/>
                </a:solidFill>
                <a:latin typeface="Segoe UI"/>
              </a:rPr>
              <a:t>CODESTRATA  /  AGENTIC CODE INTELLIGENCE</a:t>
            </a:r>
          </a:p>
        </p:txBody>
      </p:sp>
      <p:sp>
        <p:nvSpPr>
          <p:cNvPr id="10" name="TextBox 9"/>
          <p:cNvSpPr txBox="1"/>
          <p:nvPr/>
        </p:nvSpPr>
        <p:spPr>
          <a:xfrm>
            <a:off x="10698480" y="6492240"/>
            <a:ext cx="987552" cy="228600"/>
          </a:xfrm>
          <a:prstGeom prst="rect">
            <a:avLst/>
          </a:prstGeom>
          <a:noFill/>
        </p:spPr>
        <p:txBody>
          <a:bodyPr wrap="square" lIns="9144" rIns="9144" tIns="22860" bIns="22860" anchor="t">
            <a:spAutoFit/>
          </a:bodyPr>
          <a:lstStyle/>
          <a:p>
            <a:r>
              <a:rPr sz="1000" b="1">
                <a:solidFill>
                  <a:srgbClr val="6547D8"/>
                </a:solidFill>
                <a:latin typeface="Segoe UI"/>
              </a:rPr>
              <a:t>15 / 18</a:t>
            </a:r>
          </a:p>
        </p:txBody>
      </p:sp>
      <p:sp>
        <p:nvSpPr>
          <p:cNvPr id="11" name="Rounded Rectangle 10"/>
          <p:cNvSpPr/>
          <p:nvPr/>
        </p:nvSpPr>
        <p:spPr>
          <a:xfrm>
            <a:off x="585216" y="2340864"/>
            <a:ext cx="11036808" cy="950976"/>
          </a:xfrm>
          <a:prstGeom prst="roundRect">
            <a:avLst>
              <a:gd name="adj" fmla="val 12000"/>
            </a:avLst>
          </a:prstGeom>
          <a:solidFill>
            <a:srgbClr val="EFEAFF"/>
          </a:solidFill>
          <a:ln w="10160">
            <a:solidFill>
              <a:srgbClr val="DF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 y="2523744"/>
            <a:ext cx="2377440" cy="320040"/>
          </a:xfrm>
          <a:prstGeom prst="rect">
            <a:avLst/>
          </a:prstGeom>
          <a:noFill/>
        </p:spPr>
        <p:txBody>
          <a:bodyPr wrap="square" lIns="9144" rIns="9144" tIns="22860" bIns="22860" anchor="t">
            <a:spAutoFit/>
          </a:bodyPr>
          <a:lstStyle/>
          <a:p>
            <a:pPr>
              <a:lnSpc>
                <a:spcPct val="106000"/>
              </a:lnSpc>
              <a:spcBef>
                <a:spcPts val="0"/>
              </a:spcBef>
              <a:spcAft>
                <a:spcPts val="500"/>
              </a:spcAft>
            </a:pPr>
            <a:r>
              <a:rPr sz="1600" b="1">
                <a:solidFill>
                  <a:srgbClr val="6547D8"/>
                </a:solidFill>
                <a:latin typeface="Segoe UI"/>
              </a:rPr>
              <a:t>Controlled history</a:t>
            </a:r>
          </a:p>
        </p:txBody>
      </p:sp>
      <p:sp>
        <p:nvSpPr>
          <p:cNvPr id="13" name="TextBox 12"/>
          <p:cNvSpPr txBox="1"/>
          <p:nvPr/>
        </p:nvSpPr>
        <p:spPr>
          <a:xfrm>
            <a:off x="3090672" y="2514600"/>
            <a:ext cx="2359152" cy="384048"/>
          </a:xfrm>
          <a:prstGeom prst="rect">
            <a:avLst/>
          </a:prstGeom>
          <a:noFill/>
        </p:spPr>
        <p:txBody>
          <a:bodyPr wrap="square" lIns="9144" rIns="9144" tIns="22860" bIns="22860" anchor="t">
            <a:spAutoFit/>
          </a:bodyPr>
          <a:lstStyle/>
          <a:p>
            <a:pPr>
              <a:lnSpc>
                <a:spcPct val="106000"/>
              </a:lnSpc>
              <a:spcBef>
                <a:spcPts val="0"/>
              </a:spcBef>
              <a:spcAft>
                <a:spcPts val="500"/>
              </a:spcAft>
            </a:pPr>
            <a:r>
              <a:rPr sz="1800" b="1">
                <a:solidFill>
                  <a:srgbClr val="20243A"/>
                </a:solidFill>
                <a:latin typeface="Segoe UI"/>
              </a:rPr>
              <a:t>8 / 8 top-1</a:t>
            </a:r>
          </a:p>
        </p:txBody>
      </p:sp>
      <p:sp>
        <p:nvSpPr>
          <p:cNvPr id="14" name="TextBox 13"/>
          <p:cNvSpPr txBox="1"/>
          <p:nvPr/>
        </p:nvSpPr>
        <p:spPr>
          <a:xfrm>
            <a:off x="5586984" y="2514600"/>
            <a:ext cx="5760720" cy="566928"/>
          </a:xfrm>
          <a:prstGeom prst="rect">
            <a:avLst/>
          </a:prstGeom>
          <a:noFill/>
        </p:spPr>
        <p:txBody>
          <a:bodyPr wrap="square" lIns="9144" rIns="9144" tIns="22860" bIns="22860" anchor="t">
            <a:spAutoFit/>
          </a:bodyPr>
          <a:lstStyle/>
          <a:p>
            <a:pPr>
              <a:lnSpc>
                <a:spcPct val="106000"/>
              </a:lnSpc>
              <a:spcBef>
                <a:spcPts val="0"/>
              </a:spcBef>
              <a:spcAft>
                <a:spcPts val="500"/>
              </a:spcAft>
            </a:pPr>
            <a:r>
              <a:rPr sz="1400" b="0">
                <a:solidFill>
                  <a:srgbClr val="646B80"/>
                </a:solidFill>
                <a:latin typeface="Segoe UI"/>
              </a:rPr>
              <a:t>Does evidence reranking choose the intended version in development queries?</a:t>
            </a:r>
          </a:p>
        </p:txBody>
      </p:sp>
      <p:sp>
        <p:nvSpPr>
          <p:cNvPr id="15" name="Rounded Rectangle 14"/>
          <p:cNvSpPr/>
          <p:nvPr/>
        </p:nvSpPr>
        <p:spPr>
          <a:xfrm>
            <a:off x="585216" y="3465576"/>
            <a:ext cx="11036808" cy="950976"/>
          </a:xfrm>
          <a:prstGeom prst="roundRect">
            <a:avLst>
              <a:gd name="adj" fmla="val 12000"/>
            </a:avLst>
          </a:prstGeom>
          <a:solidFill>
            <a:srgbClr val="FFFFFF"/>
          </a:solidFill>
          <a:ln w="10160">
            <a:solidFill>
              <a:srgbClr val="DF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3648456"/>
            <a:ext cx="2377440" cy="320040"/>
          </a:xfrm>
          <a:prstGeom prst="rect">
            <a:avLst/>
          </a:prstGeom>
          <a:noFill/>
        </p:spPr>
        <p:txBody>
          <a:bodyPr wrap="square" lIns="9144" rIns="9144" tIns="22860" bIns="22860" anchor="t">
            <a:spAutoFit/>
          </a:bodyPr>
          <a:lstStyle/>
          <a:p>
            <a:pPr>
              <a:lnSpc>
                <a:spcPct val="106000"/>
              </a:lnSpc>
              <a:spcBef>
                <a:spcPts val="0"/>
              </a:spcBef>
              <a:spcAft>
                <a:spcPts val="500"/>
              </a:spcAft>
            </a:pPr>
            <a:r>
              <a:rPr sz="1600" b="1">
                <a:solidFill>
                  <a:srgbClr val="6547D8"/>
                </a:solidFill>
                <a:latin typeface="Segoe UI"/>
              </a:rPr>
              <a:t>Pinned real repos</a:t>
            </a:r>
          </a:p>
        </p:txBody>
      </p:sp>
      <p:sp>
        <p:nvSpPr>
          <p:cNvPr id="17" name="TextBox 16"/>
          <p:cNvSpPr txBox="1"/>
          <p:nvPr/>
        </p:nvSpPr>
        <p:spPr>
          <a:xfrm>
            <a:off x="3090672" y="3639312"/>
            <a:ext cx="2359152" cy="384048"/>
          </a:xfrm>
          <a:prstGeom prst="rect">
            <a:avLst/>
          </a:prstGeom>
          <a:noFill/>
        </p:spPr>
        <p:txBody>
          <a:bodyPr wrap="square" lIns="9144" rIns="9144" tIns="22860" bIns="22860" anchor="t">
            <a:spAutoFit/>
          </a:bodyPr>
          <a:lstStyle/>
          <a:p>
            <a:pPr>
              <a:lnSpc>
                <a:spcPct val="106000"/>
              </a:lnSpc>
              <a:spcBef>
                <a:spcPts val="0"/>
              </a:spcBef>
              <a:spcAft>
                <a:spcPts val="500"/>
              </a:spcAft>
            </a:pPr>
            <a:r>
              <a:rPr sz="1800" b="1">
                <a:solidFill>
                  <a:srgbClr val="20243A"/>
                </a:solidFill>
                <a:latin typeface="Segoe UI"/>
              </a:rPr>
              <a:t>0.6717 / 0.8577</a:t>
            </a:r>
          </a:p>
        </p:txBody>
      </p:sp>
      <p:sp>
        <p:nvSpPr>
          <p:cNvPr id="18" name="TextBox 17"/>
          <p:cNvSpPr txBox="1"/>
          <p:nvPr/>
        </p:nvSpPr>
        <p:spPr>
          <a:xfrm>
            <a:off x="5586984" y="3639312"/>
            <a:ext cx="5760720" cy="566928"/>
          </a:xfrm>
          <a:prstGeom prst="rect">
            <a:avLst/>
          </a:prstGeom>
          <a:noFill/>
        </p:spPr>
        <p:txBody>
          <a:bodyPr wrap="square" lIns="9144" rIns="9144" tIns="22860" bIns="22860" anchor="t">
            <a:spAutoFit/>
          </a:bodyPr>
          <a:lstStyle/>
          <a:p>
            <a:pPr>
              <a:lnSpc>
                <a:spcPct val="106000"/>
              </a:lnSpc>
              <a:spcBef>
                <a:spcPts val="0"/>
              </a:spcBef>
              <a:spcAft>
                <a:spcPts val="500"/>
              </a:spcAft>
            </a:pPr>
            <a:r>
              <a:rPr sz="1400" b="0">
                <a:solidFill>
                  <a:srgbClr val="646B80"/>
                </a:solidFill>
                <a:latin typeface="Segoe UI"/>
              </a:rPr>
              <a:t>Can BGE hybrid retrieve source-reviewed targets in Async / Express?</a:t>
            </a:r>
          </a:p>
        </p:txBody>
      </p:sp>
      <p:sp>
        <p:nvSpPr>
          <p:cNvPr id="19" name="Rounded Rectangle 18"/>
          <p:cNvSpPr/>
          <p:nvPr/>
        </p:nvSpPr>
        <p:spPr>
          <a:xfrm>
            <a:off x="585216" y="4590288"/>
            <a:ext cx="11036808" cy="950976"/>
          </a:xfrm>
          <a:prstGeom prst="roundRect">
            <a:avLst>
              <a:gd name="adj" fmla="val 12000"/>
            </a:avLst>
          </a:prstGeom>
          <a:solidFill>
            <a:srgbClr val="FFFFFF"/>
          </a:solidFill>
          <a:ln w="10160">
            <a:solidFill>
              <a:srgbClr val="DF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6384" y="4773168"/>
            <a:ext cx="2377440" cy="320040"/>
          </a:xfrm>
          <a:prstGeom prst="rect">
            <a:avLst/>
          </a:prstGeom>
          <a:noFill/>
        </p:spPr>
        <p:txBody>
          <a:bodyPr wrap="square" lIns="9144" rIns="9144" tIns="22860" bIns="22860" anchor="t">
            <a:spAutoFit/>
          </a:bodyPr>
          <a:lstStyle/>
          <a:p>
            <a:pPr>
              <a:lnSpc>
                <a:spcPct val="106000"/>
              </a:lnSpc>
              <a:spcBef>
                <a:spcPts val="0"/>
              </a:spcBef>
              <a:spcAft>
                <a:spcPts val="500"/>
              </a:spcAft>
            </a:pPr>
            <a:r>
              <a:rPr sz="1600" b="1">
                <a:solidFill>
                  <a:srgbClr val="6547D8"/>
                </a:solidFill>
                <a:latin typeface="Segoe UI"/>
              </a:rPr>
              <a:t>Official AppsRetrieval</a:t>
            </a:r>
          </a:p>
        </p:txBody>
      </p:sp>
      <p:sp>
        <p:nvSpPr>
          <p:cNvPr id="21" name="TextBox 20"/>
          <p:cNvSpPr txBox="1"/>
          <p:nvPr/>
        </p:nvSpPr>
        <p:spPr>
          <a:xfrm>
            <a:off x="3090672" y="4764024"/>
            <a:ext cx="2359152" cy="384048"/>
          </a:xfrm>
          <a:prstGeom prst="rect">
            <a:avLst/>
          </a:prstGeom>
          <a:noFill/>
        </p:spPr>
        <p:txBody>
          <a:bodyPr wrap="square" lIns="9144" rIns="9144" tIns="22860" bIns="22860" anchor="t">
            <a:spAutoFit/>
          </a:bodyPr>
          <a:lstStyle/>
          <a:p>
            <a:pPr>
              <a:lnSpc>
                <a:spcPct val="106000"/>
              </a:lnSpc>
              <a:spcBef>
                <a:spcPts val="0"/>
              </a:spcBef>
              <a:spcAft>
                <a:spcPts val="500"/>
              </a:spcAft>
            </a:pPr>
            <a:r>
              <a:rPr sz="1800" b="1">
                <a:solidFill>
                  <a:srgbClr val="20243A"/>
                </a:solidFill>
                <a:latin typeface="Segoe UI"/>
              </a:rPr>
              <a:t>0.15711 NDCG@10</a:t>
            </a:r>
          </a:p>
        </p:txBody>
      </p:sp>
      <p:sp>
        <p:nvSpPr>
          <p:cNvPr id="22" name="TextBox 21"/>
          <p:cNvSpPr txBox="1"/>
          <p:nvPr/>
        </p:nvSpPr>
        <p:spPr>
          <a:xfrm>
            <a:off x="5586984" y="4764024"/>
            <a:ext cx="5760720" cy="566928"/>
          </a:xfrm>
          <a:prstGeom prst="rect">
            <a:avLst/>
          </a:prstGeom>
          <a:noFill/>
        </p:spPr>
        <p:txBody>
          <a:bodyPr wrap="square" lIns="9144" rIns="9144" tIns="22860" bIns="22860" anchor="t">
            <a:spAutoFit/>
          </a:bodyPr>
          <a:lstStyle/>
          <a:p>
            <a:pPr>
              <a:lnSpc>
                <a:spcPct val="106000"/>
              </a:lnSpc>
              <a:spcBef>
                <a:spcPts val="0"/>
              </a:spcBef>
              <a:spcAft>
                <a:spcPts val="500"/>
              </a:spcAft>
            </a:pPr>
            <a:r>
              <a:rPr sz="1400" b="0">
                <a:solidFill>
                  <a:srgbClr val="646B80"/>
                </a:solidFill>
                <a:latin typeface="Segoe UI"/>
              </a:rPr>
              <a:t>How does independent Jina code encoding rank Python task solutions?</a:t>
            </a:r>
          </a:p>
        </p:txBody>
      </p:sp>
      <p:sp>
        <p:nvSpPr>
          <p:cNvPr id="23" name="Rounded Rectangle 22"/>
          <p:cNvSpPr/>
          <p:nvPr/>
        </p:nvSpPr>
        <p:spPr>
          <a:xfrm>
            <a:off x="585216" y="5843016"/>
            <a:ext cx="11036808" cy="347472"/>
          </a:xfrm>
          <a:prstGeom prst="roundRect">
            <a:avLst>
              <a:gd name="adj" fmla="val 12000"/>
            </a:avLst>
          </a:prstGeom>
          <a:solidFill>
            <a:srgbClr val="FFF0E5"/>
          </a:solidFill>
          <a:ln w="10160">
            <a:solidFill>
              <a:srgbClr val="FFF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952" y="5879592"/>
            <a:ext cx="10661904" cy="237744"/>
          </a:xfrm>
          <a:prstGeom prst="rect">
            <a:avLst/>
          </a:prstGeom>
          <a:noFill/>
        </p:spPr>
        <p:txBody>
          <a:bodyPr wrap="square" lIns="9144" rIns="9144" tIns="22860" bIns="22860" anchor="t">
            <a:spAutoFit/>
          </a:bodyPr>
          <a:lstStyle/>
          <a:p>
            <a:pPr>
              <a:lnSpc>
                <a:spcPct val="106000"/>
              </a:lnSpc>
              <a:spcBef>
                <a:spcPts val="0"/>
              </a:spcBef>
              <a:spcAft>
                <a:spcPts val="500"/>
              </a:spcAft>
            </a:pPr>
            <a:r>
              <a:rPr sz="1200" b="1">
                <a:solidFill>
                  <a:srgbClr val="AE5427"/>
                </a:solidFill>
                <a:latin typeface="Segoe UI"/>
              </a:rPr>
              <a:t>Do not combine these scores or describe static evidence as runtime proof.</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2026-09-07T12:01:01Z</dcterms:created>
  <dc:creator>Advay Vivek; Kaavish Gogia</dc:creator>
  <dc:title>CodeStrata — Code has a memory</dc:title>
  <dc:subject>Agentic code intelligence: behavior, versions, and evidence</dc:subject>
  <cp:keywords>CodeStrata, code intelligence, behavior watch, retrieval, lineage</cp:keyword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